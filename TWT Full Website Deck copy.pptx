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8" r:id="rId3"/>
    <p:sldId id="261" r:id="rId4"/>
    <p:sldId id="257" r:id="rId5"/>
    <p:sldId id="259" r:id="rId6"/>
    <p:sldId id="260" r:id="rId7"/>
    <p:sldId id="262" r:id="rId8"/>
    <p:sldId id="263" r:id="rId9"/>
    <p:sldId id="281" r:id="rId10"/>
    <p:sldId id="264" r:id="rId11"/>
    <p:sldId id="282" r:id="rId12"/>
    <p:sldId id="265" r:id="rId13"/>
    <p:sldId id="284" r:id="rId14"/>
    <p:sldId id="266" r:id="rId15"/>
    <p:sldId id="283"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5" r:id="rId30"/>
    <p:sldId id="280"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8934"/>
    <a:srgbClr val="C9AB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7" d="100"/>
          <a:sy n="67" d="100"/>
        </p:scale>
        <p:origin x="1476"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1658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993F2BF-8C83-9BFE-6429-C79DA1A830A6}"/>
              </a:ext>
            </a:extLst>
          </p:cNvPr>
          <p:cNvPicPr>
            <a:picLocks noChangeAspect="1"/>
          </p:cNvPicPr>
          <p:nvPr/>
        </p:nvPicPr>
        <p:blipFill>
          <a:blip r:embed="rId3"/>
          <a:stretch>
            <a:fillRect/>
          </a:stretch>
        </p:blipFill>
        <p:spPr>
          <a:xfrm>
            <a:off x="376818" y="689704"/>
            <a:ext cx="8515350" cy="4453796"/>
          </a:xfrm>
          <a:prstGeom prst="rect">
            <a:avLst/>
          </a:prstGeom>
        </p:spPr>
      </p:pic>
      <p:pic>
        <p:nvPicPr>
          <p:cNvPr id="23" name="Picture 22">
            <a:extLst>
              <a:ext uri="{FF2B5EF4-FFF2-40B4-BE49-F238E27FC236}">
                <a16:creationId xmlns:a16="http://schemas.microsoft.com/office/drawing/2014/main" id="{B776070C-1F0B-AA9E-DF54-3E6AC492ED3E}"/>
              </a:ext>
            </a:extLst>
          </p:cNvPr>
          <p:cNvPicPr>
            <a:picLocks noChangeAspect="1"/>
          </p:cNvPicPr>
          <p:nvPr/>
        </p:nvPicPr>
        <p:blipFill>
          <a:blip r:embed="rId4"/>
          <a:stretch>
            <a:fillRect/>
          </a:stretch>
        </p:blipFill>
        <p:spPr>
          <a:xfrm>
            <a:off x="376818" y="720283"/>
            <a:ext cx="8515350" cy="4463171"/>
          </a:xfrm>
          <a:prstGeom prst="rect">
            <a:avLst/>
          </a:prstGeom>
        </p:spPr>
      </p:pic>
      <p:sp>
        <p:nvSpPr>
          <p:cNvPr id="3" name="Text 1"/>
          <p:cNvSpPr/>
          <p:nvPr/>
        </p:nvSpPr>
        <p:spPr>
          <a:xfrm>
            <a:off x="320040" y="384048"/>
            <a:ext cx="8503920" cy="320040"/>
          </a:xfrm>
          <a:prstGeom prst="rect">
            <a:avLst/>
          </a:prstGeom>
          <a:noFill/>
          <a:ln/>
        </p:spPr>
        <p:txBody>
          <a:bodyPr wrap="square" rtlCol="0" anchor="ctr"/>
          <a:lstStyle/>
          <a:p>
            <a:pPr marL="0" indent="0" algn="l">
              <a:buNone/>
            </a:pPr>
            <a:r>
              <a:rPr lang="en-US" sz="850" kern="0" spc="400" dirty="0">
                <a:solidFill>
                  <a:srgbClr val="D4AF6A"/>
                </a:solidFill>
                <a:latin typeface="Calibri" pitchFamily="34" charset="0"/>
                <a:ea typeface="Calibri" pitchFamily="34" charset="-122"/>
                <a:cs typeface="Calibri" pitchFamily="34" charset="-120"/>
              </a:rPr>
              <a:t>ADVENTURE · CURATED · AUTHENTIC</a:t>
            </a:r>
            <a:endParaRPr lang="en-US" sz="850" dirty="0"/>
          </a:p>
        </p:txBody>
      </p:sp>
      <p:sp>
        <p:nvSpPr>
          <p:cNvPr id="4" name="Text 2"/>
          <p:cNvSpPr/>
          <p:nvPr/>
        </p:nvSpPr>
        <p:spPr>
          <a:xfrm>
            <a:off x="274320" y="749808"/>
            <a:ext cx="8503920" cy="1463040"/>
          </a:xfrm>
          <a:prstGeom prst="rect">
            <a:avLst/>
          </a:prstGeom>
          <a:noFill/>
          <a:ln/>
        </p:spPr>
        <p:txBody>
          <a:bodyPr wrap="square" rtlCol="0" anchor="ctr"/>
          <a:lstStyle/>
          <a:p>
            <a:pPr marL="0" indent="0" algn="l">
              <a:buNone/>
            </a:pPr>
            <a:endParaRPr lang="en-US" sz="10000" dirty="0"/>
          </a:p>
        </p:txBody>
      </p:sp>
      <p:sp>
        <p:nvSpPr>
          <p:cNvPr id="5" name="Text 3"/>
          <p:cNvSpPr/>
          <p:nvPr/>
        </p:nvSpPr>
        <p:spPr>
          <a:xfrm>
            <a:off x="274320" y="668108"/>
            <a:ext cx="8503920" cy="1011605"/>
          </a:xfrm>
          <a:prstGeom prst="rect">
            <a:avLst/>
          </a:prstGeom>
          <a:noFill/>
          <a:ln/>
        </p:spPr>
        <p:txBody>
          <a:bodyPr wrap="square" rtlCol="0" anchor="ctr"/>
          <a:lstStyle/>
          <a:p>
            <a:pPr marL="0" indent="0" algn="l">
              <a:buNone/>
            </a:pPr>
            <a:r>
              <a:rPr lang="en-US" sz="2200" i="1" kern="0" spc="200" dirty="0">
                <a:solidFill>
                  <a:srgbClr val="B8963E"/>
                </a:solidFill>
                <a:latin typeface="Georgia" pitchFamily="34" charset="0"/>
                <a:ea typeface="Georgia" pitchFamily="34" charset="-122"/>
                <a:cs typeface="Georgia" pitchFamily="34" charset="-120"/>
              </a:rPr>
              <a:t>.</a:t>
            </a:r>
            <a:endParaRPr lang="en-US" sz="2200" dirty="0"/>
          </a:p>
        </p:txBody>
      </p:sp>
      <p:sp>
        <p:nvSpPr>
          <p:cNvPr id="7" name="Text 5"/>
          <p:cNvSpPr/>
          <p:nvPr/>
        </p:nvSpPr>
        <p:spPr>
          <a:xfrm>
            <a:off x="940526" y="-1097280"/>
            <a:ext cx="5688876" cy="5229175"/>
          </a:xfrm>
          <a:prstGeom prst="rect">
            <a:avLst/>
          </a:prstGeom>
          <a:noFill/>
          <a:ln/>
        </p:spPr>
        <p:txBody>
          <a:bodyPr wrap="square" rtlCol="0" anchor="ctr"/>
          <a:lstStyle/>
          <a:p>
            <a:pPr marL="0" indent="0" algn="l">
              <a:buNone/>
            </a:pPr>
            <a:r>
              <a:rPr lang="en-US" sz="2800" dirty="0">
                <a:solidFill>
                  <a:schemeClr val="bg1"/>
                </a:solidFill>
                <a:latin typeface="Georgia" pitchFamily="34" charset="0"/>
                <a:ea typeface="Georgia" pitchFamily="34" charset="-122"/>
                <a:cs typeface="Georgia" pitchFamily="34" charset="-120"/>
              </a:rPr>
              <a:t>Here, the earth does not whisper.</a:t>
            </a:r>
            <a:endParaRPr lang="en-US" sz="2800" dirty="0">
              <a:solidFill>
                <a:schemeClr val="bg1"/>
              </a:solidFill>
            </a:endParaRPr>
          </a:p>
          <a:p>
            <a:pPr marL="0" indent="0" algn="l">
              <a:buNone/>
            </a:pPr>
            <a:r>
              <a:rPr lang="en-US" sz="2800" dirty="0">
                <a:solidFill>
                  <a:schemeClr val="bg1"/>
                </a:solidFill>
                <a:latin typeface="Georgia" pitchFamily="34" charset="0"/>
                <a:ea typeface="Georgia" pitchFamily="34" charset="-122"/>
                <a:cs typeface="Georgia" pitchFamily="34" charset="-120"/>
              </a:rPr>
              <a:t>It roars.</a:t>
            </a:r>
            <a:endParaRPr lang="en-US" sz="2800" dirty="0">
              <a:solidFill>
                <a:schemeClr val="bg1"/>
              </a:solidFill>
            </a:endParaRPr>
          </a:p>
        </p:txBody>
      </p:sp>
      <p:sp>
        <p:nvSpPr>
          <p:cNvPr id="8" name="Text 6"/>
          <p:cNvSpPr/>
          <p:nvPr/>
        </p:nvSpPr>
        <p:spPr>
          <a:xfrm>
            <a:off x="822960" y="1657108"/>
            <a:ext cx="5995850" cy="5892869"/>
          </a:xfrm>
          <a:prstGeom prst="rect">
            <a:avLst/>
          </a:prstGeom>
          <a:noFill/>
          <a:ln/>
        </p:spPr>
        <p:txBody>
          <a:bodyPr wrap="square" rtlCol="0" anchor="ctr"/>
          <a:lstStyle/>
          <a:p>
            <a:r>
              <a:rPr lang="en-ZW" sz="2000" b="1" dirty="0">
                <a:solidFill>
                  <a:schemeClr val="bg1"/>
                </a:solidFill>
              </a:rPr>
              <a:t>The river does not recognise borders. Neither do we.</a:t>
            </a:r>
          </a:p>
          <a:p>
            <a:pPr marL="0" indent="0" algn="l">
              <a:buNone/>
            </a:pPr>
            <a:endParaRPr lang="en-US" sz="2000" b="1" dirty="0">
              <a:solidFill>
                <a:schemeClr val="bg1"/>
              </a:solidFill>
            </a:endParaRPr>
          </a:p>
        </p:txBody>
      </p:sp>
      <p:sp>
        <p:nvSpPr>
          <p:cNvPr id="12" name="Rectangle 11">
            <a:extLst>
              <a:ext uri="{FF2B5EF4-FFF2-40B4-BE49-F238E27FC236}">
                <a16:creationId xmlns:a16="http://schemas.microsoft.com/office/drawing/2014/main" id="{C7A80C90-AF7B-ECB9-1C66-AEDB25B4F596}"/>
              </a:ext>
            </a:extLst>
          </p:cNvPr>
          <p:cNvSpPr/>
          <p:nvPr/>
        </p:nvSpPr>
        <p:spPr>
          <a:xfrm>
            <a:off x="-1" y="-45720"/>
            <a:ext cx="9143999" cy="7498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38261299-55FD-A274-2D29-AABAE380F301}"/>
              </a:ext>
            </a:extLst>
          </p:cNvPr>
          <p:cNvPicPr>
            <a:picLocks noChangeAspect="1"/>
          </p:cNvPicPr>
          <p:nvPr/>
        </p:nvPicPr>
        <p:blipFill>
          <a:blip r:embed="rId5"/>
          <a:stretch>
            <a:fillRect/>
          </a:stretch>
        </p:blipFill>
        <p:spPr>
          <a:xfrm>
            <a:off x="16895" y="181183"/>
            <a:ext cx="1560446" cy="625278"/>
          </a:xfrm>
          <a:prstGeom prst="rect">
            <a:avLst/>
          </a:prstGeom>
        </p:spPr>
      </p:pic>
      <p:sp>
        <p:nvSpPr>
          <p:cNvPr id="14" name="Rectangle 13">
            <a:extLst>
              <a:ext uri="{FF2B5EF4-FFF2-40B4-BE49-F238E27FC236}">
                <a16:creationId xmlns:a16="http://schemas.microsoft.com/office/drawing/2014/main" id="{669AE2C6-016D-30C8-009F-C4E3012F4621}"/>
              </a:ext>
            </a:extLst>
          </p:cNvPr>
          <p:cNvSpPr/>
          <p:nvPr/>
        </p:nvSpPr>
        <p:spPr>
          <a:xfrm>
            <a:off x="518323" y="607402"/>
            <a:ext cx="770906" cy="607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Equals 14">
            <a:extLst>
              <a:ext uri="{FF2B5EF4-FFF2-40B4-BE49-F238E27FC236}">
                <a16:creationId xmlns:a16="http://schemas.microsoft.com/office/drawing/2014/main" id="{348FB08D-1203-81F2-E624-79B1C6A01E97}"/>
              </a:ext>
            </a:extLst>
          </p:cNvPr>
          <p:cNvSpPr/>
          <p:nvPr/>
        </p:nvSpPr>
        <p:spPr>
          <a:xfrm>
            <a:off x="7249887" y="186236"/>
            <a:ext cx="650474" cy="197812"/>
          </a:xfrm>
          <a:prstGeom prst="mathEqual">
            <a:avLst>
              <a:gd name="adj1" fmla="val 36745"/>
              <a:gd name="adj2" fmla="val 2651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solidFill>
                <a:schemeClr val="tx1"/>
              </a:solidFill>
            </a:endParaRPr>
          </a:p>
        </p:txBody>
      </p:sp>
      <p:sp>
        <p:nvSpPr>
          <p:cNvPr id="16" name="Rectangle: Rounded Corners 15">
            <a:extLst>
              <a:ext uri="{FF2B5EF4-FFF2-40B4-BE49-F238E27FC236}">
                <a16:creationId xmlns:a16="http://schemas.microsoft.com/office/drawing/2014/main" id="{5369BE0F-941F-C23A-4E8C-336FD911C3A6}"/>
              </a:ext>
            </a:extLst>
          </p:cNvPr>
          <p:cNvSpPr/>
          <p:nvPr/>
        </p:nvSpPr>
        <p:spPr>
          <a:xfrm>
            <a:off x="7900361" y="331515"/>
            <a:ext cx="935771" cy="24009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PLAN YOUR TRIP</a:t>
            </a:r>
            <a:endParaRPr lang="en-PK" sz="800" b="1" dirty="0">
              <a:solidFill>
                <a:schemeClr val="bg1"/>
              </a:solidFill>
            </a:endParaRPr>
          </a:p>
        </p:txBody>
      </p:sp>
      <p:sp>
        <p:nvSpPr>
          <p:cNvPr id="17" name="Rectangle: Rounded Corners 16">
            <a:extLst>
              <a:ext uri="{FF2B5EF4-FFF2-40B4-BE49-F238E27FC236}">
                <a16:creationId xmlns:a16="http://schemas.microsoft.com/office/drawing/2014/main" id="{EE977B99-0F3B-A64B-852C-701E35267588}"/>
              </a:ext>
            </a:extLst>
          </p:cNvPr>
          <p:cNvSpPr/>
          <p:nvPr/>
        </p:nvSpPr>
        <p:spPr>
          <a:xfrm>
            <a:off x="2077278" y="307172"/>
            <a:ext cx="874644" cy="289072"/>
          </a:xfrm>
          <a:prstGeom prst="roundRect">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EXPERIENCES</a:t>
            </a:r>
            <a:endParaRPr lang="en-PK" sz="900" b="1" dirty="0">
              <a:solidFill>
                <a:schemeClr val="tx1"/>
              </a:solidFill>
            </a:endParaRPr>
          </a:p>
        </p:txBody>
      </p:sp>
      <p:sp>
        <p:nvSpPr>
          <p:cNvPr id="18" name="Rectangle: Rounded Corners 17">
            <a:extLst>
              <a:ext uri="{FF2B5EF4-FFF2-40B4-BE49-F238E27FC236}">
                <a16:creationId xmlns:a16="http://schemas.microsoft.com/office/drawing/2014/main" id="{8F78CBB9-2BD5-7FC3-063B-AABD79B3EDD0}"/>
              </a:ext>
            </a:extLst>
          </p:cNvPr>
          <p:cNvSpPr/>
          <p:nvPr/>
        </p:nvSpPr>
        <p:spPr>
          <a:xfrm>
            <a:off x="3238404" y="303970"/>
            <a:ext cx="939380" cy="261765"/>
          </a:xfrm>
          <a:prstGeom prst="roundRect">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DESTINATIONS</a:t>
            </a:r>
            <a:endParaRPr lang="en-PK" sz="900" b="1" dirty="0">
              <a:solidFill>
                <a:schemeClr val="tx1"/>
              </a:solidFill>
            </a:endParaRPr>
          </a:p>
        </p:txBody>
      </p:sp>
      <p:sp>
        <p:nvSpPr>
          <p:cNvPr id="19" name="Rectangle: Rounded Corners 18">
            <a:extLst>
              <a:ext uri="{FF2B5EF4-FFF2-40B4-BE49-F238E27FC236}">
                <a16:creationId xmlns:a16="http://schemas.microsoft.com/office/drawing/2014/main" id="{9AC2AEE6-BFBB-1DE5-9BF9-F6645A872A6F}"/>
              </a:ext>
            </a:extLst>
          </p:cNvPr>
          <p:cNvSpPr/>
          <p:nvPr/>
        </p:nvSpPr>
        <p:spPr>
          <a:xfrm>
            <a:off x="4497822" y="307172"/>
            <a:ext cx="872162" cy="289072"/>
          </a:xfrm>
          <a:prstGeom prst="roundRect">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THE</a:t>
            </a:r>
            <a:r>
              <a:rPr lang="en-US" sz="800" b="1" dirty="0">
                <a:solidFill>
                  <a:schemeClr val="tx1"/>
                </a:solidFill>
              </a:rPr>
              <a:t> JOURNEY</a:t>
            </a:r>
            <a:endParaRPr lang="en-PK" sz="800" b="1" dirty="0">
              <a:solidFill>
                <a:schemeClr val="tx1"/>
              </a:solidFill>
            </a:endParaRPr>
          </a:p>
        </p:txBody>
      </p:sp>
      <p:sp>
        <p:nvSpPr>
          <p:cNvPr id="20" name="Rectangle: Rounded Corners 19">
            <a:extLst>
              <a:ext uri="{FF2B5EF4-FFF2-40B4-BE49-F238E27FC236}">
                <a16:creationId xmlns:a16="http://schemas.microsoft.com/office/drawing/2014/main" id="{499A515C-7A6C-8833-CE7E-3D027522DA84}"/>
              </a:ext>
            </a:extLst>
          </p:cNvPr>
          <p:cNvSpPr/>
          <p:nvPr/>
        </p:nvSpPr>
        <p:spPr>
          <a:xfrm>
            <a:off x="5754758" y="303970"/>
            <a:ext cx="874644" cy="289072"/>
          </a:xfrm>
          <a:prstGeom prst="roundRect">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ABOUT</a:t>
            </a:r>
            <a:endParaRPr lang="en-PK" sz="900" b="1" dirty="0">
              <a:solidFill>
                <a:schemeClr val="tx1"/>
              </a:solidFill>
            </a:endParaRPr>
          </a:p>
        </p:txBody>
      </p:sp>
      <p:sp>
        <p:nvSpPr>
          <p:cNvPr id="21" name="Rectangle: Rounded Corners 20">
            <a:extLst>
              <a:ext uri="{FF2B5EF4-FFF2-40B4-BE49-F238E27FC236}">
                <a16:creationId xmlns:a16="http://schemas.microsoft.com/office/drawing/2014/main" id="{44C5772C-D287-58C1-3CD4-BC67E6552250}"/>
              </a:ext>
            </a:extLst>
          </p:cNvPr>
          <p:cNvSpPr/>
          <p:nvPr/>
        </p:nvSpPr>
        <p:spPr>
          <a:xfrm>
            <a:off x="7148574" y="4749530"/>
            <a:ext cx="1275560" cy="180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rPr>
              <a:t>PLAN YOUR TRIP</a:t>
            </a:r>
            <a:endParaRPr lang="en-PK" sz="8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0"/>
            <a:ext cx="54864" cy="5143500"/>
          </a:xfrm>
          <a:prstGeom prst="rect">
            <a:avLst/>
          </a:prstGeom>
          <a:solidFill>
            <a:srgbClr val="0D0D0D"/>
          </a:solidFill>
          <a:ln w="12700">
            <a:solidFill>
              <a:srgbClr val="0D0D0D"/>
            </a:solidFill>
            <a:prstDash val="solid"/>
          </a:ln>
        </p:spPr>
      </p:sp>
      <p:sp>
        <p:nvSpPr>
          <p:cNvPr id="4" name="Text 2"/>
          <p:cNvSpPr/>
          <p:nvPr/>
        </p:nvSpPr>
        <p:spPr>
          <a:xfrm>
            <a:off x="228600" y="201168"/>
            <a:ext cx="8686800" cy="347472"/>
          </a:xfrm>
          <a:prstGeom prst="rect">
            <a:avLst/>
          </a:prstGeom>
          <a:noFill/>
          <a:ln/>
        </p:spPr>
        <p:txBody>
          <a:bodyPr wrap="square" rtlCol="0" anchor="ctr"/>
          <a:lstStyle/>
          <a:p>
            <a:pPr marL="0" indent="0" algn="l">
              <a:buNone/>
            </a:pPr>
            <a:r>
              <a:rPr lang="en-US" sz="850" kern="0" spc="300" dirty="0">
                <a:solidFill>
                  <a:srgbClr val="B8963E"/>
                </a:solidFill>
                <a:latin typeface="Calibri" pitchFamily="34" charset="0"/>
                <a:ea typeface="Calibri" pitchFamily="34" charset="-122"/>
                <a:cs typeface="Calibri" pitchFamily="34" charset="-120"/>
              </a:rPr>
              <a:t>HOME  ·  ABOUT</a:t>
            </a:r>
            <a:endParaRPr lang="en-US" sz="850" dirty="0"/>
          </a:p>
        </p:txBody>
      </p:sp>
      <p:sp>
        <p:nvSpPr>
          <p:cNvPr id="5" name="Text 3"/>
          <p:cNvSpPr/>
          <p:nvPr/>
        </p:nvSpPr>
        <p:spPr>
          <a:xfrm>
            <a:off x="228600" y="658368"/>
            <a:ext cx="6400800" cy="1097280"/>
          </a:xfrm>
          <a:prstGeom prst="rect">
            <a:avLst/>
          </a:prstGeom>
          <a:noFill/>
          <a:ln/>
        </p:spPr>
        <p:txBody>
          <a:bodyPr wrap="square" rtlCol="0" anchor="ctr"/>
          <a:lstStyle/>
          <a:p>
            <a:pPr marL="0" indent="0">
              <a:buNone/>
            </a:pPr>
            <a:r>
              <a:rPr lang="en-US" sz="2800" i="1" dirty="0">
                <a:solidFill>
                  <a:srgbClr val="0D0D0D"/>
                </a:solidFill>
                <a:latin typeface="Georgia" pitchFamily="34" charset="0"/>
                <a:ea typeface="Georgia" pitchFamily="34" charset="-122"/>
                <a:cs typeface="Georgia" pitchFamily="34" charset="-120"/>
              </a:rPr>
              <a:t>We did not discover this place.</a:t>
            </a:r>
            <a:endParaRPr lang="en-US" sz="2800" dirty="0"/>
          </a:p>
          <a:p>
            <a:pPr marL="0" indent="0">
              <a:buNone/>
            </a:pPr>
            <a:r>
              <a:rPr lang="en-US" sz="2800" i="1" dirty="0">
                <a:solidFill>
                  <a:srgbClr val="0D0D0D"/>
                </a:solidFill>
                <a:latin typeface="Georgia" pitchFamily="34" charset="0"/>
                <a:ea typeface="Georgia" pitchFamily="34" charset="-122"/>
                <a:cs typeface="Georgia" pitchFamily="34" charset="-120"/>
              </a:rPr>
              <a:t>We grew up in it.</a:t>
            </a:r>
            <a:endParaRPr lang="en-US" sz="2800" dirty="0"/>
          </a:p>
        </p:txBody>
      </p:sp>
      <p:sp>
        <p:nvSpPr>
          <p:cNvPr id="6" name="Shape 4"/>
          <p:cNvSpPr/>
          <p:nvPr/>
        </p:nvSpPr>
        <p:spPr>
          <a:xfrm>
            <a:off x="228600" y="1874520"/>
            <a:ext cx="3200400" cy="27432"/>
          </a:xfrm>
          <a:prstGeom prst="rect">
            <a:avLst/>
          </a:prstGeom>
          <a:solidFill>
            <a:srgbClr val="B8963E"/>
          </a:solidFill>
          <a:ln w="12700">
            <a:solidFill>
              <a:srgbClr val="B8963E"/>
            </a:solidFill>
            <a:prstDash val="solid"/>
          </a:ln>
        </p:spPr>
      </p:sp>
      <p:sp>
        <p:nvSpPr>
          <p:cNvPr id="7" name="Text 5"/>
          <p:cNvSpPr/>
          <p:nvPr/>
        </p:nvSpPr>
        <p:spPr>
          <a:xfrm>
            <a:off x="228600" y="2029968"/>
            <a:ext cx="5303520" cy="2560320"/>
          </a:xfrm>
          <a:prstGeom prst="rect">
            <a:avLst/>
          </a:prstGeom>
          <a:noFill/>
          <a:ln/>
        </p:spPr>
        <p:txBody>
          <a:bodyPr wrap="square" rtlCol="0" anchor="ctr"/>
          <a:lstStyle/>
          <a:p>
            <a:pPr marL="0" indent="0">
              <a:buNone/>
            </a:pPr>
            <a:endParaRPr lang="en-US" sz="1100" dirty="0">
              <a:solidFill>
                <a:srgbClr val="2A2A2A"/>
              </a:solidFill>
              <a:latin typeface="Calibri" pitchFamily="34" charset="0"/>
              <a:ea typeface="Calibri" pitchFamily="34" charset="-122"/>
              <a:cs typeface="Calibri" pitchFamily="34" charset="-120"/>
            </a:endParaRPr>
          </a:p>
          <a:p>
            <a:r>
              <a:rPr lang="en-US" sz="1100" dirty="0">
                <a:solidFill>
                  <a:srgbClr val="2A2A2A"/>
                </a:solidFill>
                <a:latin typeface="Calibri" pitchFamily="34" charset="0"/>
                <a:ea typeface="Calibri" pitchFamily="34" charset="-122"/>
                <a:cs typeface="Calibri" pitchFamily="34" charset="-120"/>
              </a:rPr>
              <a:t> </a:t>
            </a:r>
            <a:r>
              <a:rPr lang="en-ZW" sz="1100" dirty="0"/>
              <a:t>TWT curates private journeys through Zimbabwe, Zambia, and Botswana for travellers seeking more than sightseeing.</a:t>
            </a:r>
            <a:endParaRPr lang="en-US" sz="1100" dirty="0"/>
          </a:p>
          <a:p>
            <a:endParaRPr lang="en-ZW" sz="1100" dirty="0"/>
          </a:p>
          <a:p>
            <a:r>
              <a:rPr lang="en-US" sz="1100" dirty="0">
                <a:solidFill>
                  <a:srgbClr val="2A2A2A"/>
                </a:solidFill>
                <a:latin typeface="Calibri" pitchFamily="34" charset="0"/>
                <a:ea typeface="Calibri" pitchFamily="34" charset="-122"/>
                <a:cs typeface="Calibri" pitchFamily="34" charset="-120"/>
              </a:rPr>
              <a:t>We were born in this landscape. We know its secrets by heart. </a:t>
            </a:r>
            <a:r>
              <a:rPr lang="en-ZW" sz="1100" dirty="0"/>
              <a:t>We were raised by this landscape. We know where the river bends quietly at sunset, where the elephants cross at dusk, and when the bush asks for silence.</a:t>
            </a:r>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The Victoria Falls Triangle is one of the most concentrated collections of natural wonder anywhere on the planet. Within a few hours of each other sit a UNESCO World Heritage waterfall, one of Africa's greatest elephant sanctuaries, a river system teeming with the densest wildlife populations on the continent.</a:t>
            </a:r>
            <a:endParaRPr lang="en-US" sz="1100" dirty="0"/>
          </a:p>
        </p:txBody>
      </p:sp>
      <p:sp>
        <p:nvSpPr>
          <p:cNvPr id="8" name="Shape 6"/>
          <p:cNvSpPr/>
          <p:nvPr/>
        </p:nvSpPr>
        <p:spPr>
          <a:xfrm>
            <a:off x="5760720" y="548640"/>
            <a:ext cx="1417320" cy="1234440"/>
          </a:xfrm>
          <a:prstGeom prst="rect">
            <a:avLst/>
          </a:prstGeom>
          <a:solidFill>
            <a:srgbClr val="0D0D0D"/>
          </a:solidFill>
          <a:ln w="12700">
            <a:solidFill>
              <a:srgbClr val="0D0D0D"/>
            </a:solidFill>
            <a:prstDash val="solid"/>
          </a:ln>
        </p:spPr>
      </p:sp>
      <p:sp>
        <p:nvSpPr>
          <p:cNvPr id="9" name="Shape 7"/>
          <p:cNvSpPr/>
          <p:nvPr/>
        </p:nvSpPr>
        <p:spPr>
          <a:xfrm>
            <a:off x="5760720" y="548640"/>
            <a:ext cx="1417320" cy="45720"/>
          </a:xfrm>
          <a:prstGeom prst="rect">
            <a:avLst/>
          </a:prstGeom>
          <a:solidFill>
            <a:srgbClr val="B8963E"/>
          </a:solidFill>
          <a:ln w="12700">
            <a:solidFill>
              <a:srgbClr val="B8963E"/>
            </a:solidFill>
            <a:prstDash val="solid"/>
          </a:ln>
        </p:spPr>
      </p:sp>
      <p:sp>
        <p:nvSpPr>
          <p:cNvPr id="10" name="Text 8"/>
          <p:cNvSpPr/>
          <p:nvPr/>
        </p:nvSpPr>
        <p:spPr>
          <a:xfrm>
            <a:off x="5833872" y="658368"/>
            <a:ext cx="1271016" cy="10058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Victoria Falls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Based &amp; Operated</a:t>
            </a:r>
            <a:endParaRPr lang="en-US" sz="900" dirty="0"/>
          </a:p>
        </p:txBody>
      </p:sp>
      <p:sp>
        <p:nvSpPr>
          <p:cNvPr id="11" name="Shape 9"/>
          <p:cNvSpPr/>
          <p:nvPr/>
        </p:nvSpPr>
        <p:spPr>
          <a:xfrm>
            <a:off x="7315200" y="548640"/>
            <a:ext cx="1417320" cy="1234440"/>
          </a:xfrm>
          <a:prstGeom prst="rect">
            <a:avLst/>
          </a:prstGeom>
          <a:solidFill>
            <a:srgbClr val="0D0D0D"/>
          </a:solidFill>
          <a:ln w="12700">
            <a:solidFill>
              <a:srgbClr val="0D0D0D"/>
            </a:solidFill>
            <a:prstDash val="solid"/>
          </a:ln>
        </p:spPr>
      </p:sp>
      <p:sp>
        <p:nvSpPr>
          <p:cNvPr id="12" name="Shape 10"/>
          <p:cNvSpPr/>
          <p:nvPr/>
        </p:nvSpPr>
        <p:spPr>
          <a:xfrm>
            <a:off x="7315200" y="548640"/>
            <a:ext cx="1417320" cy="45720"/>
          </a:xfrm>
          <a:prstGeom prst="rect">
            <a:avLst/>
          </a:prstGeom>
          <a:solidFill>
            <a:srgbClr val="B8963E"/>
          </a:solidFill>
          <a:ln w="12700">
            <a:solidFill>
              <a:srgbClr val="B8963E"/>
            </a:solidFill>
            <a:prstDash val="solid"/>
          </a:ln>
        </p:spPr>
      </p:sp>
      <p:sp>
        <p:nvSpPr>
          <p:cNvPr id="13" name="Text 11"/>
          <p:cNvSpPr/>
          <p:nvPr/>
        </p:nvSpPr>
        <p:spPr>
          <a:xfrm>
            <a:off x="7388352" y="658368"/>
            <a:ext cx="1271016" cy="10058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Dual-Licensed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Guides ZW &amp; ZM</a:t>
            </a:r>
            <a:endParaRPr lang="en-US" sz="900" dirty="0"/>
          </a:p>
        </p:txBody>
      </p:sp>
      <p:sp>
        <p:nvSpPr>
          <p:cNvPr id="14" name="Shape 12"/>
          <p:cNvSpPr/>
          <p:nvPr/>
        </p:nvSpPr>
        <p:spPr>
          <a:xfrm>
            <a:off x="5760720" y="1965960"/>
            <a:ext cx="1417320" cy="1234440"/>
          </a:xfrm>
          <a:prstGeom prst="rect">
            <a:avLst/>
          </a:prstGeom>
          <a:solidFill>
            <a:srgbClr val="0D0D0D"/>
          </a:solidFill>
          <a:ln w="12700">
            <a:solidFill>
              <a:srgbClr val="0D0D0D"/>
            </a:solidFill>
            <a:prstDash val="solid"/>
          </a:ln>
        </p:spPr>
        <p:txBody>
          <a:bodyPr/>
          <a:lstStyle/>
          <a:p>
            <a:endParaRPr lang="en-US" dirty="0"/>
          </a:p>
        </p:txBody>
      </p:sp>
      <p:sp>
        <p:nvSpPr>
          <p:cNvPr id="15" name="Shape 13"/>
          <p:cNvSpPr/>
          <p:nvPr/>
        </p:nvSpPr>
        <p:spPr>
          <a:xfrm>
            <a:off x="5760720" y="1965960"/>
            <a:ext cx="1417320" cy="45720"/>
          </a:xfrm>
          <a:prstGeom prst="rect">
            <a:avLst/>
          </a:prstGeom>
          <a:solidFill>
            <a:srgbClr val="B8963E"/>
          </a:solidFill>
          <a:ln w="12700">
            <a:solidFill>
              <a:srgbClr val="B8963E"/>
            </a:solidFill>
            <a:prstDash val="solid"/>
          </a:ln>
        </p:spPr>
      </p:sp>
      <p:sp>
        <p:nvSpPr>
          <p:cNvPr id="16" name="Text 14"/>
          <p:cNvSpPr/>
          <p:nvPr/>
        </p:nvSpPr>
        <p:spPr>
          <a:xfrm>
            <a:off x="5833872" y="2075688"/>
            <a:ext cx="1271016" cy="10058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Entirely </a:t>
            </a:r>
          </a:p>
          <a:p>
            <a:pPr marL="0" indent="0" algn="ctr">
              <a:buNone/>
            </a:pPr>
            <a:r>
              <a:rPr lang="en-US" sz="900" b="1" dirty="0">
                <a:solidFill>
                  <a:srgbClr val="FFFFFF"/>
                </a:solidFill>
                <a:latin typeface="Calibri" pitchFamily="34" charset="0"/>
                <a:ea typeface="Calibri" pitchFamily="34" charset="-122"/>
                <a:cs typeface="Calibri" pitchFamily="34" charset="-120"/>
              </a:rPr>
              <a:t>Private Experiences </a:t>
            </a:r>
            <a:endParaRPr lang="en-US" sz="900" dirty="0"/>
          </a:p>
          <a:p>
            <a:pPr marL="0" indent="0" algn="ctr">
              <a:buNone/>
            </a:pPr>
            <a:endParaRPr lang="en-US" sz="900" dirty="0">
              <a:solidFill>
                <a:schemeClr val="bg1"/>
              </a:solidFill>
            </a:endParaRPr>
          </a:p>
        </p:txBody>
      </p:sp>
      <p:sp>
        <p:nvSpPr>
          <p:cNvPr id="17" name="Shape 15"/>
          <p:cNvSpPr/>
          <p:nvPr/>
        </p:nvSpPr>
        <p:spPr>
          <a:xfrm>
            <a:off x="7315200" y="1965960"/>
            <a:ext cx="1417320" cy="1234440"/>
          </a:xfrm>
          <a:prstGeom prst="rect">
            <a:avLst/>
          </a:prstGeom>
          <a:solidFill>
            <a:srgbClr val="0D0D0D"/>
          </a:solidFill>
          <a:ln w="12700">
            <a:solidFill>
              <a:srgbClr val="0D0D0D"/>
            </a:solidFill>
            <a:prstDash val="solid"/>
          </a:ln>
        </p:spPr>
      </p:sp>
      <p:sp>
        <p:nvSpPr>
          <p:cNvPr id="18" name="Shape 16"/>
          <p:cNvSpPr/>
          <p:nvPr/>
        </p:nvSpPr>
        <p:spPr>
          <a:xfrm>
            <a:off x="7315200" y="1965960"/>
            <a:ext cx="1417320" cy="45720"/>
          </a:xfrm>
          <a:prstGeom prst="rect">
            <a:avLst/>
          </a:prstGeom>
          <a:solidFill>
            <a:srgbClr val="B8963E"/>
          </a:solidFill>
          <a:ln w="12700">
            <a:solidFill>
              <a:srgbClr val="B8963E"/>
            </a:solidFill>
            <a:prstDash val="solid"/>
          </a:ln>
        </p:spPr>
      </p:sp>
      <p:sp>
        <p:nvSpPr>
          <p:cNvPr id="19" name="Text 17"/>
          <p:cNvSpPr/>
          <p:nvPr/>
        </p:nvSpPr>
        <p:spPr>
          <a:xfrm>
            <a:off x="7388352" y="2075688"/>
            <a:ext cx="1271016" cy="10058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Seamless</a:t>
            </a:r>
          </a:p>
          <a:p>
            <a:pPr marL="0" indent="0" algn="ctr">
              <a:buNone/>
            </a:pPr>
            <a:r>
              <a:rPr lang="en-US" sz="900" b="1" dirty="0">
                <a:solidFill>
                  <a:srgbClr val="FFFFFF"/>
                </a:solidFill>
                <a:latin typeface="Calibri" pitchFamily="34" charset="0"/>
                <a:ea typeface="Calibri" pitchFamily="34" charset="-122"/>
                <a:cs typeface="Calibri" pitchFamily="34" charset="-120"/>
              </a:rPr>
              <a:t> cross-boarder travel</a:t>
            </a:r>
          </a:p>
        </p:txBody>
      </p:sp>
      <p:sp>
        <p:nvSpPr>
          <p:cNvPr id="20" name="Text 18"/>
          <p:cNvSpPr/>
          <p:nvPr/>
        </p:nvSpPr>
        <p:spPr>
          <a:xfrm>
            <a:off x="228600" y="4709160"/>
            <a:ext cx="3657600" cy="292608"/>
          </a:xfrm>
          <a:prstGeom prst="rect">
            <a:avLst/>
          </a:prstGeom>
          <a:noFill/>
          <a:ln/>
        </p:spPr>
        <p:txBody>
          <a:bodyPr wrap="square" rtlCol="0" anchor="ctr"/>
          <a:lstStyle/>
          <a:p>
            <a:pPr marL="0" indent="0" algn="l">
              <a:buNone/>
            </a:pPr>
            <a:r>
              <a:rPr lang="en-US" sz="900" i="1" dirty="0">
                <a:solidFill>
                  <a:srgbClr val="B8963E"/>
                </a:solidFill>
                <a:latin typeface="Calibri" pitchFamily="34" charset="0"/>
                <a:ea typeface="Calibri" pitchFamily="34" charset="-122"/>
                <a:cs typeface="Calibri" pitchFamily="34" charset="-120"/>
              </a:rPr>
              <a:t>Design Your Journey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56032"/>
            <a:ext cx="8229600" cy="347472"/>
          </a:xfrm>
          <a:prstGeom prst="rect">
            <a:avLst/>
          </a:prstGeom>
          <a:noFill/>
          <a:ln/>
        </p:spPr>
        <p:txBody>
          <a:bodyPr wrap="square" rtlCol="0" anchor="ctr"/>
          <a:lstStyle/>
          <a:p>
            <a:pPr marL="0" indent="0" algn="ctr">
              <a:buNone/>
            </a:pPr>
            <a:r>
              <a:rPr lang="en-US" sz="850" kern="0" spc="300" dirty="0">
                <a:solidFill>
                  <a:srgbClr val="B8963E"/>
                </a:solidFill>
                <a:latin typeface="Calibri" pitchFamily="34" charset="0"/>
                <a:ea typeface="Calibri" pitchFamily="34" charset="-122"/>
                <a:cs typeface="Calibri" pitchFamily="34" charset="-120"/>
              </a:rPr>
              <a:t>HOME THE JOURNEY  ·  HOW IT WORKS</a:t>
            </a:r>
            <a:endParaRPr lang="en-US" sz="850" dirty="0"/>
          </a:p>
        </p:txBody>
      </p:sp>
      <p:sp>
        <p:nvSpPr>
          <p:cNvPr id="3" name="Text 1"/>
          <p:cNvSpPr/>
          <p:nvPr/>
        </p:nvSpPr>
        <p:spPr>
          <a:xfrm>
            <a:off x="594360" y="635508"/>
            <a:ext cx="8229600" cy="594360"/>
          </a:xfrm>
          <a:prstGeom prst="rect">
            <a:avLst/>
          </a:prstGeom>
          <a:noFill/>
          <a:ln/>
        </p:spPr>
        <p:txBody>
          <a:bodyPr wrap="square" rtlCol="0" anchor="ctr"/>
          <a:lstStyle/>
          <a:p>
            <a:pPr marL="0" indent="0" algn="ctr">
              <a:buNone/>
            </a:pPr>
            <a:r>
              <a:rPr lang="en-US" sz="2600" i="1" dirty="0">
                <a:latin typeface="Georgia" pitchFamily="34" charset="0"/>
                <a:ea typeface="Georgia" pitchFamily="34" charset="-122"/>
                <a:cs typeface="Georgia" pitchFamily="34" charset="-120"/>
              </a:rPr>
              <a:t>How the journey unfolds </a:t>
            </a:r>
            <a:endParaRPr lang="en-US" sz="2600" dirty="0"/>
          </a:p>
        </p:txBody>
      </p:sp>
      <p:sp>
        <p:nvSpPr>
          <p:cNvPr id="4" name="Shape 2"/>
          <p:cNvSpPr/>
          <p:nvPr/>
        </p:nvSpPr>
        <p:spPr>
          <a:xfrm>
            <a:off x="3886200" y="1325880"/>
            <a:ext cx="1371600" cy="27432"/>
          </a:xfrm>
          <a:prstGeom prst="rect">
            <a:avLst/>
          </a:prstGeom>
          <a:solidFill>
            <a:srgbClr val="333333"/>
          </a:solidFill>
          <a:ln w="12700">
            <a:solidFill>
              <a:srgbClr val="333333"/>
            </a:solidFill>
            <a:prstDash val="solid"/>
          </a:ln>
        </p:spPr>
      </p:sp>
      <p:sp>
        <p:nvSpPr>
          <p:cNvPr id="5" name="Shape 3"/>
          <p:cNvSpPr/>
          <p:nvPr/>
        </p:nvSpPr>
        <p:spPr>
          <a:xfrm>
            <a:off x="1261872" y="1691640"/>
            <a:ext cx="914400" cy="914400"/>
          </a:xfrm>
          <a:prstGeom prst="ellipse">
            <a:avLst/>
          </a:prstGeom>
          <a:solidFill>
            <a:srgbClr val="B8963E"/>
          </a:solidFill>
          <a:ln w="12700">
            <a:solidFill>
              <a:srgbClr val="B8963E"/>
            </a:solidFill>
            <a:prstDash val="solid"/>
          </a:ln>
        </p:spPr>
      </p:sp>
      <p:sp>
        <p:nvSpPr>
          <p:cNvPr id="6" name="Text 4"/>
          <p:cNvSpPr/>
          <p:nvPr/>
        </p:nvSpPr>
        <p:spPr>
          <a:xfrm>
            <a:off x="1261872" y="1691640"/>
            <a:ext cx="914400" cy="914400"/>
          </a:xfrm>
          <a:prstGeom prst="rect">
            <a:avLst/>
          </a:prstGeom>
          <a:noFill/>
          <a:ln/>
        </p:spPr>
        <p:txBody>
          <a:bodyPr wrap="square" rtlCol="0" anchor="ctr"/>
          <a:lstStyle/>
          <a:p>
            <a:pPr marL="0" indent="0" algn="ctr">
              <a:buNone/>
            </a:pPr>
            <a:r>
              <a:rPr lang="en-US" sz="1800" b="1" dirty="0">
                <a:solidFill>
                  <a:srgbClr val="0D0D0D"/>
                </a:solidFill>
                <a:latin typeface="Georgia" pitchFamily="34" charset="0"/>
                <a:ea typeface="Georgia" pitchFamily="34" charset="-122"/>
                <a:cs typeface="Georgia" pitchFamily="34" charset="-120"/>
              </a:rPr>
              <a:t>01</a:t>
            </a:r>
            <a:endParaRPr lang="en-US" sz="1800" dirty="0"/>
          </a:p>
        </p:txBody>
      </p:sp>
      <p:sp>
        <p:nvSpPr>
          <p:cNvPr id="7" name="Shape 5"/>
          <p:cNvSpPr/>
          <p:nvPr/>
        </p:nvSpPr>
        <p:spPr>
          <a:xfrm>
            <a:off x="2176272" y="0"/>
            <a:ext cx="1207008" cy="22860"/>
          </a:xfrm>
          <a:prstGeom prst="rect">
            <a:avLst/>
          </a:prstGeom>
          <a:solidFill>
            <a:srgbClr val="444444"/>
          </a:solidFill>
          <a:ln w="12700">
            <a:solidFill>
              <a:srgbClr val="444444"/>
            </a:solidFill>
            <a:prstDash val="solid"/>
          </a:ln>
        </p:spPr>
      </p:sp>
      <p:sp>
        <p:nvSpPr>
          <p:cNvPr id="8" name="Text 6"/>
          <p:cNvSpPr/>
          <p:nvPr/>
        </p:nvSpPr>
        <p:spPr>
          <a:xfrm>
            <a:off x="594360" y="2788920"/>
            <a:ext cx="2423160" cy="384048"/>
          </a:xfrm>
          <a:prstGeom prst="rect">
            <a:avLst/>
          </a:prstGeom>
          <a:noFill/>
          <a:ln/>
        </p:spPr>
        <p:txBody>
          <a:bodyPr wrap="square" rtlCol="0" anchor="ctr"/>
          <a:lstStyle/>
          <a:p>
            <a:pPr marL="0" indent="0" algn="ctr">
              <a:buNone/>
            </a:pPr>
            <a:r>
              <a:rPr lang="en-US" sz="1300" kern="0" spc="300" dirty="0">
                <a:latin typeface="Georgia" pitchFamily="34" charset="0"/>
              </a:rPr>
              <a:t>Discover</a:t>
            </a:r>
            <a:endParaRPr lang="en-US" sz="1300" dirty="0"/>
          </a:p>
        </p:txBody>
      </p:sp>
      <p:sp>
        <p:nvSpPr>
          <p:cNvPr id="9" name="Text 7"/>
          <p:cNvSpPr/>
          <p:nvPr/>
        </p:nvSpPr>
        <p:spPr>
          <a:xfrm>
            <a:off x="594360" y="3273552"/>
            <a:ext cx="2423160" cy="1417320"/>
          </a:xfrm>
          <a:prstGeom prst="rect">
            <a:avLst/>
          </a:prstGeom>
          <a:noFill/>
          <a:ln/>
        </p:spPr>
        <p:txBody>
          <a:bodyPr wrap="square" rtlCol="0" anchor="ctr"/>
          <a:lstStyle/>
          <a:p>
            <a:pPr marL="0" indent="0" algn="ctr">
              <a:buNone/>
            </a:pPr>
            <a:r>
              <a:rPr lang="en-US" sz="1050" dirty="0">
                <a:latin typeface="Calibri" pitchFamily="34" charset="0"/>
                <a:ea typeface="Calibri" pitchFamily="34" charset="-122"/>
                <a:cs typeface="Calibri" pitchFamily="34" charset="-120"/>
              </a:rPr>
              <a:t>Tell us what calls to you — the roar of the Falls, the silence of the bush, the rush of the rapids, the warmth of the fire.</a:t>
            </a:r>
            <a:endParaRPr lang="en-US" sz="1050" dirty="0"/>
          </a:p>
        </p:txBody>
      </p:sp>
      <p:sp>
        <p:nvSpPr>
          <p:cNvPr id="10" name="Shape 8"/>
          <p:cNvSpPr/>
          <p:nvPr/>
        </p:nvSpPr>
        <p:spPr>
          <a:xfrm>
            <a:off x="4050792" y="1691640"/>
            <a:ext cx="914400" cy="914400"/>
          </a:xfrm>
          <a:prstGeom prst="ellipse">
            <a:avLst/>
          </a:prstGeom>
          <a:solidFill>
            <a:srgbClr val="B8963E"/>
          </a:solidFill>
          <a:ln w="12700">
            <a:solidFill>
              <a:srgbClr val="B8963E"/>
            </a:solidFill>
            <a:prstDash val="solid"/>
          </a:ln>
        </p:spPr>
      </p:sp>
      <p:sp>
        <p:nvSpPr>
          <p:cNvPr id="11" name="Text 9"/>
          <p:cNvSpPr/>
          <p:nvPr/>
        </p:nvSpPr>
        <p:spPr>
          <a:xfrm>
            <a:off x="4050792" y="1691640"/>
            <a:ext cx="914400" cy="914400"/>
          </a:xfrm>
          <a:prstGeom prst="rect">
            <a:avLst/>
          </a:prstGeom>
          <a:noFill/>
          <a:ln/>
        </p:spPr>
        <p:txBody>
          <a:bodyPr wrap="square" rtlCol="0" anchor="ctr"/>
          <a:lstStyle/>
          <a:p>
            <a:pPr marL="0" indent="0" algn="ctr">
              <a:buNone/>
            </a:pPr>
            <a:r>
              <a:rPr lang="en-US" sz="1800" b="1" dirty="0">
                <a:solidFill>
                  <a:srgbClr val="0D0D0D"/>
                </a:solidFill>
                <a:latin typeface="Georgia" pitchFamily="34" charset="0"/>
                <a:ea typeface="Georgia" pitchFamily="34" charset="-122"/>
                <a:cs typeface="Georgia" pitchFamily="34" charset="-120"/>
              </a:rPr>
              <a:t>02</a:t>
            </a:r>
            <a:endParaRPr lang="en-US" sz="1800" dirty="0"/>
          </a:p>
        </p:txBody>
      </p:sp>
      <p:sp>
        <p:nvSpPr>
          <p:cNvPr id="12" name="Shape 10"/>
          <p:cNvSpPr/>
          <p:nvPr/>
        </p:nvSpPr>
        <p:spPr>
          <a:xfrm>
            <a:off x="4965192" y="0"/>
            <a:ext cx="1207008" cy="22860"/>
          </a:xfrm>
          <a:prstGeom prst="rect">
            <a:avLst/>
          </a:prstGeom>
          <a:solidFill>
            <a:srgbClr val="444444"/>
          </a:solidFill>
          <a:ln w="12700">
            <a:solidFill>
              <a:srgbClr val="444444"/>
            </a:solidFill>
            <a:prstDash val="solid"/>
          </a:ln>
        </p:spPr>
      </p:sp>
      <p:sp>
        <p:nvSpPr>
          <p:cNvPr id="13" name="Text 11"/>
          <p:cNvSpPr/>
          <p:nvPr/>
        </p:nvSpPr>
        <p:spPr>
          <a:xfrm>
            <a:off x="3383280" y="2788920"/>
            <a:ext cx="2423160" cy="384048"/>
          </a:xfrm>
          <a:prstGeom prst="rect">
            <a:avLst/>
          </a:prstGeom>
          <a:noFill/>
          <a:ln/>
        </p:spPr>
        <p:txBody>
          <a:bodyPr wrap="square" rtlCol="0" anchor="ctr"/>
          <a:lstStyle/>
          <a:p>
            <a:pPr marL="0" indent="0" algn="ctr">
              <a:buNone/>
            </a:pPr>
            <a:r>
              <a:rPr lang="en-US" sz="1300" dirty="0"/>
              <a:t>Curate</a:t>
            </a:r>
          </a:p>
        </p:txBody>
      </p:sp>
      <p:sp>
        <p:nvSpPr>
          <p:cNvPr id="14" name="Text 12"/>
          <p:cNvSpPr/>
          <p:nvPr/>
        </p:nvSpPr>
        <p:spPr>
          <a:xfrm>
            <a:off x="3383280" y="3273552"/>
            <a:ext cx="2423160" cy="1417320"/>
          </a:xfrm>
          <a:prstGeom prst="rect">
            <a:avLst/>
          </a:prstGeom>
          <a:noFill/>
          <a:ln/>
        </p:spPr>
        <p:txBody>
          <a:bodyPr wrap="square" rtlCol="0" anchor="ctr"/>
          <a:lstStyle/>
          <a:p>
            <a:pPr marL="0" indent="0" algn="ctr">
              <a:buNone/>
            </a:pPr>
            <a:r>
              <a:rPr lang="en-US" sz="1050" dirty="0">
                <a:latin typeface="Calibri" pitchFamily="34" charset="0"/>
                <a:ea typeface="Calibri" pitchFamily="34" charset="-122"/>
                <a:cs typeface="Calibri" pitchFamily="34" charset="-120"/>
              </a:rPr>
              <a:t>We craft a private itinerary built entirely around you. Every detail considered. Every moment intentional</a:t>
            </a:r>
            <a:r>
              <a:rPr lang="en-US" sz="1050" dirty="0">
                <a:solidFill>
                  <a:srgbClr val="AAAAAA"/>
                </a:solidFill>
                <a:latin typeface="Calibri" pitchFamily="34" charset="0"/>
                <a:ea typeface="Calibri" pitchFamily="34" charset="-122"/>
                <a:cs typeface="Calibri" pitchFamily="34" charset="-120"/>
              </a:rPr>
              <a:t>.</a:t>
            </a:r>
            <a:endParaRPr lang="en-US" sz="1050" dirty="0"/>
          </a:p>
        </p:txBody>
      </p:sp>
      <p:sp>
        <p:nvSpPr>
          <p:cNvPr id="15" name="Shape 13"/>
          <p:cNvSpPr/>
          <p:nvPr/>
        </p:nvSpPr>
        <p:spPr>
          <a:xfrm>
            <a:off x="6839712" y="1691640"/>
            <a:ext cx="914400" cy="914400"/>
          </a:xfrm>
          <a:prstGeom prst="ellipse">
            <a:avLst/>
          </a:prstGeom>
          <a:solidFill>
            <a:srgbClr val="B8963E"/>
          </a:solidFill>
          <a:ln w="12700">
            <a:solidFill>
              <a:srgbClr val="B8963E"/>
            </a:solidFill>
            <a:prstDash val="solid"/>
          </a:ln>
        </p:spPr>
      </p:sp>
      <p:sp>
        <p:nvSpPr>
          <p:cNvPr id="16" name="Text 14"/>
          <p:cNvSpPr/>
          <p:nvPr/>
        </p:nvSpPr>
        <p:spPr>
          <a:xfrm>
            <a:off x="6839712" y="1691640"/>
            <a:ext cx="914400" cy="914400"/>
          </a:xfrm>
          <a:prstGeom prst="rect">
            <a:avLst/>
          </a:prstGeom>
          <a:noFill/>
          <a:ln/>
        </p:spPr>
        <p:txBody>
          <a:bodyPr wrap="square" rtlCol="0" anchor="ctr"/>
          <a:lstStyle/>
          <a:p>
            <a:pPr marL="0" indent="0" algn="ctr">
              <a:buNone/>
            </a:pPr>
            <a:r>
              <a:rPr lang="en-US" sz="1800" b="1" dirty="0">
                <a:solidFill>
                  <a:srgbClr val="0D0D0D"/>
                </a:solidFill>
                <a:latin typeface="Georgia" pitchFamily="34" charset="0"/>
                <a:ea typeface="Georgia" pitchFamily="34" charset="-122"/>
                <a:cs typeface="Georgia" pitchFamily="34" charset="-120"/>
              </a:rPr>
              <a:t>03</a:t>
            </a:r>
            <a:endParaRPr lang="en-US" sz="1800" dirty="0"/>
          </a:p>
        </p:txBody>
      </p:sp>
      <p:sp>
        <p:nvSpPr>
          <p:cNvPr id="17" name="Text 15"/>
          <p:cNvSpPr/>
          <p:nvPr/>
        </p:nvSpPr>
        <p:spPr>
          <a:xfrm>
            <a:off x="6172200" y="2788920"/>
            <a:ext cx="2423160" cy="384048"/>
          </a:xfrm>
          <a:prstGeom prst="rect">
            <a:avLst/>
          </a:prstGeom>
          <a:noFill/>
          <a:ln/>
        </p:spPr>
        <p:txBody>
          <a:bodyPr wrap="square" rtlCol="0" anchor="ctr"/>
          <a:lstStyle/>
          <a:p>
            <a:pPr marL="0" indent="0" algn="ctr">
              <a:buNone/>
            </a:pPr>
            <a:r>
              <a:rPr lang="en-US" sz="1300" kern="0" spc="300" dirty="0">
                <a:latin typeface="Georgia" pitchFamily="34" charset="0"/>
              </a:rPr>
              <a:t>Arrive</a:t>
            </a:r>
            <a:endParaRPr lang="en-US" sz="1300" dirty="0"/>
          </a:p>
        </p:txBody>
      </p:sp>
      <p:sp>
        <p:nvSpPr>
          <p:cNvPr id="18" name="Text 16"/>
          <p:cNvSpPr/>
          <p:nvPr/>
        </p:nvSpPr>
        <p:spPr>
          <a:xfrm>
            <a:off x="6172200" y="3273552"/>
            <a:ext cx="2423160" cy="1417320"/>
          </a:xfrm>
          <a:prstGeom prst="rect">
            <a:avLst/>
          </a:prstGeom>
          <a:noFill/>
          <a:ln/>
        </p:spPr>
        <p:txBody>
          <a:bodyPr wrap="square" rtlCol="0" anchor="ctr"/>
          <a:lstStyle/>
          <a:p>
            <a:pPr marL="0" indent="0" algn="ctr">
              <a:buNone/>
            </a:pPr>
            <a:r>
              <a:rPr lang="en-US" sz="1050" dirty="0">
                <a:latin typeface="Calibri" pitchFamily="34" charset="0"/>
                <a:ea typeface="Calibri" pitchFamily="34" charset="-122"/>
                <a:cs typeface="Calibri" pitchFamily="34" charset="-120"/>
              </a:rPr>
              <a:t>Arrive in Victoria Falls and surrender to the journey. We take care of everything from here</a:t>
            </a:r>
            <a:r>
              <a:rPr lang="en-US" sz="1050" dirty="0">
                <a:solidFill>
                  <a:srgbClr val="AAAAAA"/>
                </a:solidFill>
                <a:latin typeface="Calibri" pitchFamily="34" charset="0"/>
                <a:ea typeface="Calibri" pitchFamily="34" charset="-122"/>
                <a:cs typeface="Calibri" pitchFamily="34" charset="-120"/>
              </a:rPr>
              <a:t>.</a:t>
            </a:r>
            <a:endParaRPr lang="en-US" sz="1050" dirty="0"/>
          </a:p>
        </p:txBody>
      </p:sp>
      <p:sp>
        <p:nvSpPr>
          <p:cNvPr id="19" name="Shape 17"/>
          <p:cNvSpPr/>
          <p:nvPr/>
        </p:nvSpPr>
        <p:spPr>
          <a:xfrm>
            <a:off x="2176272" y="2139696"/>
            <a:ext cx="1207008" cy="22860"/>
          </a:xfrm>
          <a:prstGeom prst="rect">
            <a:avLst/>
          </a:prstGeom>
          <a:solidFill>
            <a:srgbClr val="444444"/>
          </a:solidFill>
          <a:ln w="12700">
            <a:solidFill>
              <a:srgbClr val="444444"/>
            </a:solidFill>
            <a:prstDash val="solid"/>
          </a:ln>
        </p:spPr>
      </p:sp>
      <p:sp>
        <p:nvSpPr>
          <p:cNvPr id="20" name="Shape 18"/>
          <p:cNvSpPr/>
          <p:nvPr/>
        </p:nvSpPr>
        <p:spPr>
          <a:xfrm>
            <a:off x="4965192" y="2139696"/>
            <a:ext cx="1207008" cy="22860"/>
          </a:xfrm>
          <a:prstGeom prst="rect">
            <a:avLst/>
          </a:prstGeom>
          <a:solidFill>
            <a:srgbClr val="444444"/>
          </a:solidFill>
          <a:ln w="12700">
            <a:solidFill>
              <a:srgbClr val="444444"/>
            </a:solidFill>
            <a:prstDash val="solid"/>
          </a:ln>
        </p:spPr>
      </p:sp>
      <p:sp>
        <p:nvSpPr>
          <p:cNvPr id="21" name="Text 19"/>
          <p:cNvSpPr/>
          <p:nvPr/>
        </p:nvSpPr>
        <p:spPr>
          <a:xfrm>
            <a:off x="2926080" y="4754880"/>
            <a:ext cx="3291840" cy="256032"/>
          </a:xfrm>
          <a:prstGeom prst="rect">
            <a:avLst/>
          </a:prstGeom>
          <a:noFill/>
          <a:ln/>
        </p:spPr>
        <p:txBody>
          <a:bodyPr wrap="square" rtlCol="0" anchor="ctr"/>
          <a:lstStyle/>
          <a:p>
            <a:pPr marL="0" indent="0" algn="ctr">
              <a:buNone/>
            </a:pPr>
            <a:r>
              <a:rPr lang="en-US" sz="900" i="1" dirty="0">
                <a:solidFill>
                  <a:srgbClr val="B8963E"/>
                </a:solidFill>
                <a:latin typeface="Calibri" pitchFamily="34" charset="0"/>
                <a:ea typeface="Calibri" pitchFamily="34" charset="-122"/>
                <a:cs typeface="Calibri" pitchFamily="34" charset="-120"/>
              </a:rPr>
              <a:t>Start the Conversation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56032"/>
            <a:ext cx="8229600" cy="347472"/>
          </a:xfrm>
          <a:prstGeom prst="rect">
            <a:avLst/>
          </a:prstGeom>
          <a:noFill/>
          <a:ln/>
        </p:spPr>
        <p:txBody>
          <a:bodyPr wrap="square" rtlCol="0" anchor="ctr"/>
          <a:lstStyle/>
          <a:p>
            <a:pPr marL="0" indent="0" algn="ctr">
              <a:buNone/>
            </a:pPr>
            <a:r>
              <a:rPr lang="en-US" sz="850" kern="0" spc="300" dirty="0">
                <a:solidFill>
                  <a:srgbClr val="B8963E"/>
                </a:solidFill>
                <a:latin typeface="Calibri" pitchFamily="34" charset="0"/>
                <a:ea typeface="Calibri" pitchFamily="34" charset="-122"/>
                <a:cs typeface="Calibri" pitchFamily="34" charset="-120"/>
              </a:rPr>
              <a:t>HOME  ·  THREE PILLARS</a:t>
            </a:r>
            <a:endParaRPr lang="en-US" sz="850" dirty="0"/>
          </a:p>
        </p:txBody>
      </p:sp>
      <p:sp>
        <p:nvSpPr>
          <p:cNvPr id="3" name="Text 1"/>
          <p:cNvSpPr/>
          <p:nvPr/>
        </p:nvSpPr>
        <p:spPr>
          <a:xfrm>
            <a:off x="402336" y="603504"/>
            <a:ext cx="8229600" cy="960120"/>
          </a:xfrm>
          <a:prstGeom prst="rect">
            <a:avLst/>
          </a:prstGeom>
          <a:noFill/>
          <a:ln/>
        </p:spPr>
        <p:txBody>
          <a:bodyPr wrap="square" rtlCol="0" anchor="ctr"/>
          <a:lstStyle/>
          <a:p>
            <a:pPr marL="0" indent="0" algn="ctr">
              <a:buNone/>
            </a:pPr>
            <a:r>
              <a:rPr lang="en-US" sz="2800" i="1" dirty="0">
                <a:latin typeface="Georgia" pitchFamily="34" charset="0"/>
              </a:rPr>
              <a:t> AFRICA, IN ALL IT’S CONTRASTS</a:t>
            </a:r>
            <a:endParaRPr lang="en-US" sz="2800" dirty="0"/>
          </a:p>
        </p:txBody>
      </p:sp>
      <p:sp>
        <p:nvSpPr>
          <p:cNvPr id="4" name="Shape 2"/>
          <p:cNvSpPr/>
          <p:nvPr/>
        </p:nvSpPr>
        <p:spPr>
          <a:xfrm>
            <a:off x="384048" y="1828800"/>
            <a:ext cx="2633472" cy="2971800"/>
          </a:xfrm>
          <a:prstGeom prst="rect">
            <a:avLst/>
          </a:prstGeom>
          <a:solidFill>
            <a:schemeClr val="bg1"/>
          </a:solidFill>
          <a:ln w="12700">
            <a:solidFill>
              <a:srgbClr val="1A1A1A"/>
            </a:solidFill>
            <a:prstDash val="solid"/>
          </a:ln>
        </p:spPr>
        <p:txBody>
          <a:bodyPr/>
          <a:lstStyle/>
          <a:p>
            <a:endParaRPr lang="en-PK" dirty="0"/>
          </a:p>
        </p:txBody>
      </p:sp>
      <p:sp>
        <p:nvSpPr>
          <p:cNvPr id="5" name="Shape 3"/>
          <p:cNvSpPr/>
          <p:nvPr/>
        </p:nvSpPr>
        <p:spPr>
          <a:xfrm>
            <a:off x="384048" y="1828800"/>
            <a:ext cx="2633472" cy="54864"/>
          </a:xfrm>
          <a:prstGeom prst="rect">
            <a:avLst/>
          </a:prstGeom>
          <a:solidFill>
            <a:srgbClr val="C9AB5F"/>
          </a:solidFill>
          <a:ln w="12700">
            <a:solidFill>
              <a:srgbClr val="B8963E"/>
            </a:solidFill>
            <a:prstDash val="solid"/>
          </a:ln>
        </p:spPr>
      </p:sp>
      <p:sp>
        <p:nvSpPr>
          <p:cNvPr id="6" name="Text 4"/>
          <p:cNvSpPr/>
          <p:nvPr/>
        </p:nvSpPr>
        <p:spPr>
          <a:xfrm>
            <a:off x="475488" y="1965960"/>
            <a:ext cx="2450592" cy="411480"/>
          </a:xfrm>
          <a:prstGeom prst="rect">
            <a:avLst/>
          </a:prstGeom>
          <a:noFill/>
          <a:ln/>
        </p:spPr>
        <p:txBody>
          <a:bodyPr wrap="square" rtlCol="0" anchor="ctr"/>
          <a:lstStyle/>
          <a:p>
            <a:pPr marL="0" indent="0" algn="ctr">
              <a:buNone/>
            </a:pPr>
            <a:endParaRPr lang="en-US" sz="1800" dirty="0"/>
          </a:p>
        </p:txBody>
      </p:sp>
      <p:sp>
        <p:nvSpPr>
          <p:cNvPr id="7" name="Text 5"/>
          <p:cNvSpPr/>
          <p:nvPr/>
        </p:nvSpPr>
        <p:spPr>
          <a:xfrm>
            <a:off x="475488" y="2423160"/>
            <a:ext cx="2450592" cy="384048"/>
          </a:xfrm>
          <a:prstGeom prst="rect">
            <a:avLst/>
          </a:prstGeom>
          <a:noFill/>
          <a:ln/>
        </p:spPr>
        <p:txBody>
          <a:bodyPr wrap="square" rtlCol="0" anchor="ctr"/>
          <a:lstStyle/>
          <a:p>
            <a:pPr marL="0" indent="0" algn="ctr">
              <a:buNone/>
            </a:pPr>
            <a:r>
              <a:rPr lang="en-US" sz="1400" kern="0" spc="300" dirty="0">
                <a:latin typeface="Georgia" pitchFamily="34" charset="0"/>
                <a:ea typeface="Georgia" pitchFamily="34" charset="-122"/>
                <a:cs typeface="Georgia" pitchFamily="34" charset="-120"/>
              </a:rPr>
              <a:t>WONDER</a:t>
            </a:r>
            <a:endParaRPr lang="en-US" sz="1400" dirty="0"/>
          </a:p>
        </p:txBody>
      </p:sp>
      <p:sp>
        <p:nvSpPr>
          <p:cNvPr id="8" name="Shape 6"/>
          <p:cNvSpPr/>
          <p:nvPr/>
        </p:nvSpPr>
        <p:spPr>
          <a:xfrm>
            <a:off x="932688" y="2880360"/>
            <a:ext cx="1536192" cy="22860"/>
          </a:xfrm>
          <a:prstGeom prst="rect">
            <a:avLst/>
          </a:prstGeom>
          <a:solidFill>
            <a:srgbClr val="B8963E"/>
          </a:solidFill>
          <a:ln w="12700">
            <a:solidFill>
              <a:srgbClr val="B8963E"/>
            </a:solidFill>
            <a:prstDash val="solid"/>
          </a:ln>
        </p:spPr>
      </p:sp>
      <p:sp>
        <p:nvSpPr>
          <p:cNvPr id="9" name="Text 7"/>
          <p:cNvSpPr/>
          <p:nvPr/>
        </p:nvSpPr>
        <p:spPr>
          <a:xfrm>
            <a:off x="512064" y="2999232"/>
            <a:ext cx="2377440" cy="1554480"/>
          </a:xfrm>
          <a:prstGeom prst="rect">
            <a:avLst/>
          </a:prstGeom>
          <a:noFill/>
          <a:ln/>
        </p:spPr>
        <p:txBody>
          <a:bodyPr wrap="square" rtlCol="0" anchor="ctr"/>
          <a:lstStyle/>
          <a:p>
            <a:pPr marL="0" indent="0" algn="l">
              <a:buNone/>
            </a:pPr>
            <a:r>
              <a:rPr lang="en-US" sz="950" dirty="0">
                <a:latin typeface="Calibri" pitchFamily="34" charset="0"/>
                <a:ea typeface="Calibri" pitchFamily="34" charset="-122"/>
                <a:cs typeface="Calibri" pitchFamily="34" charset="-120"/>
              </a:rPr>
              <a:t>Stand where the Zambezi tips over the edge of the world. Feel the mist before you see the water. Hear what Livingstone heard</a:t>
            </a:r>
            <a:r>
              <a:rPr lang="en-US" sz="950" dirty="0">
                <a:solidFill>
                  <a:srgbClr val="CCCCCC"/>
                </a:solidFill>
                <a:latin typeface="Calibri" pitchFamily="34" charset="0"/>
                <a:ea typeface="Calibri" pitchFamily="34" charset="-122"/>
                <a:cs typeface="Calibri" pitchFamily="34" charset="-120"/>
              </a:rPr>
              <a:t>.</a:t>
            </a:r>
            <a:endParaRPr lang="en-US" sz="950" dirty="0"/>
          </a:p>
        </p:txBody>
      </p:sp>
      <p:sp>
        <p:nvSpPr>
          <p:cNvPr id="10" name="Text 8"/>
          <p:cNvSpPr/>
          <p:nvPr/>
        </p:nvSpPr>
        <p:spPr>
          <a:xfrm>
            <a:off x="512064" y="4572000"/>
            <a:ext cx="2377440" cy="320040"/>
          </a:xfrm>
          <a:prstGeom prst="rect">
            <a:avLst/>
          </a:prstGeom>
          <a:noFill/>
          <a:ln/>
        </p:spPr>
        <p:txBody>
          <a:bodyPr wrap="square" rtlCol="0" anchor="ctr"/>
          <a:lstStyle/>
          <a:p>
            <a:pPr marL="0" indent="0" algn="ctr">
              <a:buNone/>
            </a:pPr>
            <a:r>
              <a:rPr lang="en-US" sz="850" i="1" dirty="0">
                <a:solidFill>
                  <a:srgbClr val="B8963E"/>
                </a:solidFill>
                <a:latin typeface="Calibri" pitchFamily="34" charset="0"/>
                <a:ea typeface="Calibri" pitchFamily="34" charset="-122"/>
                <a:cs typeface="Calibri" pitchFamily="34" charset="-120"/>
              </a:rPr>
              <a:t>Explore More →</a:t>
            </a:r>
            <a:endParaRPr lang="en-US" sz="850" dirty="0"/>
          </a:p>
        </p:txBody>
      </p:sp>
      <p:sp>
        <p:nvSpPr>
          <p:cNvPr id="11" name="Shape 9"/>
          <p:cNvSpPr/>
          <p:nvPr/>
        </p:nvSpPr>
        <p:spPr>
          <a:xfrm>
            <a:off x="3255264" y="1856232"/>
            <a:ext cx="2633472" cy="2971800"/>
          </a:xfrm>
          <a:prstGeom prst="rect">
            <a:avLst/>
          </a:prstGeom>
          <a:solidFill>
            <a:schemeClr val="bg1"/>
          </a:solidFill>
          <a:ln w="12700">
            <a:solidFill>
              <a:srgbClr val="1A1A1A"/>
            </a:solidFill>
            <a:prstDash val="solid"/>
          </a:ln>
        </p:spPr>
      </p:sp>
      <p:sp>
        <p:nvSpPr>
          <p:cNvPr id="12" name="Shape 10"/>
          <p:cNvSpPr/>
          <p:nvPr/>
        </p:nvSpPr>
        <p:spPr>
          <a:xfrm>
            <a:off x="3255264" y="1869948"/>
            <a:ext cx="2633472" cy="54864"/>
          </a:xfrm>
          <a:prstGeom prst="rect">
            <a:avLst/>
          </a:prstGeom>
          <a:solidFill>
            <a:srgbClr val="B8963E"/>
          </a:solidFill>
          <a:ln w="12700">
            <a:solidFill>
              <a:srgbClr val="B8963E"/>
            </a:solidFill>
            <a:prstDash val="solid"/>
          </a:ln>
        </p:spPr>
      </p:sp>
      <p:sp>
        <p:nvSpPr>
          <p:cNvPr id="13" name="Text 11"/>
          <p:cNvSpPr/>
          <p:nvPr/>
        </p:nvSpPr>
        <p:spPr>
          <a:xfrm>
            <a:off x="3282696" y="1965960"/>
            <a:ext cx="2450592" cy="411480"/>
          </a:xfrm>
          <a:prstGeom prst="rect">
            <a:avLst/>
          </a:prstGeom>
          <a:noFill/>
          <a:ln/>
        </p:spPr>
        <p:txBody>
          <a:bodyPr wrap="square" rtlCol="0" anchor="ctr"/>
          <a:lstStyle/>
          <a:p>
            <a:pPr marL="0" indent="0" algn="ctr">
              <a:buNone/>
            </a:pPr>
            <a:endParaRPr lang="en-US" sz="1800" dirty="0"/>
          </a:p>
        </p:txBody>
      </p:sp>
      <p:sp>
        <p:nvSpPr>
          <p:cNvPr id="14" name="Text 12"/>
          <p:cNvSpPr/>
          <p:nvPr/>
        </p:nvSpPr>
        <p:spPr>
          <a:xfrm>
            <a:off x="3282696" y="2423160"/>
            <a:ext cx="2450592" cy="384048"/>
          </a:xfrm>
          <a:prstGeom prst="rect">
            <a:avLst/>
          </a:prstGeom>
          <a:noFill/>
          <a:ln/>
        </p:spPr>
        <p:txBody>
          <a:bodyPr wrap="square" rtlCol="0" anchor="ctr"/>
          <a:lstStyle/>
          <a:p>
            <a:pPr marL="0" indent="0" algn="ctr">
              <a:buNone/>
            </a:pPr>
            <a:r>
              <a:rPr lang="en-US" sz="1400" kern="0" spc="300" dirty="0">
                <a:latin typeface="Georgia" pitchFamily="34" charset="0"/>
                <a:ea typeface="Georgia" pitchFamily="34" charset="-122"/>
                <a:cs typeface="Georgia" pitchFamily="34" charset="-120"/>
              </a:rPr>
              <a:t>WILD</a:t>
            </a:r>
            <a:endParaRPr lang="en-US" sz="1400" dirty="0"/>
          </a:p>
        </p:txBody>
      </p:sp>
      <p:sp>
        <p:nvSpPr>
          <p:cNvPr id="15" name="Shape 13"/>
          <p:cNvSpPr/>
          <p:nvPr/>
        </p:nvSpPr>
        <p:spPr>
          <a:xfrm>
            <a:off x="3739896" y="2880360"/>
            <a:ext cx="1536192" cy="22860"/>
          </a:xfrm>
          <a:prstGeom prst="rect">
            <a:avLst/>
          </a:prstGeom>
          <a:solidFill>
            <a:srgbClr val="B8963E"/>
          </a:solidFill>
          <a:ln w="12700">
            <a:solidFill>
              <a:srgbClr val="B8963E"/>
            </a:solidFill>
            <a:prstDash val="solid"/>
          </a:ln>
        </p:spPr>
      </p:sp>
      <p:sp>
        <p:nvSpPr>
          <p:cNvPr id="16" name="Text 14"/>
          <p:cNvSpPr/>
          <p:nvPr/>
        </p:nvSpPr>
        <p:spPr>
          <a:xfrm>
            <a:off x="3319272" y="2999232"/>
            <a:ext cx="2377440" cy="1554480"/>
          </a:xfrm>
          <a:prstGeom prst="rect">
            <a:avLst/>
          </a:prstGeom>
          <a:noFill/>
          <a:ln/>
        </p:spPr>
        <p:txBody>
          <a:bodyPr wrap="square" rtlCol="0" anchor="ctr"/>
          <a:lstStyle/>
          <a:p>
            <a:pPr marL="0" indent="0" algn="l">
              <a:buNone/>
            </a:pPr>
            <a:r>
              <a:rPr lang="en-US" sz="950" dirty="0">
                <a:latin typeface="Calibri" pitchFamily="34" charset="0"/>
                <a:ea typeface="Calibri" pitchFamily="34" charset="-122"/>
                <a:cs typeface="Calibri" pitchFamily="34" charset="-120"/>
              </a:rPr>
              <a:t>Hwange's elephant herds moving at dusk. Chobe's channels alive with hippo and buffalo. The Africa that exists before the rest of the world wakes up.</a:t>
            </a:r>
            <a:endParaRPr lang="en-US" sz="950" dirty="0"/>
          </a:p>
        </p:txBody>
      </p:sp>
      <p:sp>
        <p:nvSpPr>
          <p:cNvPr id="17" name="Text 15"/>
          <p:cNvSpPr/>
          <p:nvPr/>
        </p:nvSpPr>
        <p:spPr>
          <a:xfrm>
            <a:off x="3319272" y="4572000"/>
            <a:ext cx="2377440" cy="320040"/>
          </a:xfrm>
          <a:prstGeom prst="rect">
            <a:avLst/>
          </a:prstGeom>
          <a:noFill/>
          <a:ln/>
        </p:spPr>
        <p:txBody>
          <a:bodyPr wrap="square" rtlCol="0" anchor="ctr"/>
          <a:lstStyle/>
          <a:p>
            <a:pPr marL="0" indent="0" algn="ctr">
              <a:buNone/>
            </a:pPr>
            <a:r>
              <a:rPr lang="en-US" sz="850" i="1" dirty="0">
                <a:solidFill>
                  <a:srgbClr val="B8963E"/>
                </a:solidFill>
                <a:latin typeface="Calibri" pitchFamily="34" charset="0"/>
                <a:ea typeface="Calibri" pitchFamily="34" charset="-122"/>
                <a:cs typeface="Calibri" pitchFamily="34" charset="-120"/>
              </a:rPr>
              <a:t>Explore More →</a:t>
            </a:r>
            <a:endParaRPr lang="en-US" sz="850" dirty="0"/>
          </a:p>
        </p:txBody>
      </p:sp>
      <p:sp>
        <p:nvSpPr>
          <p:cNvPr id="18" name="Shape 16"/>
          <p:cNvSpPr/>
          <p:nvPr/>
        </p:nvSpPr>
        <p:spPr>
          <a:xfrm>
            <a:off x="5998464" y="1828800"/>
            <a:ext cx="2633472" cy="2971800"/>
          </a:xfrm>
          <a:prstGeom prst="rect">
            <a:avLst/>
          </a:prstGeom>
          <a:solidFill>
            <a:schemeClr val="bg1"/>
          </a:solidFill>
          <a:ln w="12700">
            <a:solidFill>
              <a:srgbClr val="1A1A1A"/>
            </a:solidFill>
            <a:prstDash val="solid"/>
          </a:ln>
        </p:spPr>
      </p:sp>
      <p:sp>
        <p:nvSpPr>
          <p:cNvPr id="19" name="Shape 17"/>
          <p:cNvSpPr/>
          <p:nvPr/>
        </p:nvSpPr>
        <p:spPr>
          <a:xfrm>
            <a:off x="5998464" y="1828800"/>
            <a:ext cx="2633472" cy="54864"/>
          </a:xfrm>
          <a:prstGeom prst="rect">
            <a:avLst/>
          </a:prstGeom>
          <a:solidFill>
            <a:srgbClr val="B8963E"/>
          </a:solidFill>
          <a:ln w="12700">
            <a:solidFill>
              <a:srgbClr val="B8963E"/>
            </a:solidFill>
            <a:prstDash val="solid"/>
          </a:ln>
        </p:spPr>
      </p:sp>
      <p:sp>
        <p:nvSpPr>
          <p:cNvPr id="20" name="Text 18"/>
          <p:cNvSpPr/>
          <p:nvPr/>
        </p:nvSpPr>
        <p:spPr>
          <a:xfrm>
            <a:off x="6089904" y="1965960"/>
            <a:ext cx="2450592" cy="411480"/>
          </a:xfrm>
          <a:prstGeom prst="rect">
            <a:avLst/>
          </a:prstGeom>
          <a:noFill/>
          <a:ln/>
        </p:spPr>
        <p:txBody>
          <a:bodyPr wrap="square" rtlCol="0" anchor="ctr"/>
          <a:lstStyle/>
          <a:p>
            <a:pPr marL="0" indent="0" algn="ctr">
              <a:buNone/>
            </a:pPr>
            <a:endParaRPr lang="en-US" sz="1800" dirty="0"/>
          </a:p>
        </p:txBody>
      </p:sp>
      <p:sp>
        <p:nvSpPr>
          <p:cNvPr id="21" name="Text 19"/>
          <p:cNvSpPr/>
          <p:nvPr/>
        </p:nvSpPr>
        <p:spPr>
          <a:xfrm>
            <a:off x="6089904" y="2423160"/>
            <a:ext cx="2450592" cy="384048"/>
          </a:xfrm>
          <a:prstGeom prst="rect">
            <a:avLst/>
          </a:prstGeom>
          <a:noFill/>
          <a:ln/>
        </p:spPr>
        <p:txBody>
          <a:bodyPr wrap="square" rtlCol="0" anchor="ctr"/>
          <a:lstStyle/>
          <a:p>
            <a:pPr marL="0" indent="0" algn="ctr">
              <a:buNone/>
            </a:pPr>
            <a:r>
              <a:rPr lang="en-US" sz="1400" kern="0" spc="300" dirty="0">
                <a:latin typeface="Georgia" pitchFamily="34" charset="0"/>
                <a:ea typeface="Georgia" pitchFamily="34" charset="-122"/>
                <a:cs typeface="Georgia" pitchFamily="34" charset="-120"/>
              </a:rPr>
              <a:t>THRILL</a:t>
            </a:r>
            <a:endParaRPr lang="en-US" sz="1400" dirty="0"/>
          </a:p>
        </p:txBody>
      </p:sp>
      <p:sp>
        <p:nvSpPr>
          <p:cNvPr id="22" name="Shape 20"/>
          <p:cNvSpPr/>
          <p:nvPr/>
        </p:nvSpPr>
        <p:spPr>
          <a:xfrm>
            <a:off x="6547104" y="2880360"/>
            <a:ext cx="1536192" cy="22860"/>
          </a:xfrm>
          <a:prstGeom prst="rect">
            <a:avLst/>
          </a:prstGeom>
          <a:solidFill>
            <a:srgbClr val="B8963E"/>
          </a:solidFill>
          <a:ln w="12700">
            <a:solidFill>
              <a:srgbClr val="B8963E"/>
            </a:solidFill>
            <a:prstDash val="solid"/>
          </a:ln>
        </p:spPr>
      </p:sp>
      <p:sp>
        <p:nvSpPr>
          <p:cNvPr id="23" name="Text 21"/>
          <p:cNvSpPr/>
          <p:nvPr/>
        </p:nvSpPr>
        <p:spPr>
          <a:xfrm>
            <a:off x="6126480" y="2999232"/>
            <a:ext cx="2377440" cy="1554480"/>
          </a:xfrm>
          <a:prstGeom prst="rect">
            <a:avLst/>
          </a:prstGeom>
          <a:noFill/>
          <a:ln/>
        </p:spPr>
        <p:txBody>
          <a:bodyPr wrap="square" rtlCol="0" anchor="ctr"/>
          <a:lstStyle/>
          <a:p>
            <a:pPr marL="0" indent="0" algn="l">
              <a:buNone/>
            </a:pPr>
            <a:r>
              <a:rPr lang="en-US" sz="950" dirty="0">
                <a:latin typeface="Calibri" pitchFamily="34" charset="0"/>
                <a:ea typeface="Calibri" pitchFamily="34" charset="-122"/>
                <a:cs typeface="Calibri" pitchFamily="34" charset="-120"/>
              </a:rPr>
              <a:t>The gorge below the Falls is one of the most dramatic on earth. Fall into it, swing above it, fly over it, or ride its rapids.</a:t>
            </a:r>
            <a:endParaRPr lang="en-US" sz="950" dirty="0"/>
          </a:p>
        </p:txBody>
      </p:sp>
      <p:sp>
        <p:nvSpPr>
          <p:cNvPr id="24" name="Text 22"/>
          <p:cNvSpPr/>
          <p:nvPr/>
        </p:nvSpPr>
        <p:spPr>
          <a:xfrm>
            <a:off x="6126480" y="4572000"/>
            <a:ext cx="2377440" cy="320040"/>
          </a:xfrm>
          <a:prstGeom prst="rect">
            <a:avLst/>
          </a:prstGeom>
          <a:noFill/>
          <a:ln/>
        </p:spPr>
        <p:txBody>
          <a:bodyPr wrap="square" rtlCol="0" anchor="ctr"/>
          <a:lstStyle/>
          <a:p>
            <a:pPr marL="0" indent="0" algn="ctr">
              <a:buNone/>
            </a:pPr>
            <a:r>
              <a:rPr lang="en-US" sz="850" i="1" dirty="0">
                <a:solidFill>
                  <a:srgbClr val="B8963E"/>
                </a:solidFill>
                <a:latin typeface="Calibri" pitchFamily="34" charset="0"/>
                <a:ea typeface="Calibri" pitchFamily="34" charset="-122"/>
                <a:cs typeface="Calibri" pitchFamily="34" charset="-120"/>
              </a:rPr>
              <a:t>Explore More →</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365760" y="1463040"/>
            <a:ext cx="8412480" cy="1463040"/>
          </a:xfrm>
          <a:prstGeom prst="rect">
            <a:avLst/>
          </a:prstGeom>
          <a:noFill/>
          <a:ln/>
        </p:spPr>
        <p:txBody>
          <a:bodyPr wrap="square" rtlCol="0" anchor="ctr"/>
          <a:lstStyle/>
          <a:p>
            <a:pPr marL="0" indent="0" algn="l">
              <a:buNone/>
            </a:pPr>
            <a:r>
              <a:rPr lang="en-US" sz="5400" i="1" dirty="0">
                <a:latin typeface="Georgia" pitchFamily="34" charset="0"/>
                <a:ea typeface="Georgia" pitchFamily="34" charset="-122"/>
                <a:cs typeface="Georgia" pitchFamily="34" charset="-120"/>
              </a:rPr>
              <a:t>The Journey</a:t>
            </a:r>
            <a:endParaRPr lang="en-US" sz="5400" dirty="0"/>
          </a:p>
        </p:txBody>
      </p:sp>
      <p:sp>
        <p:nvSpPr>
          <p:cNvPr id="5" name="Shape 3"/>
          <p:cNvSpPr/>
          <p:nvPr/>
        </p:nvSpPr>
        <p:spPr>
          <a:xfrm>
            <a:off x="365760" y="3063240"/>
            <a:ext cx="3657600" cy="27432"/>
          </a:xfrm>
          <a:prstGeom prst="rect">
            <a:avLst/>
          </a:prstGeom>
          <a:solidFill>
            <a:srgbClr val="B8963E"/>
          </a:solidFill>
          <a:ln w="12700">
            <a:solidFill>
              <a:srgbClr val="B8963E"/>
            </a:solidFill>
            <a:prstDash val="solid"/>
          </a:ln>
        </p:spPr>
      </p:sp>
      <p:sp>
        <p:nvSpPr>
          <p:cNvPr id="6" name="Text 4"/>
          <p:cNvSpPr/>
          <p:nvPr/>
        </p:nvSpPr>
        <p:spPr>
          <a:xfrm>
            <a:off x="365760" y="3246120"/>
            <a:ext cx="8229600" cy="548640"/>
          </a:xfrm>
          <a:prstGeom prst="rect">
            <a:avLst/>
          </a:prstGeom>
          <a:noFill/>
          <a:ln/>
        </p:spPr>
        <p:txBody>
          <a:bodyPr wrap="square" rtlCol="0" anchor="ctr"/>
          <a:lstStyle/>
          <a:p>
            <a:pPr marL="0" indent="0" algn="l">
              <a:buNone/>
            </a:pPr>
            <a:r>
              <a:rPr lang="en-US" sz="1300" dirty="0">
                <a:latin typeface="Calibri" pitchFamily="34" charset="0"/>
                <a:ea typeface="Calibri" pitchFamily="34" charset="-122"/>
                <a:cs typeface="Calibri" pitchFamily="34" charset="-120"/>
              </a:rPr>
              <a:t>One river. Three nations. A journey without equal</a:t>
            </a:r>
            <a:r>
              <a:rPr lang="en-US" sz="1300" dirty="0">
                <a:solidFill>
                  <a:srgbClr val="AAAAAA"/>
                </a:solidFill>
                <a:latin typeface="Calibri" pitchFamily="34" charset="0"/>
                <a:ea typeface="Calibri" pitchFamily="34" charset="-122"/>
                <a:cs typeface="Calibri" pitchFamily="34" charset="-120"/>
              </a:rPr>
              <a:t>.</a:t>
            </a:r>
            <a:endParaRPr lang="en-US" sz="1300" dirty="0"/>
          </a:p>
        </p:txBody>
      </p:sp>
      <p:sp>
        <p:nvSpPr>
          <p:cNvPr id="8" name="TextBox 7">
            <a:extLst>
              <a:ext uri="{FF2B5EF4-FFF2-40B4-BE49-F238E27FC236}">
                <a16:creationId xmlns:a16="http://schemas.microsoft.com/office/drawing/2014/main" id="{DD95CD14-6D75-F1AC-2125-639C3DB90797}"/>
              </a:ext>
            </a:extLst>
          </p:cNvPr>
          <p:cNvSpPr txBox="1"/>
          <p:nvPr/>
        </p:nvSpPr>
        <p:spPr>
          <a:xfrm>
            <a:off x="-1447800" y="4533809"/>
            <a:ext cx="457764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B8963E"/>
                </a:solidFill>
                <a:effectLst/>
                <a:uLnTx/>
                <a:uFillTx/>
                <a:latin typeface="Calibri" pitchFamily="34" charset="0"/>
                <a:ea typeface="Calibri" pitchFamily="34" charset="-122"/>
                <a:cs typeface="Calibri" pitchFamily="34" charset="-120"/>
              </a:rPr>
              <a:t>Explore More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7CF38C0-8D19-80BE-AAB1-9F142A4298BC}"/>
              </a:ext>
            </a:extLst>
          </p:cNvPr>
          <p:cNvSpPr txBox="1"/>
          <p:nvPr/>
        </p:nvSpPr>
        <p:spPr>
          <a:xfrm>
            <a:off x="-1539239" y="876590"/>
            <a:ext cx="5300132"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i="1" dirty="0">
                <a:solidFill>
                  <a:srgbClr val="B8963E"/>
                </a:solidFill>
                <a:latin typeface="Calibri" pitchFamily="34" charset="0"/>
                <a:cs typeface="Calibri" pitchFamily="34" charset="-120"/>
              </a:rPr>
              <a:t>HOME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Text 1"/>
          <p:cNvSpPr/>
          <p:nvPr/>
        </p:nvSpPr>
        <p:spPr>
          <a:xfrm>
            <a:off x="274320" y="256032"/>
            <a:ext cx="8595360" cy="347472"/>
          </a:xfrm>
          <a:prstGeom prst="rect">
            <a:avLst/>
          </a:prstGeom>
          <a:noFill/>
          <a:ln/>
        </p:spPr>
        <p:txBody>
          <a:bodyPr wrap="square" rtlCol="0" anchor="ctr"/>
          <a:lstStyle/>
          <a:p>
            <a:pPr marL="0" indent="0" algn="l">
              <a:buNone/>
            </a:pPr>
            <a:r>
              <a:rPr lang="en-US" sz="850" kern="0" spc="400" dirty="0">
                <a:solidFill>
                  <a:srgbClr val="B8963E"/>
                </a:solidFill>
                <a:latin typeface="Calibri" pitchFamily="34" charset="0"/>
                <a:ea typeface="Calibri" pitchFamily="34" charset="-122"/>
                <a:cs typeface="Calibri" pitchFamily="34" charset="-120"/>
              </a:rPr>
              <a:t>THE JOURNEY</a:t>
            </a:r>
            <a:endParaRPr lang="en-US" sz="850" dirty="0"/>
          </a:p>
        </p:txBody>
      </p:sp>
      <p:sp>
        <p:nvSpPr>
          <p:cNvPr id="4" name="Text 2"/>
          <p:cNvSpPr/>
          <p:nvPr/>
        </p:nvSpPr>
        <p:spPr>
          <a:xfrm>
            <a:off x="274320" y="658368"/>
            <a:ext cx="8229600" cy="1051560"/>
          </a:xfrm>
          <a:prstGeom prst="rect">
            <a:avLst/>
          </a:prstGeom>
          <a:noFill/>
          <a:ln/>
        </p:spPr>
        <p:txBody>
          <a:bodyPr wrap="square" rtlCol="0" anchor="ctr"/>
          <a:lstStyle/>
          <a:p>
            <a:pPr marL="0" indent="0">
              <a:buNone/>
            </a:pPr>
            <a:r>
              <a:rPr lang="en-US" sz="3000" i="1" dirty="0">
                <a:latin typeface="Georgia" pitchFamily="34" charset="0"/>
                <a:ea typeface="Georgia" pitchFamily="34" charset="-122"/>
                <a:cs typeface="Georgia" pitchFamily="34" charset="-120"/>
              </a:rPr>
              <a:t>The Zambezi does not</a:t>
            </a:r>
            <a:endParaRPr lang="en-US" sz="3000" dirty="0"/>
          </a:p>
          <a:p>
            <a:pPr marL="0" indent="0">
              <a:buNone/>
            </a:pPr>
            <a:r>
              <a:rPr lang="en-US" sz="3000" i="1" dirty="0">
                <a:latin typeface="Georgia" pitchFamily="34" charset="0"/>
                <a:ea typeface="Georgia" pitchFamily="34" charset="-122"/>
                <a:cs typeface="Georgia" pitchFamily="34" charset="-120"/>
              </a:rPr>
              <a:t>recognise borders.</a:t>
            </a:r>
            <a:endParaRPr lang="en-US" sz="3000" dirty="0"/>
          </a:p>
        </p:txBody>
      </p:sp>
      <p:sp>
        <p:nvSpPr>
          <p:cNvPr id="5" name="Shape 3"/>
          <p:cNvSpPr/>
          <p:nvPr/>
        </p:nvSpPr>
        <p:spPr>
          <a:xfrm>
            <a:off x="274320" y="1783080"/>
            <a:ext cx="3200400" cy="27432"/>
          </a:xfrm>
          <a:prstGeom prst="rect">
            <a:avLst/>
          </a:prstGeom>
          <a:solidFill>
            <a:srgbClr val="B8963E"/>
          </a:solidFill>
          <a:ln w="12700">
            <a:solidFill>
              <a:srgbClr val="B8963E"/>
            </a:solidFill>
            <a:prstDash val="solid"/>
          </a:ln>
        </p:spPr>
      </p:sp>
      <p:sp>
        <p:nvSpPr>
          <p:cNvPr id="6" name="Text 4"/>
          <p:cNvSpPr/>
          <p:nvPr/>
        </p:nvSpPr>
        <p:spPr>
          <a:xfrm>
            <a:off x="274320" y="1920240"/>
            <a:ext cx="5212080" cy="292608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It rises in the highlands of Zambia, swells through Zimbabwe, and pours itself into the channels of Botswana before continuing its ancient passage to the sea. It is one of the great rivers of the world, and the triangle it carves through southern Africa — the Victoria Falls Triangle — is where TWT All Africa One Journey was born.</a:t>
            </a:r>
            <a:endParaRPr lang="en-US" sz="1100" dirty="0"/>
          </a:p>
          <a:p>
            <a:pPr marL="0" indent="0">
              <a:buNone/>
            </a:pPr>
            <a:endParaRPr lang="en-US" sz="1100" dirty="0"/>
          </a:p>
          <a:p>
            <a:pPr marL="0" indent="0">
              <a:buNone/>
            </a:pPr>
            <a:r>
              <a:rPr lang="en-US" sz="1100" dirty="0">
                <a:latin typeface="Calibri" pitchFamily="34" charset="0"/>
                <a:ea typeface="Calibri" pitchFamily="34" charset="-122"/>
                <a:cs typeface="Calibri" pitchFamily="34" charset="-120"/>
              </a:rPr>
              <a:t>A TWT journey follows this river. It follows its logic, its rhythms, and its stories. It takes you from the thunder of the Falls to the stillness of the Hwange plains to the abundance of the Chobe waterways. Three countries in one seamless, private, unhurried journey.</a:t>
            </a:r>
            <a:endParaRPr lang="en-US" sz="1100" dirty="0"/>
          </a:p>
        </p:txBody>
      </p:sp>
      <p:sp>
        <p:nvSpPr>
          <p:cNvPr id="7" name="Shape 5"/>
          <p:cNvSpPr/>
          <p:nvPr/>
        </p:nvSpPr>
        <p:spPr>
          <a:xfrm>
            <a:off x="5852160" y="320040"/>
            <a:ext cx="3063240" cy="1389888"/>
          </a:xfrm>
          <a:prstGeom prst="rect">
            <a:avLst/>
          </a:prstGeom>
          <a:solidFill>
            <a:srgbClr val="181818"/>
          </a:solidFill>
          <a:ln w="12700">
            <a:solidFill>
              <a:srgbClr val="181818"/>
            </a:solidFill>
            <a:prstDash val="solid"/>
          </a:ln>
        </p:spPr>
      </p:sp>
      <p:sp>
        <p:nvSpPr>
          <p:cNvPr id="8" name="Shape 6"/>
          <p:cNvSpPr/>
          <p:nvPr/>
        </p:nvSpPr>
        <p:spPr>
          <a:xfrm>
            <a:off x="5852160" y="320040"/>
            <a:ext cx="54864" cy="1389888"/>
          </a:xfrm>
          <a:prstGeom prst="rect">
            <a:avLst/>
          </a:prstGeom>
          <a:solidFill>
            <a:srgbClr val="B8963E"/>
          </a:solidFill>
          <a:ln w="12700">
            <a:solidFill>
              <a:srgbClr val="B8963E"/>
            </a:solidFill>
            <a:prstDash val="solid"/>
          </a:ln>
        </p:spPr>
      </p:sp>
      <p:sp>
        <p:nvSpPr>
          <p:cNvPr id="9" name="Text 7"/>
          <p:cNvSpPr/>
          <p:nvPr/>
        </p:nvSpPr>
        <p:spPr>
          <a:xfrm>
            <a:off x="6016752" y="429768"/>
            <a:ext cx="2834640" cy="274320"/>
          </a:xfrm>
          <a:prstGeom prst="rect">
            <a:avLst/>
          </a:prstGeom>
          <a:noFill/>
          <a:ln/>
        </p:spPr>
        <p:txBody>
          <a:bodyPr wrap="square" rtlCol="0" anchor="ctr"/>
          <a:lstStyle/>
          <a:p>
            <a:pPr marL="0" indent="0">
              <a:buNone/>
            </a:pPr>
            <a:r>
              <a:rPr lang="en-US" sz="750" b="1" kern="0" spc="200" dirty="0">
                <a:solidFill>
                  <a:srgbClr val="B8963E"/>
                </a:solidFill>
                <a:latin typeface="Calibri" pitchFamily="34" charset="0"/>
                <a:ea typeface="Calibri" pitchFamily="34" charset="-122"/>
                <a:cs typeface="Calibri" pitchFamily="34" charset="-120"/>
              </a:rPr>
              <a:t>2–4 DAYS</a:t>
            </a:r>
            <a:endParaRPr lang="en-US" sz="750" dirty="0"/>
          </a:p>
        </p:txBody>
      </p:sp>
      <p:sp>
        <p:nvSpPr>
          <p:cNvPr id="10" name="Text 8"/>
          <p:cNvSpPr/>
          <p:nvPr/>
        </p:nvSpPr>
        <p:spPr>
          <a:xfrm>
            <a:off x="6016752" y="685800"/>
            <a:ext cx="2834640" cy="34747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Short Escapes</a:t>
            </a:r>
            <a:endParaRPr lang="en-US" sz="1300" dirty="0"/>
          </a:p>
        </p:txBody>
      </p:sp>
      <p:sp>
        <p:nvSpPr>
          <p:cNvPr id="11" name="Text 9"/>
          <p:cNvSpPr/>
          <p:nvPr/>
        </p:nvSpPr>
        <p:spPr>
          <a:xfrm>
            <a:off x="6016752" y="1051560"/>
            <a:ext cx="2834640" cy="59436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The Falls, the gorge, a Zambezi sunset, a Chobe morning. An introduction that will demand a return.</a:t>
            </a:r>
            <a:endParaRPr lang="en-US" sz="900" dirty="0"/>
          </a:p>
        </p:txBody>
      </p:sp>
      <p:sp>
        <p:nvSpPr>
          <p:cNvPr id="12" name="Shape 10"/>
          <p:cNvSpPr/>
          <p:nvPr/>
        </p:nvSpPr>
        <p:spPr>
          <a:xfrm>
            <a:off x="5852160" y="1892808"/>
            <a:ext cx="3063240" cy="1389888"/>
          </a:xfrm>
          <a:prstGeom prst="rect">
            <a:avLst/>
          </a:prstGeom>
          <a:solidFill>
            <a:srgbClr val="181818"/>
          </a:solidFill>
          <a:ln w="12700">
            <a:solidFill>
              <a:srgbClr val="181818"/>
            </a:solidFill>
            <a:prstDash val="solid"/>
          </a:ln>
        </p:spPr>
      </p:sp>
      <p:sp>
        <p:nvSpPr>
          <p:cNvPr id="13" name="Shape 11"/>
          <p:cNvSpPr/>
          <p:nvPr/>
        </p:nvSpPr>
        <p:spPr>
          <a:xfrm>
            <a:off x="5852160" y="1892808"/>
            <a:ext cx="54864" cy="1389888"/>
          </a:xfrm>
          <a:prstGeom prst="rect">
            <a:avLst/>
          </a:prstGeom>
          <a:solidFill>
            <a:srgbClr val="B8963E"/>
          </a:solidFill>
          <a:ln w="12700">
            <a:solidFill>
              <a:srgbClr val="B8963E"/>
            </a:solidFill>
            <a:prstDash val="solid"/>
          </a:ln>
        </p:spPr>
      </p:sp>
      <p:sp>
        <p:nvSpPr>
          <p:cNvPr id="14" name="Text 12"/>
          <p:cNvSpPr/>
          <p:nvPr/>
        </p:nvSpPr>
        <p:spPr>
          <a:xfrm>
            <a:off x="6016752" y="2002536"/>
            <a:ext cx="2834640" cy="274320"/>
          </a:xfrm>
          <a:prstGeom prst="rect">
            <a:avLst/>
          </a:prstGeom>
          <a:noFill/>
          <a:ln/>
        </p:spPr>
        <p:txBody>
          <a:bodyPr wrap="square" rtlCol="0" anchor="ctr"/>
          <a:lstStyle/>
          <a:p>
            <a:pPr marL="0" indent="0">
              <a:buNone/>
            </a:pPr>
            <a:r>
              <a:rPr lang="en-US" sz="750" b="1" kern="0" spc="200" dirty="0">
                <a:solidFill>
                  <a:srgbClr val="B8963E"/>
                </a:solidFill>
                <a:latin typeface="Calibri" pitchFamily="34" charset="0"/>
                <a:ea typeface="Calibri" pitchFamily="34" charset="-122"/>
                <a:cs typeface="Calibri" pitchFamily="34" charset="-120"/>
              </a:rPr>
              <a:t>5–7 DAYS</a:t>
            </a:r>
            <a:endParaRPr lang="en-US" sz="750" dirty="0"/>
          </a:p>
        </p:txBody>
      </p:sp>
      <p:sp>
        <p:nvSpPr>
          <p:cNvPr id="15" name="Text 13"/>
          <p:cNvSpPr/>
          <p:nvPr/>
        </p:nvSpPr>
        <p:spPr>
          <a:xfrm>
            <a:off x="6016752" y="2258568"/>
            <a:ext cx="2834640" cy="34747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Signature Journey</a:t>
            </a:r>
            <a:endParaRPr lang="en-US" sz="1300" dirty="0"/>
          </a:p>
        </p:txBody>
      </p:sp>
      <p:sp>
        <p:nvSpPr>
          <p:cNvPr id="16" name="Text 14"/>
          <p:cNvSpPr/>
          <p:nvPr/>
        </p:nvSpPr>
        <p:spPr>
          <a:xfrm>
            <a:off x="6016752" y="2624328"/>
            <a:ext cx="2834640" cy="59436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Victoria Falls. Livingstone Island. Chobe by boat. Hwange by game drive. The TWT journey in full.</a:t>
            </a:r>
            <a:endParaRPr lang="en-US" sz="900" dirty="0"/>
          </a:p>
        </p:txBody>
      </p:sp>
      <p:sp>
        <p:nvSpPr>
          <p:cNvPr id="17" name="Shape 15"/>
          <p:cNvSpPr/>
          <p:nvPr/>
        </p:nvSpPr>
        <p:spPr>
          <a:xfrm>
            <a:off x="5852160" y="3465576"/>
            <a:ext cx="3063240" cy="1389888"/>
          </a:xfrm>
          <a:prstGeom prst="rect">
            <a:avLst/>
          </a:prstGeom>
          <a:solidFill>
            <a:srgbClr val="181818"/>
          </a:solidFill>
          <a:ln w="12700">
            <a:solidFill>
              <a:srgbClr val="181818"/>
            </a:solidFill>
            <a:prstDash val="solid"/>
          </a:ln>
        </p:spPr>
      </p:sp>
      <p:sp>
        <p:nvSpPr>
          <p:cNvPr id="18" name="Shape 16"/>
          <p:cNvSpPr/>
          <p:nvPr/>
        </p:nvSpPr>
        <p:spPr>
          <a:xfrm>
            <a:off x="5852160" y="3465576"/>
            <a:ext cx="54864" cy="1389888"/>
          </a:xfrm>
          <a:prstGeom prst="rect">
            <a:avLst/>
          </a:prstGeom>
          <a:solidFill>
            <a:srgbClr val="B8963E"/>
          </a:solidFill>
          <a:ln w="12700">
            <a:solidFill>
              <a:srgbClr val="B8963E"/>
            </a:solidFill>
            <a:prstDash val="solid"/>
          </a:ln>
        </p:spPr>
      </p:sp>
      <p:sp>
        <p:nvSpPr>
          <p:cNvPr id="19" name="Text 17"/>
          <p:cNvSpPr/>
          <p:nvPr/>
        </p:nvSpPr>
        <p:spPr>
          <a:xfrm>
            <a:off x="6016752" y="3575304"/>
            <a:ext cx="2834640" cy="274320"/>
          </a:xfrm>
          <a:prstGeom prst="rect">
            <a:avLst/>
          </a:prstGeom>
          <a:noFill/>
          <a:ln/>
        </p:spPr>
        <p:txBody>
          <a:bodyPr wrap="square" rtlCol="0" anchor="ctr"/>
          <a:lstStyle/>
          <a:p>
            <a:pPr marL="0" indent="0">
              <a:buNone/>
            </a:pPr>
            <a:r>
              <a:rPr lang="en-US" sz="750" b="1" kern="0" spc="200" dirty="0">
                <a:solidFill>
                  <a:srgbClr val="B8963E"/>
                </a:solidFill>
                <a:latin typeface="Calibri" pitchFamily="34" charset="0"/>
                <a:ea typeface="Calibri" pitchFamily="34" charset="-122"/>
                <a:cs typeface="Calibri" pitchFamily="34" charset="-120"/>
              </a:rPr>
              <a:t>8–12 DAYS</a:t>
            </a:r>
            <a:endParaRPr lang="en-US" sz="750" dirty="0"/>
          </a:p>
        </p:txBody>
      </p:sp>
      <p:sp>
        <p:nvSpPr>
          <p:cNvPr id="20" name="Text 18"/>
          <p:cNvSpPr/>
          <p:nvPr/>
        </p:nvSpPr>
        <p:spPr>
          <a:xfrm>
            <a:off x="6016752" y="3831336"/>
            <a:ext cx="2834640" cy="34747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Extended Immersion</a:t>
            </a:r>
            <a:endParaRPr lang="en-US" sz="1300" dirty="0"/>
          </a:p>
        </p:txBody>
      </p:sp>
      <p:sp>
        <p:nvSpPr>
          <p:cNvPr id="21" name="Text 19"/>
          <p:cNvSpPr/>
          <p:nvPr/>
        </p:nvSpPr>
        <p:spPr>
          <a:xfrm>
            <a:off x="6016752" y="4197096"/>
            <a:ext cx="2834640" cy="59436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Go deeper. Walking safaris. Cultural visits. Village encounters. The stories told slowly and well.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365760" y="1463040"/>
            <a:ext cx="8412480" cy="1463040"/>
          </a:xfrm>
          <a:prstGeom prst="rect">
            <a:avLst/>
          </a:prstGeom>
          <a:noFill/>
          <a:ln/>
        </p:spPr>
        <p:txBody>
          <a:bodyPr wrap="square" rtlCol="0" anchor="ctr"/>
          <a:lstStyle/>
          <a:p>
            <a:pPr marL="0" indent="0" algn="l">
              <a:buNone/>
            </a:pPr>
            <a:r>
              <a:rPr lang="en-US" sz="5400" i="1" dirty="0">
                <a:latin typeface="Georgia" pitchFamily="34" charset="0"/>
                <a:ea typeface="Georgia" pitchFamily="34" charset="-122"/>
                <a:cs typeface="Georgia" pitchFamily="34" charset="-120"/>
              </a:rPr>
              <a:t>Destinations</a:t>
            </a:r>
            <a:endParaRPr lang="en-US" sz="5400" dirty="0"/>
          </a:p>
        </p:txBody>
      </p:sp>
      <p:sp>
        <p:nvSpPr>
          <p:cNvPr id="5" name="Shape 3"/>
          <p:cNvSpPr/>
          <p:nvPr/>
        </p:nvSpPr>
        <p:spPr>
          <a:xfrm>
            <a:off x="365760" y="3063240"/>
            <a:ext cx="3657600" cy="27432"/>
          </a:xfrm>
          <a:prstGeom prst="rect">
            <a:avLst/>
          </a:prstGeom>
          <a:solidFill>
            <a:srgbClr val="B8963E"/>
          </a:solidFill>
          <a:ln w="12700">
            <a:solidFill>
              <a:srgbClr val="B8963E"/>
            </a:solidFill>
            <a:prstDash val="solid"/>
          </a:ln>
        </p:spPr>
      </p:sp>
      <p:sp>
        <p:nvSpPr>
          <p:cNvPr id="6" name="Text 4"/>
          <p:cNvSpPr/>
          <p:nvPr/>
        </p:nvSpPr>
        <p:spPr>
          <a:xfrm>
            <a:off x="365760" y="3246120"/>
            <a:ext cx="8229600" cy="548640"/>
          </a:xfrm>
          <a:prstGeom prst="rect">
            <a:avLst/>
          </a:prstGeom>
          <a:noFill/>
          <a:ln/>
        </p:spPr>
        <p:txBody>
          <a:bodyPr wrap="square" rtlCol="0" anchor="ctr"/>
          <a:lstStyle/>
          <a:p>
            <a:pPr marL="0" indent="0" algn="l">
              <a:buNone/>
            </a:pPr>
            <a:r>
              <a:rPr lang="en-US" sz="1300" dirty="0">
                <a:solidFill>
                  <a:srgbClr val="AAAAAA"/>
                </a:solidFill>
                <a:latin typeface="Calibri" pitchFamily="34" charset="0"/>
                <a:ea typeface="Calibri" pitchFamily="34" charset="-122"/>
                <a:cs typeface="Calibri" pitchFamily="34" charset="-120"/>
              </a:rPr>
              <a:t>Victoria Falls · Livingstone · Chobe · Hwange</a:t>
            </a:r>
            <a:endParaRPr lang="en-US" sz="1300" dirty="0"/>
          </a:p>
        </p:txBody>
      </p:sp>
      <p:sp>
        <p:nvSpPr>
          <p:cNvPr id="8" name="TextBox 7">
            <a:extLst>
              <a:ext uri="{FF2B5EF4-FFF2-40B4-BE49-F238E27FC236}">
                <a16:creationId xmlns:a16="http://schemas.microsoft.com/office/drawing/2014/main" id="{AD30EB39-8C40-4ADA-C296-CD5268C063A1}"/>
              </a:ext>
            </a:extLst>
          </p:cNvPr>
          <p:cNvSpPr txBox="1"/>
          <p:nvPr/>
        </p:nvSpPr>
        <p:spPr>
          <a:xfrm>
            <a:off x="-1436511" y="4393720"/>
            <a:ext cx="457764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B8963E"/>
                </a:solidFill>
                <a:effectLst/>
                <a:uLnTx/>
                <a:uFillTx/>
                <a:latin typeface="Calibri" pitchFamily="34" charset="0"/>
                <a:ea typeface="Calibri" pitchFamily="34" charset="-122"/>
                <a:cs typeface="Calibri" pitchFamily="34" charset="-120"/>
              </a:rPr>
              <a:t>Explore More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38AFBC6-F30A-B472-0F65-C12E79621138}"/>
              </a:ext>
            </a:extLst>
          </p:cNvPr>
          <p:cNvSpPr txBox="1"/>
          <p:nvPr/>
        </p:nvSpPr>
        <p:spPr>
          <a:xfrm>
            <a:off x="-1436511" y="864080"/>
            <a:ext cx="5294488"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rPr>
              <a:t>HOME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Text 1"/>
          <p:cNvSpPr/>
          <p:nvPr/>
        </p:nvSpPr>
        <p:spPr>
          <a:xfrm>
            <a:off x="365760" y="182880"/>
            <a:ext cx="8412480" cy="347472"/>
          </a:xfrm>
          <a:prstGeom prst="rect">
            <a:avLst/>
          </a:prstGeom>
          <a:noFill/>
          <a:ln/>
        </p:spPr>
        <p:txBody>
          <a:bodyPr wrap="square" rtlCol="0" anchor="ctr"/>
          <a:lstStyle/>
          <a:p>
            <a:pPr marL="0" indent="0" algn="ctr">
              <a:buNone/>
            </a:pPr>
            <a:r>
              <a:rPr lang="en-US" sz="850" kern="0" spc="300" dirty="0">
                <a:solidFill>
                  <a:srgbClr val="B8963E"/>
                </a:solidFill>
                <a:latin typeface="Calibri" pitchFamily="34" charset="0"/>
                <a:ea typeface="Calibri" pitchFamily="34" charset="-122"/>
                <a:cs typeface="Calibri" pitchFamily="34" charset="-120"/>
              </a:rPr>
              <a:t>HOME DESTINATIONS  ·  OVERVIEW</a:t>
            </a:r>
            <a:endParaRPr lang="en-US" sz="850" dirty="0"/>
          </a:p>
        </p:txBody>
      </p:sp>
      <p:sp>
        <p:nvSpPr>
          <p:cNvPr id="4" name="Text 2"/>
          <p:cNvSpPr/>
          <p:nvPr/>
        </p:nvSpPr>
        <p:spPr>
          <a:xfrm>
            <a:off x="365760" y="566928"/>
            <a:ext cx="8412480" cy="594360"/>
          </a:xfrm>
          <a:prstGeom prst="rect">
            <a:avLst/>
          </a:prstGeom>
          <a:noFill/>
          <a:ln/>
        </p:spPr>
        <p:txBody>
          <a:bodyPr wrap="square" rtlCol="0" anchor="ctr"/>
          <a:lstStyle/>
          <a:p>
            <a:pPr marL="0" indent="0" algn="ctr">
              <a:buNone/>
            </a:pPr>
            <a:r>
              <a:rPr lang="en-US" sz="2600" i="1" dirty="0">
                <a:solidFill>
                  <a:srgbClr val="0D0D0D"/>
                </a:solidFill>
                <a:latin typeface="Georgia" pitchFamily="34" charset="0"/>
                <a:ea typeface="Georgia" pitchFamily="34" charset="-122"/>
                <a:cs typeface="Georgia" pitchFamily="34" charset="-120"/>
              </a:rPr>
              <a:t>The Victoria Falls Triangle</a:t>
            </a:r>
            <a:endParaRPr lang="en-US" sz="2600" dirty="0"/>
          </a:p>
        </p:txBody>
      </p:sp>
      <p:sp>
        <p:nvSpPr>
          <p:cNvPr id="5" name="Shape 3"/>
          <p:cNvSpPr/>
          <p:nvPr/>
        </p:nvSpPr>
        <p:spPr>
          <a:xfrm>
            <a:off x="274320" y="1371600"/>
            <a:ext cx="4160520" cy="54864"/>
          </a:xfrm>
          <a:prstGeom prst="rect">
            <a:avLst/>
          </a:prstGeom>
          <a:solidFill>
            <a:srgbClr val="B8963E"/>
          </a:solidFill>
          <a:ln w="12700">
            <a:solidFill>
              <a:srgbClr val="B8963E"/>
            </a:solidFill>
            <a:prstDash val="solid"/>
          </a:ln>
        </p:spPr>
      </p:sp>
      <p:sp>
        <p:nvSpPr>
          <p:cNvPr id="6" name="Shape 4"/>
          <p:cNvSpPr/>
          <p:nvPr/>
        </p:nvSpPr>
        <p:spPr>
          <a:xfrm>
            <a:off x="274320" y="1371600"/>
            <a:ext cx="50292" cy="1691640"/>
          </a:xfrm>
          <a:prstGeom prst="rect">
            <a:avLst/>
          </a:prstGeom>
          <a:solidFill>
            <a:srgbClr val="B8963E"/>
          </a:solidFill>
          <a:ln w="12700">
            <a:solidFill>
              <a:srgbClr val="B8963E"/>
            </a:solidFill>
            <a:prstDash val="solid"/>
          </a:ln>
        </p:spPr>
      </p:sp>
      <p:sp>
        <p:nvSpPr>
          <p:cNvPr id="7" name="Text 5"/>
          <p:cNvSpPr/>
          <p:nvPr/>
        </p:nvSpPr>
        <p:spPr>
          <a:xfrm>
            <a:off x="438912" y="1463040"/>
            <a:ext cx="3840480" cy="347472"/>
          </a:xfrm>
          <a:prstGeom prst="rect">
            <a:avLst/>
          </a:prstGeom>
          <a:noFill/>
          <a:ln/>
        </p:spPr>
        <p:txBody>
          <a:bodyPr wrap="square" rtlCol="0" anchor="ctr"/>
          <a:lstStyle/>
          <a:p>
            <a:pPr marL="0" indent="0">
              <a:buNone/>
            </a:pPr>
            <a:r>
              <a:rPr lang="en-US" sz="1300" kern="0" spc="100" dirty="0">
                <a:solidFill>
                  <a:srgbClr val="0D0D0D"/>
                </a:solidFill>
                <a:latin typeface="Georgia" pitchFamily="34" charset="0"/>
                <a:ea typeface="Georgia" pitchFamily="34" charset="-122"/>
                <a:cs typeface="Georgia" pitchFamily="34" charset="-120"/>
              </a:rPr>
              <a:t>VICTORIA FALLS</a:t>
            </a:r>
            <a:endParaRPr lang="en-US" sz="1300" dirty="0"/>
          </a:p>
        </p:txBody>
      </p:sp>
      <p:sp>
        <p:nvSpPr>
          <p:cNvPr id="8" name="Text 6"/>
          <p:cNvSpPr/>
          <p:nvPr/>
        </p:nvSpPr>
        <p:spPr>
          <a:xfrm>
            <a:off x="438912" y="1792224"/>
            <a:ext cx="3840480" cy="256032"/>
          </a:xfrm>
          <a:prstGeom prst="rect">
            <a:avLst/>
          </a:prstGeom>
          <a:noFill/>
          <a:ln/>
        </p:spPr>
        <p:txBody>
          <a:bodyPr wrap="square" rtlCol="0" anchor="ctr"/>
          <a:lstStyle/>
          <a:p>
            <a:pPr marL="0" indent="0">
              <a:buNone/>
            </a:pPr>
            <a:r>
              <a:rPr lang="en-US" sz="800" kern="0" spc="200" dirty="0">
                <a:solidFill>
                  <a:srgbClr val="B8963E"/>
                </a:solidFill>
                <a:latin typeface="Calibri" pitchFamily="34" charset="0"/>
                <a:ea typeface="Calibri" pitchFamily="34" charset="-122"/>
                <a:cs typeface="Calibri" pitchFamily="34" charset="-120"/>
              </a:rPr>
              <a:t>ZIMBABWE</a:t>
            </a:r>
            <a:endParaRPr lang="en-US" sz="800" dirty="0"/>
          </a:p>
        </p:txBody>
      </p:sp>
      <p:sp>
        <p:nvSpPr>
          <p:cNvPr id="9" name="Text 7"/>
          <p:cNvSpPr/>
          <p:nvPr/>
        </p:nvSpPr>
        <p:spPr>
          <a:xfrm>
            <a:off x="438912" y="2029968"/>
            <a:ext cx="3840480" cy="960120"/>
          </a:xfrm>
          <a:prstGeom prst="rect">
            <a:avLst/>
          </a:prstGeom>
          <a:noFill/>
          <a:ln/>
        </p:spPr>
        <p:txBody>
          <a:bodyPr wrap="square" rtlCol="0" anchor="ctr"/>
          <a:lstStyle/>
          <a:p>
            <a:pPr marL="0" indent="0">
              <a:buNone/>
            </a:pPr>
            <a:r>
              <a:rPr lang="en-US" sz="1000" dirty="0">
                <a:solidFill>
                  <a:srgbClr val="5A5A5A"/>
                </a:solidFill>
                <a:latin typeface="Calibri" pitchFamily="34" charset="0"/>
                <a:ea typeface="Calibri" pitchFamily="34" charset="-122"/>
                <a:cs typeface="Calibri" pitchFamily="34" charset="-120"/>
              </a:rPr>
              <a:t>The heartbeat of the journey. 1,708m wide. 108m tall. Mosi-oa-Tunya — the smoke that thunders. Where every TWT journey begins.</a:t>
            </a:r>
            <a:endParaRPr lang="en-US" sz="1000" dirty="0"/>
          </a:p>
        </p:txBody>
      </p:sp>
      <p:sp>
        <p:nvSpPr>
          <p:cNvPr id="10" name="Shape 8"/>
          <p:cNvSpPr/>
          <p:nvPr/>
        </p:nvSpPr>
        <p:spPr>
          <a:xfrm>
            <a:off x="4754880" y="1371600"/>
            <a:ext cx="4160520" cy="54864"/>
          </a:xfrm>
          <a:prstGeom prst="rect">
            <a:avLst/>
          </a:prstGeom>
          <a:solidFill>
            <a:srgbClr val="B8963E"/>
          </a:solidFill>
          <a:ln w="12700">
            <a:solidFill>
              <a:srgbClr val="B8963E"/>
            </a:solidFill>
            <a:prstDash val="solid"/>
          </a:ln>
        </p:spPr>
      </p:sp>
      <p:sp>
        <p:nvSpPr>
          <p:cNvPr id="11" name="Shape 9"/>
          <p:cNvSpPr/>
          <p:nvPr/>
        </p:nvSpPr>
        <p:spPr>
          <a:xfrm>
            <a:off x="4754880" y="1371600"/>
            <a:ext cx="50292" cy="1691640"/>
          </a:xfrm>
          <a:prstGeom prst="rect">
            <a:avLst/>
          </a:prstGeom>
          <a:solidFill>
            <a:srgbClr val="B8963E"/>
          </a:solidFill>
          <a:ln w="12700">
            <a:solidFill>
              <a:srgbClr val="B8963E"/>
            </a:solidFill>
            <a:prstDash val="solid"/>
          </a:ln>
        </p:spPr>
      </p:sp>
      <p:sp>
        <p:nvSpPr>
          <p:cNvPr id="12" name="Text 10"/>
          <p:cNvSpPr/>
          <p:nvPr/>
        </p:nvSpPr>
        <p:spPr>
          <a:xfrm>
            <a:off x="4919472" y="1463040"/>
            <a:ext cx="3840480" cy="347472"/>
          </a:xfrm>
          <a:prstGeom prst="rect">
            <a:avLst/>
          </a:prstGeom>
          <a:noFill/>
          <a:ln/>
        </p:spPr>
        <p:txBody>
          <a:bodyPr wrap="square" rtlCol="0" anchor="ctr"/>
          <a:lstStyle/>
          <a:p>
            <a:pPr marL="0" indent="0">
              <a:buNone/>
            </a:pPr>
            <a:r>
              <a:rPr lang="en-US" sz="1300" kern="0" spc="100" dirty="0">
                <a:solidFill>
                  <a:srgbClr val="0D0D0D"/>
                </a:solidFill>
                <a:latin typeface="Georgia" pitchFamily="34" charset="0"/>
                <a:ea typeface="Georgia" pitchFamily="34" charset="-122"/>
                <a:cs typeface="Georgia" pitchFamily="34" charset="-120"/>
              </a:rPr>
              <a:t>LIVINGSTONE</a:t>
            </a:r>
            <a:endParaRPr lang="en-US" sz="1300" dirty="0"/>
          </a:p>
        </p:txBody>
      </p:sp>
      <p:sp>
        <p:nvSpPr>
          <p:cNvPr id="13" name="Text 11"/>
          <p:cNvSpPr/>
          <p:nvPr/>
        </p:nvSpPr>
        <p:spPr>
          <a:xfrm>
            <a:off x="4919472" y="1792224"/>
            <a:ext cx="3840480" cy="256032"/>
          </a:xfrm>
          <a:prstGeom prst="rect">
            <a:avLst/>
          </a:prstGeom>
          <a:noFill/>
          <a:ln/>
        </p:spPr>
        <p:txBody>
          <a:bodyPr wrap="square" rtlCol="0" anchor="ctr"/>
          <a:lstStyle/>
          <a:p>
            <a:pPr marL="0" indent="0">
              <a:buNone/>
            </a:pPr>
            <a:r>
              <a:rPr lang="en-US" sz="800" kern="0" spc="200" dirty="0">
                <a:solidFill>
                  <a:srgbClr val="B8963E"/>
                </a:solidFill>
                <a:latin typeface="Calibri" pitchFamily="34" charset="0"/>
                <a:ea typeface="Calibri" pitchFamily="34" charset="-122"/>
                <a:cs typeface="Calibri" pitchFamily="34" charset="-120"/>
              </a:rPr>
              <a:t>ZAMBIA</a:t>
            </a:r>
            <a:endParaRPr lang="en-US" sz="800" dirty="0"/>
          </a:p>
        </p:txBody>
      </p:sp>
      <p:sp>
        <p:nvSpPr>
          <p:cNvPr id="14" name="Text 12"/>
          <p:cNvSpPr/>
          <p:nvPr/>
        </p:nvSpPr>
        <p:spPr>
          <a:xfrm>
            <a:off x="4919472" y="2029968"/>
            <a:ext cx="3840480" cy="960120"/>
          </a:xfrm>
          <a:prstGeom prst="rect">
            <a:avLst/>
          </a:prstGeom>
          <a:noFill/>
          <a:ln/>
        </p:spPr>
        <p:txBody>
          <a:bodyPr wrap="square" rtlCol="0" anchor="ctr"/>
          <a:lstStyle/>
          <a:p>
            <a:pPr marL="0" indent="0">
              <a:buNone/>
            </a:pPr>
            <a:r>
              <a:rPr lang="en-US" sz="1000">
                <a:solidFill>
                  <a:srgbClr val="5A5A5A"/>
                </a:solidFill>
                <a:latin typeface="Calibri" pitchFamily="34" charset="0"/>
                <a:ea typeface="Calibri" pitchFamily="34" charset="-122"/>
                <a:cs typeface="Calibri" pitchFamily="34" charset="-120"/>
              </a:rPr>
              <a:t>Cross the bridge. The Falls on the Zambian side — quieter, more intimate. Livingstone Island: one of the most singular experiences in Africa.</a:t>
            </a:r>
            <a:endParaRPr lang="en-US" sz="1000" dirty="0"/>
          </a:p>
        </p:txBody>
      </p:sp>
      <p:sp>
        <p:nvSpPr>
          <p:cNvPr id="15" name="Shape 13"/>
          <p:cNvSpPr/>
          <p:nvPr/>
        </p:nvSpPr>
        <p:spPr>
          <a:xfrm>
            <a:off x="274320" y="3200400"/>
            <a:ext cx="4160520" cy="54864"/>
          </a:xfrm>
          <a:prstGeom prst="rect">
            <a:avLst/>
          </a:prstGeom>
          <a:solidFill>
            <a:srgbClr val="B8963E"/>
          </a:solidFill>
          <a:ln w="12700">
            <a:solidFill>
              <a:srgbClr val="B8963E"/>
            </a:solidFill>
            <a:prstDash val="solid"/>
          </a:ln>
        </p:spPr>
      </p:sp>
      <p:sp>
        <p:nvSpPr>
          <p:cNvPr id="16" name="Shape 14"/>
          <p:cNvSpPr/>
          <p:nvPr/>
        </p:nvSpPr>
        <p:spPr>
          <a:xfrm>
            <a:off x="274320" y="3200400"/>
            <a:ext cx="50292" cy="1691640"/>
          </a:xfrm>
          <a:prstGeom prst="rect">
            <a:avLst/>
          </a:prstGeom>
          <a:solidFill>
            <a:srgbClr val="B8963E"/>
          </a:solidFill>
          <a:ln w="12700">
            <a:solidFill>
              <a:srgbClr val="B8963E"/>
            </a:solidFill>
            <a:prstDash val="solid"/>
          </a:ln>
        </p:spPr>
      </p:sp>
      <p:sp>
        <p:nvSpPr>
          <p:cNvPr id="17" name="Text 15"/>
          <p:cNvSpPr/>
          <p:nvPr/>
        </p:nvSpPr>
        <p:spPr>
          <a:xfrm>
            <a:off x="438912" y="3291840"/>
            <a:ext cx="3840480" cy="347472"/>
          </a:xfrm>
          <a:prstGeom prst="rect">
            <a:avLst/>
          </a:prstGeom>
          <a:noFill/>
          <a:ln/>
        </p:spPr>
        <p:txBody>
          <a:bodyPr wrap="square" rtlCol="0" anchor="ctr"/>
          <a:lstStyle/>
          <a:p>
            <a:pPr marL="0" indent="0">
              <a:buNone/>
            </a:pPr>
            <a:r>
              <a:rPr lang="en-US" sz="1300" kern="0" spc="100" dirty="0">
                <a:solidFill>
                  <a:srgbClr val="0D0D0D"/>
                </a:solidFill>
                <a:latin typeface="Georgia" pitchFamily="34" charset="0"/>
                <a:ea typeface="Georgia" pitchFamily="34" charset="-122"/>
                <a:cs typeface="Georgia" pitchFamily="34" charset="-120"/>
              </a:rPr>
              <a:t>CHOBE</a:t>
            </a:r>
            <a:endParaRPr lang="en-US" sz="1300" dirty="0"/>
          </a:p>
        </p:txBody>
      </p:sp>
      <p:sp>
        <p:nvSpPr>
          <p:cNvPr id="18" name="Text 16"/>
          <p:cNvSpPr/>
          <p:nvPr/>
        </p:nvSpPr>
        <p:spPr>
          <a:xfrm>
            <a:off x="438912" y="3621024"/>
            <a:ext cx="3840480" cy="256032"/>
          </a:xfrm>
          <a:prstGeom prst="rect">
            <a:avLst/>
          </a:prstGeom>
          <a:noFill/>
          <a:ln/>
        </p:spPr>
        <p:txBody>
          <a:bodyPr wrap="square" rtlCol="0" anchor="ctr"/>
          <a:lstStyle/>
          <a:p>
            <a:pPr marL="0" indent="0">
              <a:buNone/>
            </a:pPr>
            <a:r>
              <a:rPr lang="en-US" sz="800" kern="0" spc="200" dirty="0">
                <a:solidFill>
                  <a:srgbClr val="B8963E"/>
                </a:solidFill>
                <a:latin typeface="Calibri" pitchFamily="34" charset="0"/>
                <a:ea typeface="Calibri" pitchFamily="34" charset="-122"/>
                <a:cs typeface="Calibri" pitchFamily="34" charset="-120"/>
              </a:rPr>
              <a:t>BOTSWANA</a:t>
            </a:r>
            <a:endParaRPr lang="en-US" sz="800" dirty="0"/>
          </a:p>
        </p:txBody>
      </p:sp>
      <p:sp>
        <p:nvSpPr>
          <p:cNvPr id="19" name="Text 17"/>
          <p:cNvSpPr/>
          <p:nvPr/>
        </p:nvSpPr>
        <p:spPr>
          <a:xfrm>
            <a:off x="438912" y="3858768"/>
            <a:ext cx="3840480" cy="960120"/>
          </a:xfrm>
          <a:prstGeom prst="rect">
            <a:avLst/>
          </a:prstGeom>
          <a:noFill/>
          <a:ln/>
        </p:spPr>
        <p:txBody>
          <a:bodyPr wrap="square" rtlCol="0" anchor="ctr"/>
          <a:lstStyle/>
          <a:p>
            <a:pPr marL="0" indent="0">
              <a:buNone/>
            </a:pPr>
            <a:r>
              <a:rPr lang="en-US" sz="1000" dirty="0">
                <a:solidFill>
                  <a:srgbClr val="5A5A5A"/>
                </a:solidFill>
                <a:latin typeface="Calibri" pitchFamily="34" charset="0"/>
                <a:ea typeface="Calibri" pitchFamily="34" charset="-122"/>
                <a:cs typeface="Calibri" pitchFamily="34" charset="-120"/>
              </a:rPr>
              <a:t>One hour from Victoria Falls. One of the greatest concentrations of wildlife in Africa. Buffalo, elephant, hippo. The light at dusk turns everything amber.</a:t>
            </a:r>
            <a:endParaRPr lang="en-US" sz="1000" dirty="0"/>
          </a:p>
        </p:txBody>
      </p:sp>
      <p:sp>
        <p:nvSpPr>
          <p:cNvPr id="20" name="Shape 18"/>
          <p:cNvSpPr/>
          <p:nvPr/>
        </p:nvSpPr>
        <p:spPr>
          <a:xfrm>
            <a:off x="4754880" y="3200400"/>
            <a:ext cx="4160520" cy="54864"/>
          </a:xfrm>
          <a:prstGeom prst="rect">
            <a:avLst/>
          </a:prstGeom>
          <a:solidFill>
            <a:srgbClr val="B8963E"/>
          </a:solidFill>
          <a:ln w="12700">
            <a:solidFill>
              <a:srgbClr val="B8963E"/>
            </a:solidFill>
            <a:prstDash val="solid"/>
          </a:ln>
        </p:spPr>
      </p:sp>
      <p:sp>
        <p:nvSpPr>
          <p:cNvPr id="21" name="Shape 19"/>
          <p:cNvSpPr/>
          <p:nvPr/>
        </p:nvSpPr>
        <p:spPr>
          <a:xfrm>
            <a:off x="4754880" y="3200400"/>
            <a:ext cx="50292" cy="1691640"/>
          </a:xfrm>
          <a:prstGeom prst="rect">
            <a:avLst/>
          </a:prstGeom>
          <a:solidFill>
            <a:srgbClr val="B8963E"/>
          </a:solidFill>
          <a:ln w="12700">
            <a:solidFill>
              <a:srgbClr val="B8963E"/>
            </a:solidFill>
            <a:prstDash val="solid"/>
          </a:ln>
        </p:spPr>
      </p:sp>
      <p:sp>
        <p:nvSpPr>
          <p:cNvPr id="22" name="Text 20"/>
          <p:cNvSpPr/>
          <p:nvPr/>
        </p:nvSpPr>
        <p:spPr>
          <a:xfrm>
            <a:off x="4919472" y="3291840"/>
            <a:ext cx="3840480" cy="347472"/>
          </a:xfrm>
          <a:prstGeom prst="rect">
            <a:avLst/>
          </a:prstGeom>
          <a:noFill/>
          <a:ln/>
        </p:spPr>
        <p:txBody>
          <a:bodyPr wrap="square" rtlCol="0" anchor="ctr"/>
          <a:lstStyle/>
          <a:p>
            <a:pPr marL="0" indent="0">
              <a:buNone/>
            </a:pPr>
            <a:r>
              <a:rPr lang="en-US" sz="1300" kern="0" spc="100" dirty="0">
                <a:solidFill>
                  <a:srgbClr val="0D0D0D"/>
                </a:solidFill>
                <a:latin typeface="Georgia" pitchFamily="34" charset="0"/>
                <a:ea typeface="Georgia" pitchFamily="34" charset="-122"/>
                <a:cs typeface="Georgia" pitchFamily="34" charset="-120"/>
              </a:rPr>
              <a:t>HWANGE</a:t>
            </a:r>
            <a:endParaRPr lang="en-US" sz="1300" dirty="0"/>
          </a:p>
        </p:txBody>
      </p:sp>
      <p:sp>
        <p:nvSpPr>
          <p:cNvPr id="23" name="Text 21"/>
          <p:cNvSpPr/>
          <p:nvPr/>
        </p:nvSpPr>
        <p:spPr>
          <a:xfrm>
            <a:off x="4919472" y="3621024"/>
            <a:ext cx="3840480" cy="256032"/>
          </a:xfrm>
          <a:prstGeom prst="rect">
            <a:avLst/>
          </a:prstGeom>
          <a:noFill/>
          <a:ln/>
        </p:spPr>
        <p:txBody>
          <a:bodyPr wrap="square" rtlCol="0" anchor="ctr"/>
          <a:lstStyle/>
          <a:p>
            <a:pPr marL="0" indent="0">
              <a:buNone/>
            </a:pPr>
            <a:r>
              <a:rPr lang="en-US" sz="800" kern="0" spc="200" dirty="0">
                <a:solidFill>
                  <a:srgbClr val="B8963E"/>
                </a:solidFill>
                <a:latin typeface="Calibri" pitchFamily="34" charset="0"/>
                <a:ea typeface="Calibri" pitchFamily="34" charset="-122"/>
                <a:cs typeface="Calibri" pitchFamily="34" charset="-120"/>
              </a:rPr>
              <a:t>ZIMBABWE</a:t>
            </a:r>
            <a:endParaRPr lang="en-US" sz="800" dirty="0"/>
          </a:p>
        </p:txBody>
      </p:sp>
      <p:sp>
        <p:nvSpPr>
          <p:cNvPr id="24" name="Text 22"/>
          <p:cNvSpPr/>
          <p:nvPr/>
        </p:nvSpPr>
        <p:spPr>
          <a:xfrm>
            <a:off x="4919472" y="3858768"/>
            <a:ext cx="3840480" cy="960120"/>
          </a:xfrm>
          <a:prstGeom prst="rect">
            <a:avLst/>
          </a:prstGeom>
          <a:noFill/>
          <a:ln/>
        </p:spPr>
        <p:txBody>
          <a:bodyPr wrap="square" rtlCol="0" anchor="ctr"/>
          <a:lstStyle/>
          <a:p>
            <a:pPr marL="0" indent="0">
              <a:buNone/>
            </a:pPr>
            <a:r>
              <a:rPr lang="en-US" sz="1000" dirty="0">
                <a:solidFill>
                  <a:srgbClr val="5A5A5A"/>
                </a:solidFill>
                <a:latin typeface="Calibri" pitchFamily="34" charset="0"/>
                <a:ea typeface="Calibri" pitchFamily="34" charset="-122"/>
                <a:cs typeface="Calibri" pitchFamily="34" charset="-120"/>
              </a:rPr>
              <a:t>14,000 sq km. Forty thousand elephants. Lion. Leopard. Wild dog. Vast, ancient, indifferent in the way only true wilderness can be.</a:t>
            </a:r>
            <a:endParaRPr lang="en-US" sz="1000" dirty="0"/>
          </a:p>
        </p:txBody>
      </p:sp>
      <p:sp>
        <p:nvSpPr>
          <p:cNvPr id="26" name="TextBox 25">
            <a:extLst>
              <a:ext uri="{FF2B5EF4-FFF2-40B4-BE49-F238E27FC236}">
                <a16:creationId xmlns:a16="http://schemas.microsoft.com/office/drawing/2014/main" id="{CFC34E2E-3225-BF09-C625-37F195DD399E}"/>
              </a:ext>
            </a:extLst>
          </p:cNvPr>
          <p:cNvSpPr txBox="1"/>
          <p:nvPr/>
        </p:nvSpPr>
        <p:spPr>
          <a:xfrm>
            <a:off x="-1301045" y="2776771"/>
            <a:ext cx="457764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B8963E"/>
                </a:solidFill>
                <a:effectLst/>
                <a:uLnTx/>
                <a:uFillTx/>
                <a:latin typeface="Calibri" pitchFamily="34" charset="0"/>
                <a:ea typeface="Calibri" pitchFamily="34" charset="-122"/>
                <a:cs typeface="Calibri" pitchFamily="34" charset="-120"/>
              </a:rPr>
              <a:t>Explore More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A3D371AD-648D-3C66-31A6-C71A97E2E3BC}"/>
              </a:ext>
            </a:extLst>
          </p:cNvPr>
          <p:cNvSpPr txBox="1"/>
          <p:nvPr/>
        </p:nvSpPr>
        <p:spPr>
          <a:xfrm>
            <a:off x="2887697" y="4652455"/>
            <a:ext cx="522675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B8963E"/>
                </a:solidFill>
                <a:effectLst/>
                <a:uLnTx/>
                <a:uFillTx/>
                <a:latin typeface="Calibri" pitchFamily="34" charset="0"/>
                <a:ea typeface="Calibri" pitchFamily="34" charset="-122"/>
                <a:cs typeface="Calibri" pitchFamily="34" charset="-120"/>
              </a:rPr>
              <a:t>Explore More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BC118810-DA09-CC6E-E7CF-5539DF290B3A}"/>
              </a:ext>
            </a:extLst>
          </p:cNvPr>
          <p:cNvSpPr txBox="1"/>
          <p:nvPr/>
        </p:nvSpPr>
        <p:spPr>
          <a:xfrm>
            <a:off x="-1710266" y="4684219"/>
            <a:ext cx="522675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B8963E"/>
                </a:solidFill>
                <a:effectLst/>
                <a:uLnTx/>
                <a:uFillTx/>
                <a:latin typeface="Calibri" pitchFamily="34" charset="0"/>
                <a:ea typeface="Calibri" pitchFamily="34" charset="-122"/>
                <a:cs typeface="Calibri" pitchFamily="34" charset="-120"/>
              </a:rPr>
              <a:t>Explore More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5D45584C-27D8-965E-FB6E-55A1ED0171BD}"/>
              </a:ext>
            </a:extLst>
          </p:cNvPr>
          <p:cNvSpPr txBox="1"/>
          <p:nvPr/>
        </p:nvSpPr>
        <p:spPr>
          <a:xfrm>
            <a:off x="2776756" y="2855984"/>
            <a:ext cx="542995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B8963E"/>
                </a:solidFill>
                <a:effectLst/>
                <a:uLnTx/>
                <a:uFillTx/>
                <a:latin typeface="Calibri" pitchFamily="34" charset="0"/>
                <a:ea typeface="Calibri" pitchFamily="34" charset="-122"/>
                <a:cs typeface="Calibri" pitchFamily="34" charset="-120"/>
              </a:rPr>
              <a:t>Explore More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2F46C6-DEDB-6D98-12E1-4F1F8C47BD8B}"/>
              </a:ext>
            </a:extLst>
          </p:cNvPr>
          <p:cNvPicPr>
            <a:picLocks noChangeAspect="1"/>
          </p:cNvPicPr>
          <p:nvPr/>
        </p:nvPicPr>
        <p:blipFill>
          <a:blip r:embed="rId2"/>
          <a:stretch>
            <a:fillRect/>
          </a:stretch>
        </p:blipFill>
        <p:spPr>
          <a:xfrm>
            <a:off x="548640" y="0"/>
            <a:ext cx="7258049" cy="5143500"/>
          </a:xfrm>
          <a:prstGeom prst="rect">
            <a:avLst/>
          </a:prstGeom>
        </p:spPr>
      </p:pic>
    </p:spTree>
    <p:extLst>
      <p:ext uri="{BB962C8B-B14F-4D97-AF65-F5344CB8AC3E}">
        <p14:creationId xmlns:p14="http://schemas.microsoft.com/office/powerpoint/2010/main" val="966196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Text 1"/>
          <p:cNvSpPr/>
          <p:nvPr/>
        </p:nvSpPr>
        <p:spPr>
          <a:xfrm>
            <a:off x="274320" y="256032"/>
            <a:ext cx="859536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DESTINATIONS  ·  VICTORIA FALLS, ZIMBABWE</a:t>
            </a:r>
            <a:endParaRPr lang="en-US" sz="800" dirty="0"/>
          </a:p>
        </p:txBody>
      </p:sp>
      <p:sp>
        <p:nvSpPr>
          <p:cNvPr id="4" name="Text 2"/>
          <p:cNvSpPr/>
          <p:nvPr/>
        </p:nvSpPr>
        <p:spPr>
          <a:xfrm>
            <a:off x="274320" y="640080"/>
            <a:ext cx="5486400" cy="914400"/>
          </a:xfrm>
          <a:prstGeom prst="rect">
            <a:avLst/>
          </a:prstGeom>
          <a:noFill/>
          <a:ln/>
        </p:spPr>
        <p:txBody>
          <a:bodyPr wrap="square" rtlCol="0" anchor="ctr"/>
          <a:lstStyle/>
          <a:p>
            <a:pPr marL="0" indent="0" algn="l">
              <a:buNone/>
            </a:pPr>
            <a:r>
              <a:rPr lang="en-US" sz="3000" i="1" dirty="0">
                <a:latin typeface="Georgia" pitchFamily="34" charset="0"/>
                <a:ea typeface="Georgia" pitchFamily="34" charset="-122"/>
                <a:cs typeface="Georgia" pitchFamily="34" charset="-120"/>
              </a:rPr>
              <a:t>Victoria Falls,</a:t>
            </a:r>
            <a:endParaRPr lang="en-US" sz="3000" dirty="0"/>
          </a:p>
          <a:p>
            <a:pPr marL="0" indent="0" algn="l">
              <a:buNone/>
            </a:pPr>
            <a:r>
              <a:rPr lang="en-US" sz="3000" i="1" dirty="0">
                <a:latin typeface="Georgia" pitchFamily="34" charset="0"/>
                <a:ea typeface="Georgia" pitchFamily="34" charset="-122"/>
                <a:cs typeface="Georgia" pitchFamily="34" charset="-120"/>
              </a:rPr>
              <a:t>Zimbabwe</a:t>
            </a:r>
            <a:endParaRPr lang="en-US" sz="3000" dirty="0"/>
          </a:p>
        </p:txBody>
      </p:sp>
      <p:sp>
        <p:nvSpPr>
          <p:cNvPr id="5" name="Shape 3"/>
          <p:cNvSpPr/>
          <p:nvPr/>
        </p:nvSpPr>
        <p:spPr>
          <a:xfrm>
            <a:off x="274320" y="1627632"/>
            <a:ext cx="3200400" cy="27432"/>
          </a:xfrm>
          <a:prstGeom prst="rect">
            <a:avLst/>
          </a:prstGeom>
          <a:solidFill>
            <a:srgbClr val="B8963E"/>
          </a:solidFill>
          <a:ln w="12700">
            <a:solidFill>
              <a:srgbClr val="B8963E"/>
            </a:solidFill>
            <a:prstDash val="solid"/>
          </a:ln>
        </p:spPr>
      </p:sp>
      <p:sp>
        <p:nvSpPr>
          <p:cNvPr id="6" name="Text 4"/>
          <p:cNvSpPr/>
          <p:nvPr/>
        </p:nvSpPr>
        <p:spPr>
          <a:xfrm>
            <a:off x="274320" y="1783080"/>
            <a:ext cx="5303520" cy="3063240"/>
          </a:xfrm>
          <a:prstGeom prst="rect">
            <a:avLst/>
          </a:prstGeom>
          <a:noFill/>
          <a:ln/>
        </p:spPr>
        <p:txBody>
          <a:bodyPr wrap="square" rtlCol="0" anchor="ctr"/>
          <a:lstStyle/>
          <a:p>
            <a:pPr marL="0" indent="0" algn="l">
              <a:buNone/>
            </a:pPr>
            <a:r>
              <a:rPr lang="en-US" sz="1100" dirty="0">
                <a:latin typeface="Calibri" pitchFamily="34" charset="0"/>
                <a:ea typeface="Calibri" pitchFamily="34" charset="-122"/>
                <a:cs typeface="Calibri" pitchFamily="34" charset="-120"/>
              </a:rPr>
              <a:t>Every journey begins here.</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The local name is Mosi-oa-Tunya. The smoke that thunders. When the Zambezi reaches the Falls at full flow, the spray rises three hundred metres and can be seen thirty kilometres away. The sound arrives before the sight. The mist soaks you before you reach the viewpoint.</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David Livingstone called it the most wonderful sight he had witnessed in Africa. He was not exaggerating.</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Victoria Falls is the heartbeat of this journey — wild, magnificent, and completely humbling. But it is more than the waterfall. It is the gorges carved over five million years. It is the rainforest that the spray sustains. It is the town built at the edge of wonder, where the energy is electric and the sunsets over the Zambezi are long and golden and quietly devastating.</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This is where your journey begins. It rarely feels like enough.</a:t>
            </a:r>
            <a:endParaRPr lang="en-US" sz="1100" dirty="0"/>
          </a:p>
        </p:txBody>
      </p:sp>
      <p:sp>
        <p:nvSpPr>
          <p:cNvPr id="7" name="Shape 5"/>
          <p:cNvSpPr/>
          <p:nvPr/>
        </p:nvSpPr>
        <p:spPr>
          <a:xfrm>
            <a:off x="5943600" y="457200"/>
            <a:ext cx="2377440" cy="1051560"/>
          </a:xfrm>
          <a:prstGeom prst="rect">
            <a:avLst/>
          </a:prstGeom>
          <a:solidFill>
            <a:srgbClr val="1A1A1A"/>
          </a:solidFill>
          <a:ln w="12700">
            <a:solidFill>
              <a:srgbClr val="1A1A1A"/>
            </a:solidFill>
            <a:prstDash val="solid"/>
          </a:ln>
        </p:spPr>
      </p:sp>
      <p:sp>
        <p:nvSpPr>
          <p:cNvPr id="8" name="Shape 6"/>
          <p:cNvSpPr/>
          <p:nvPr/>
        </p:nvSpPr>
        <p:spPr>
          <a:xfrm>
            <a:off x="5943600" y="457200"/>
            <a:ext cx="2377440" cy="45720"/>
          </a:xfrm>
          <a:prstGeom prst="rect">
            <a:avLst/>
          </a:prstGeom>
          <a:solidFill>
            <a:srgbClr val="B8963E"/>
          </a:solidFill>
          <a:ln w="12700">
            <a:solidFill>
              <a:srgbClr val="B8963E"/>
            </a:solidFill>
            <a:prstDash val="solid"/>
          </a:ln>
        </p:spPr>
      </p:sp>
      <p:sp>
        <p:nvSpPr>
          <p:cNvPr id="9" name="Text 7"/>
          <p:cNvSpPr/>
          <p:nvPr/>
        </p:nvSpPr>
        <p:spPr>
          <a:xfrm>
            <a:off x="6053328" y="54864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1,708m</a:t>
            </a:r>
            <a:endParaRPr lang="en-US" sz="2600" dirty="0"/>
          </a:p>
        </p:txBody>
      </p:sp>
      <p:sp>
        <p:nvSpPr>
          <p:cNvPr id="10" name="Text 8"/>
          <p:cNvSpPr/>
          <p:nvPr/>
        </p:nvSpPr>
        <p:spPr>
          <a:xfrm>
            <a:off x="6035040" y="107899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Width of the Falls</a:t>
            </a:r>
            <a:endParaRPr lang="en-US" sz="850" dirty="0"/>
          </a:p>
        </p:txBody>
      </p:sp>
      <p:sp>
        <p:nvSpPr>
          <p:cNvPr id="11" name="Shape 9"/>
          <p:cNvSpPr/>
          <p:nvPr/>
        </p:nvSpPr>
        <p:spPr>
          <a:xfrm>
            <a:off x="5943600" y="1645920"/>
            <a:ext cx="2377440" cy="1051560"/>
          </a:xfrm>
          <a:prstGeom prst="rect">
            <a:avLst/>
          </a:prstGeom>
          <a:solidFill>
            <a:srgbClr val="1A1A1A"/>
          </a:solidFill>
          <a:ln w="12700">
            <a:solidFill>
              <a:srgbClr val="1A1A1A"/>
            </a:solidFill>
            <a:prstDash val="solid"/>
          </a:ln>
        </p:spPr>
      </p:sp>
      <p:sp>
        <p:nvSpPr>
          <p:cNvPr id="12" name="Shape 10"/>
          <p:cNvSpPr/>
          <p:nvPr/>
        </p:nvSpPr>
        <p:spPr>
          <a:xfrm>
            <a:off x="5943600" y="1645920"/>
            <a:ext cx="2377440" cy="45720"/>
          </a:xfrm>
          <a:prstGeom prst="rect">
            <a:avLst/>
          </a:prstGeom>
          <a:solidFill>
            <a:srgbClr val="B8963E"/>
          </a:solidFill>
          <a:ln w="12700">
            <a:solidFill>
              <a:srgbClr val="B8963E"/>
            </a:solidFill>
            <a:prstDash val="solid"/>
          </a:ln>
        </p:spPr>
      </p:sp>
      <p:sp>
        <p:nvSpPr>
          <p:cNvPr id="13" name="Text 11"/>
          <p:cNvSpPr/>
          <p:nvPr/>
        </p:nvSpPr>
        <p:spPr>
          <a:xfrm>
            <a:off x="6053328" y="173736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108m</a:t>
            </a:r>
            <a:endParaRPr lang="en-US" sz="2600" dirty="0"/>
          </a:p>
        </p:txBody>
      </p:sp>
      <p:sp>
        <p:nvSpPr>
          <p:cNvPr id="14" name="Text 12"/>
          <p:cNvSpPr/>
          <p:nvPr/>
        </p:nvSpPr>
        <p:spPr>
          <a:xfrm>
            <a:off x="6035040" y="226771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Height of the Falls</a:t>
            </a:r>
            <a:endParaRPr lang="en-US" sz="850" dirty="0"/>
          </a:p>
        </p:txBody>
      </p:sp>
      <p:sp>
        <p:nvSpPr>
          <p:cNvPr id="15" name="Shape 13"/>
          <p:cNvSpPr/>
          <p:nvPr/>
        </p:nvSpPr>
        <p:spPr>
          <a:xfrm>
            <a:off x="5943600" y="2834640"/>
            <a:ext cx="2377440" cy="1051560"/>
          </a:xfrm>
          <a:prstGeom prst="rect">
            <a:avLst/>
          </a:prstGeom>
          <a:solidFill>
            <a:srgbClr val="1A1A1A"/>
          </a:solidFill>
          <a:ln w="12700">
            <a:solidFill>
              <a:srgbClr val="1A1A1A"/>
            </a:solidFill>
            <a:prstDash val="solid"/>
          </a:ln>
        </p:spPr>
      </p:sp>
      <p:sp>
        <p:nvSpPr>
          <p:cNvPr id="16" name="Shape 14"/>
          <p:cNvSpPr/>
          <p:nvPr/>
        </p:nvSpPr>
        <p:spPr>
          <a:xfrm>
            <a:off x="5943600" y="2834640"/>
            <a:ext cx="2377440" cy="45720"/>
          </a:xfrm>
          <a:prstGeom prst="rect">
            <a:avLst/>
          </a:prstGeom>
          <a:solidFill>
            <a:srgbClr val="B8963E"/>
          </a:solidFill>
          <a:ln w="12700">
            <a:solidFill>
              <a:srgbClr val="B8963E"/>
            </a:solidFill>
            <a:prstDash val="solid"/>
          </a:ln>
        </p:spPr>
      </p:sp>
      <p:sp>
        <p:nvSpPr>
          <p:cNvPr id="17" name="Text 15"/>
          <p:cNvSpPr/>
          <p:nvPr/>
        </p:nvSpPr>
        <p:spPr>
          <a:xfrm>
            <a:off x="6053328" y="292608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500M ℓ/min</a:t>
            </a:r>
            <a:endParaRPr lang="en-US" sz="2600" dirty="0"/>
          </a:p>
        </p:txBody>
      </p:sp>
      <p:sp>
        <p:nvSpPr>
          <p:cNvPr id="18" name="Text 16"/>
          <p:cNvSpPr/>
          <p:nvPr/>
        </p:nvSpPr>
        <p:spPr>
          <a:xfrm>
            <a:off x="6035040" y="345643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Peak flow volume</a:t>
            </a:r>
            <a:endParaRPr lang="en-US" sz="850" dirty="0"/>
          </a:p>
        </p:txBody>
      </p:sp>
      <p:sp>
        <p:nvSpPr>
          <p:cNvPr id="19" name="Text 17"/>
          <p:cNvSpPr/>
          <p:nvPr/>
        </p:nvSpPr>
        <p:spPr>
          <a:xfrm>
            <a:off x="5943600" y="4069080"/>
            <a:ext cx="2377440" cy="347472"/>
          </a:xfrm>
          <a:prstGeom prst="rect">
            <a:avLst/>
          </a:prstGeom>
          <a:noFill/>
          <a:ln/>
        </p:spPr>
        <p:txBody>
          <a:bodyPr wrap="square" rtlCol="0" anchor="ctr"/>
          <a:lstStyle/>
          <a:p>
            <a:pPr marL="0" indent="0" algn="ctr">
              <a:buNone/>
            </a:pPr>
            <a:r>
              <a:rPr lang="en-US" sz="850" i="1" dirty="0">
                <a:solidFill>
                  <a:srgbClr val="D4AF6A"/>
                </a:solidFill>
                <a:latin typeface="Calibri" pitchFamily="34" charset="0"/>
                <a:ea typeface="Calibri" pitchFamily="34" charset="-122"/>
                <a:cs typeface="Calibri" pitchFamily="34" charset="-120"/>
              </a:rPr>
              <a:t>UNESCO World Heritage Site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702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0"/>
            <a:ext cx="54864" cy="5143500"/>
          </a:xfrm>
          <a:prstGeom prst="rect">
            <a:avLst/>
          </a:prstGeom>
          <a:solidFill>
            <a:srgbClr val="0D0D0D"/>
          </a:solidFill>
          <a:ln w="12700">
            <a:solidFill>
              <a:srgbClr val="0D0D0D"/>
            </a:solidFill>
            <a:prstDash val="solid"/>
          </a:ln>
        </p:spPr>
      </p:sp>
      <p:sp>
        <p:nvSpPr>
          <p:cNvPr id="4" name="Text 2"/>
          <p:cNvSpPr/>
          <p:nvPr/>
        </p:nvSpPr>
        <p:spPr>
          <a:xfrm>
            <a:off x="228600" y="228600"/>
            <a:ext cx="868680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DESTINATIONS  ·  LIVINGSTONE, ZAMBIA</a:t>
            </a:r>
            <a:endParaRPr lang="en-US" sz="800" dirty="0"/>
          </a:p>
        </p:txBody>
      </p:sp>
      <p:sp>
        <p:nvSpPr>
          <p:cNvPr id="5" name="Text 3"/>
          <p:cNvSpPr/>
          <p:nvPr/>
        </p:nvSpPr>
        <p:spPr>
          <a:xfrm>
            <a:off x="228600" y="594360"/>
            <a:ext cx="5943600" cy="914400"/>
          </a:xfrm>
          <a:prstGeom prst="rect">
            <a:avLst/>
          </a:prstGeom>
          <a:noFill/>
          <a:ln/>
        </p:spPr>
        <p:txBody>
          <a:bodyPr wrap="square" rtlCol="0" anchor="ctr"/>
          <a:lstStyle/>
          <a:p>
            <a:pPr marL="0" indent="0">
              <a:buNone/>
            </a:pPr>
            <a:r>
              <a:rPr lang="en-US" sz="3000" i="1" dirty="0">
                <a:solidFill>
                  <a:srgbClr val="0D0D0D"/>
                </a:solidFill>
                <a:latin typeface="Georgia" pitchFamily="34" charset="0"/>
                <a:ea typeface="Georgia" pitchFamily="34" charset="-122"/>
                <a:cs typeface="Georgia" pitchFamily="34" charset="-120"/>
              </a:rPr>
              <a:t>Livingstone,</a:t>
            </a:r>
            <a:endParaRPr lang="en-US" sz="3000" dirty="0"/>
          </a:p>
          <a:p>
            <a:pPr marL="0" indent="0">
              <a:buNone/>
            </a:pPr>
            <a:r>
              <a:rPr lang="en-US" sz="3000" i="1" dirty="0">
                <a:solidFill>
                  <a:srgbClr val="0D0D0D"/>
                </a:solidFill>
                <a:latin typeface="Georgia" pitchFamily="34" charset="0"/>
                <a:ea typeface="Georgia" pitchFamily="34" charset="-122"/>
                <a:cs typeface="Georgia" pitchFamily="34" charset="-120"/>
              </a:rPr>
              <a:t>Zambia</a:t>
            </a:r>
            <a:endParaRPr lang="en-US" sz="3000" dirty="0"/>
          </a:p>
        </p:txBody>
      </p:sp>
      <p:sp>
        <p:nvSpPr>
          <p:cNvPr id="6" name="Shape 4"/>
          <p:cNvSpPr/>
          <p:nvPr/>
        </p:nvSpPr>
        <p:spPr>
          <a:xfrm>
            <a:off x="228600" y="1581912"/>
            <a:ext cx="3200400" cy="27432"/>
          </a:xfrm>
          <a:prstGeom prst="rect">
            <a:avLst/>
          </a:prstGeom>
          <a:solidFill>
            <a:srgbClr val="B8963E"/>
          </a:solidFill>
          <a:ln w="12700">
            <a:solidFill>
              <a:srgbClr val="B8963E"/>
            </a:solidFill>
            <a:prstDash val="solid"/>
          </a:ln>
        </p:spPr>
      </p:sp>
      <p:sp>
        <p:nvSpPr>
          <p:cNvPr id="7" name="Text 5"/>
          <p:cNvSpPr/>
          <p:nvPr/>
        </p:nvSpPr>
        <p:spPr>
          <a:xfrm>
            <a:off x="228600" y="1737360"/>
            <a:ext cx="5394960" cy="310896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Cross the bridge. Enter another world.</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The Victoria Falls Bridge connects Zimbabwe and Zambia across the second gorge — one of the most dramatic border crossings on earth. Below it, the river churns through the Batoka Gorge. Above it, bungee jumpers fall toward the water in a long, graceful arc.</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On the Zambian side, the Falls reveal themselves differently. Quieter in some seasons. More intimate. And here, accessible only by guided boat across a channel of the Zambezi, sits Livingstone Island.</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This is the island where the explorer stood in 1855 and looked out over what he called the most wonderful sight he had ever witnessed. Today, guests can sit at the very edge — the Devil's Pool in season, the table set for breakfast overlooking the cascade — and understand exactly what he felt.</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It is one of the most singular experiences in Africa, and TWT facilitates access as part of your curated journey.</a:t>
            </a:r>
            <a:endParaRPr lang="en-US" sz="1100" dirty="0"/>
          </a:p>
        </p:txBody>
      </p:sp>
      <p:sp>
        <p:nvSpPr>
          <p:cNvPr id="8" name="Shape 6"/>
          <p:cNvSpPr/>
          <p:nvPr/>
        </p:nvSpPr>
        <p:spPr>
          <a:xfrm>
            <a:off x="5852160" y="457200"/>
            <a:ext cx="2926080" cy="1417320"/>
          </a:xfrm>
          <a:prstGeom prst="rect">
            <a:avLst/>
          </a:prstGeom>
          <a:solidFill>
            <a:srgbClr val="1A1A1A"/>
          </a:solidFill>
          <a:ln w="12700">
            <a:solidFill>
              <a:srgbClr val="1A1A1A"/>
            </a:solidFill>
            <a:prstDash val="solid"/>
          </a:ln>
        </p:spPr>
      </p:sp>
      <p:sp>
        <p:nvSpPr>
          <p:cNvPr id="9" name="Shape 7"/>
          <p:cNvSpPr/>
          <p:nvPr/>
        </p:nvSpPr>
        <p:spPr>
          <a:xfrm>
            <a:off x="5852160" y="457200"/>
            <a:ext cx="2926080" cy="45720"/>
          </a:xfrm>
          <a:prstGeom prst="rect">
            <a:avLst/>
          </a:prstGeom>
          <a:solidFill>
            <a:srgbClr val="B8963E"/>
          </a:solidFill>
          <a:ln w="12700">
            <a:solidFill>
              <a:srgbClr val="B8963E"/>
            </a:solidFill>
            <a:prstDash val="solid"/>
          </a:ln>
        </p:spPr>
      </p:sp>
      <p:sp>
        <p:nvSpPr>
          <p:cNvPr id="10" name="Text 8"/>
          <p:cNvSpPr/>
          <p:nvPr/>
        </p:nvSpPr>
        <p:spPr>
          <a:xfrm>
            <a:off x="5852160" y="566928"/>
            <a:ext cx="292608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1" name="Text 9"/>
          <p:cNvSpPr/>
          <p:nvPr/>
        </p:nvSpPr>
        <p:spPr>
          <a:xfrm>
            <a:off x="5961888" y="960120"/>
            <a:ext cx="270662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Livingstone Island</a:t>
            </a:r>
            <a:endParaRPr lang="en-US" sz="1200" dirty="0"/>
          </a:p>
        </p:txBody>
      </p:sp>
      <p:sp>
        <p:nvSpPr>
          <p:cNvPr id="12" name="Text 10"/>
          <p:cNvSpPr/>
          <p:nvPr/>
        </p:nvSpPr>
        <p:spPr>
          <a:xfrm>
            <a:off x="5961888" y="1371600"/>
            <a:ext cx="270662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Accessible only by guided boat. Breakfast at the edge. Devil's Pool in season.</a:t>
            </a:r>
            <a:endParaRPr lang="en-US" sz="900" dirty="0"/>
          </a:p>
        </p:txBody>
      </p:sp>
      <p:sp>
        <p:nvSpPr>
          <p:cNvPr id="13" name="Shape 11"/>
          <p:cNvSpPr/>
          <p:nvPr/>
        </p:nvSpPr>
        <p:spPr>
          <a:xfrm>
            <a:off x="5852160" y="2011680"/>
            <a:ext cx="2926080" cy="1417320"/>
          </a:xfrm>
          <a:prstGeom prst="rect">
            <a:avLst/>
          </a:prstGeom>
          <a:solidFill>
            <a:srgbClr val="1A1A1A"/>
          </a:solidFill>
          <a:ln w="12700">
            <a:solidFill>
              <a:srgbClr val="1A1A1A"/>
            </a:solidFill>
            <a:prstDash val="solid"/>
          </a:ln>
        </p:spPr>
      </p:sp>
      <p:sp>
        <p:nvSpPr>
          <p:cNvPr id="14" name="Shape 12"/>
          <p:cNvSpPr/>
          <p:nvPr/>
        </p:nvSpPr>
        <p:spPr>
          <a:xfrm>
            <a:off x="5852160" y="2011680"/>
            <a:ext cx="2926080" cy="45720"/>
          </a:xfrm>
          <a:prstGeom prst="rect">
            <a:avLst/>
          </a:prstGeom>
          <a:solidFill>
            <a:srgbClr val="B8963E"/>
          </a:solidFill>
          <a:ln w="12700">
            <a:solidFill>
              <a:srgbClr val="B8963E"/>
            </a:solidFill>
            <a:prstDash val="solid"/>
          </a:ln>
        </p:spPr>
      </p:sp>
      <p:sp>
        <p:nvSpPr>
          <p:cNvPr id="15" name="Text 13"/>
          <p:cNvSpPr/>
          <p:nvPr/>
        </p:nvSpPr>
        <p:spPr>
          <a:xfrm>
            <a:off x="5852160" y="2121408"/>
            <a:ext cx="292608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6" name="Text 14"/>
          <p:cNvSpPr/>
          <p:nvPr/>
        </p:nvSpPr>
        <p:spPr>
          <a:xfrm>
            <a:off x="5961888" y="2514600"/>
            <a:ext cx="270662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The Bridge Crossing</a:t>
            </a:r>
            <a:endParaRPr lang="en-US" sz="1200" dirty="0"/>
          </a:p>
        </p:txBody>
      </p:sp>
      <p:sp>
        <p:nvSpPr>
          <p:cNvPr id="17" name="Text 15"/>
          <p:cNvSpPr/>
          <p:nvPr/>
        </p:nvSpPr>
        <p:spPr>
          <a:xfrm>
            <a:off x="5961888" y="2926080"/>
            <a:ext cx="270662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One of the world's most dramatic border crossings. The gorge drops away below you.</a:t>
            </a:r>
            <a:endParaRPr lang="en-US" sz="900" dirty="0"/>
          </a:p>
        </p:txBody>
      </p:sp>
      <p:sp>
        <p:nvSpPr>
          <p:cNvPr id="18" name="Shape 16"/>
          <p:cNvSpPr/>
          <p:nvPr/>
        </p:nvSpPr>
        <p:spPr>
          <a:xfrm>
            <a:off x="5852160" y="3566160"/>
            <a:ext cx="2926080" cy="1325880"/>
          </a:xfrm>
          <a:prstGeom prst="rect">
            <a:avLst/>
          </a:prstGeom>
          <a:solidFill>
            <a:srgbClr val="1A1A1A"/>
          </a:solidFill>
          <a:ln w="12700">
            <a:solidFill>
              <a:srgbClr val="1A1A1A"/>
            </a:solidFill>
            <a:prstDash val="solid"/>
          </a:ln>
        </p:spPr>
      </p:sp>
      <p:sp>
        <p:nvSpPr>
          <p:cNvPr id="19" name="Shape 17"/>
          <p:cNvSpPr/>
          <p:nvPr/>
        </p:nvSpPr>
        <p:spPr>
          <a:xfrm>
            <a:off x="5852160" y="3566160"/>
            <a:ext cx="2926080" cy="45720"/>
          </a:xfrm>
          <a:prstGeom prst="rect">
            <a:avLst/>
          </a:prstGeom>
          <a:solidFill>
            <a:srgbClr val="B8963E"/>
          </a:solidFill>
          <a:ln w="12700">
            <a:solidFill>
              <a:srgbClr val="B8963E"/>
            </a:solidFill>
            <a:prstDash val="solid"/>
          </a:ln>
        </p:spPr>
      </p:sp>
      <p:sp>
        <p:nvSpPr>
          <p:cNvPr id="20" name="Text 18"/>
          <p:cNvSpPr/>
          <p:nvPr/>
        </p:nvSpPr>
        <p:spPr>
          <a:xfrm>
            <a:off x="5852160" y="3675888"/>
            <a:ext cx="292608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21" name="Text 19"/>
          <p:cNvSpPr/>
          <p:nvPr/>
        </p:nvSpPr>
        <p:spPr>
          <a:xfrm>
            <a:off x="5961888" y="4069080"/>
            <a:ext cx="270662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The Falls — Zambian Side</a:t>
            </a:r>
            <a:endParaRPr lang="en-US" sz="1200" dirty="0"/>
          </a:p>
        </p:txBody>
      </p:sp>
      <p:sp>
        <p:nvSpPr>
          <p:cNvPr id="22" name="Text 20"/>
          <p:cNvSpPr/>
          <p:nvPr/>
        </p:nvSpPr>
        <p:spPr>
          <a:xfrm>
            <a:off x="5961888" y="4480560"/>
            <a:ext cx="2706624"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Quieter. More intimate. A different perspective on the same wonder.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C2E6A-71C9-5EF7-3A1A-621C47330E65}"/>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4204374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Text 1"/>
          <p:cNvSpPr/>
          <p:nvPr/>
        </p:nvSpPr>
        <p:spPr>
          <a:xfrm>
            <a:off x="274320" y="256032"/>
            <a:ext cx="859536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DESTINATIONS  ·  CHOBE, BOTSWANA</a:t>
            </a:r>
            <a:endParaRPr lang="en-US" sz="800" dirty="0"/>
          </a:p>
        </p:txBody>
      </p:sp>
      <p:sp>
        <p:nvSpPr>
          <p:cNvPr id="4" name="Text 2"/>
          <p:cNvSpPr/>
          <p:nvPr/>
        </p:nvSpPr>
        <p:spPr>
          <a:xfrm>
            <a:off x="274320" y="640080"/>
            <a:ext cx="5486400" cy="914400"/>
          </a:xfrm>
          <a:prstGeom prst="rect">
            <a:avLst/>
          </a:prstGeom>
          <a:noFill/>
          <a:ln/>
        </p:spPr>
        <p:txBody>
          <a:bodyPr wrap="square" rtlCol="0" anchor="ctr"/>
          <a:lstStyle/>
          <a:p>
            <a:pPr marL="0" indent="0" algn="l">
              <a:buNone/>
            </a:pPr>
            <a:r>
              <a:rPr lang="en-US" sz="3000" i="1" dirty="0">
                <a:latin typeface="Georgia" pitchFamily="34" charset="0"/>
                <a:ea typeface="Georgia" pitchFamily="34" charset="-122"/>
                <a:cs typeface="Georgia" pitchFamily="34" charset="-120"/>
              </a:rPr>
              <a:t>Chobe,</a:t>
            </a:r>
            <a:endParaRPr lang="en-US" sz="3000" dirty="0"/>
          </a:p>
          <a:p>
            <a:pPr marL="0" indent="0" algn="l">
              <a:buNone/>
            </a:pPr>
            <a:r>
              <a:rPr lang="en-US" sz="3000" i="1" dirty="0">
                <a:latin typeface="Georgia" pitchFamily="34" charset="0"/>
                <a:ea typeface="Georgia" pitchFamily="34" charset="-122"/>
                <a:cs typeface="Georgia" pitchFamily="34" charset="-120"/>
              </a:rPr>
              <a:t>Botswana</a:t>
            </a:r>
            <a:endParaRPr lang="en-US" sz="3000" dirty="0"/>
          </a:p>
        </p:txBody>
      </p:sp>
      <p:sp>
        <p:nvSpPr>
          <p:cNvPr id="5" name="Shape 3"/>
          <p:cNvSpPr/>
          <p:nvPr/>
        </p:nvSpPr>
        <p:spPr>
          <a:xfrm>
            <a:off x="274320" y="1627632"/>
            <a:ext cx="3200400" cy="27432"/>
          </a:xfrm>
          <a:prstGeom prst="rect">
            <a:avLst/>
          </a:prstGeom>
          <a:solidFill>
            <a:srgbClr val="B8963E"/>
          </a:solidFill>
          <a:ln w="12700">
            <a:solidFill>
              <a:srgbClr val="B8963E"/>
            </a:solidFill>
            <a:prstDash val="solid"/>
          </a:ln>
        </p:spPr>
      </p:sp>
      <p:sp>
        <p:nvSpPr>
          <p:cNvPr id="6" name="Text 4"/>
          <p:cNvSpPr/>
          <p:nvPr/>
        </p:nvSpPr>
        <p:spPr>
          <a:xfrm>
            <a:off x="274320" y="1783080"/>
            <a:ext cx="5303520" cy="3063240"/>
          </a:xfrm>
          <a:prstGeom prst="rect">
            <a:avLst/>
          </a:prstGeom>
          <a:noFill/>
          <a:ln/>
        </p:spPr>
        <p:txBody>
          <a:bodyPr wrap="square" rtlCol="0" anchor="ctr"/>
          <a:lstStyle/>
          <a:p>
            <a:pPr marL="0" indent="0" algn="l">
              <a:buNone/>
            </a:pPr>
            <a:r>
              <a:rPr lang="en-US" sz="1100" dirty="0">
                <a:latin typeface="Calibri" pitchFamily="34" charset="0"/>
                <a:ea typeface="Calibri" pitchFamily="34" charset="-122"/>
                <a:cs typeface="Calibri" pitchFamily="34" charset="-120"/>
              </a:rPr>
              <a:t>Where the water holds more life than you can count.</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An hour from Victoria Falls, the landscape shifts. The Chobe River moves slowly here, wide and generous, and along its banks gathers one of the greatest concentrations of wildlife in Africa. Buffalo herds that stretch to the horizon. Elephant families wading to drink, crossing, swimming — enormous and unhurried. Hippo eyeing the boat with mild irritation. Fish eagles calling from every other tree.</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A Chobe boat safari is one of those experiences that recalibrates your sense of what wildlife abundance actually means. You drift. The animals come to you. The light in the late afternoon turns everything amber and still.</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Botswana has built its entire tourism philosophy around low-volume, high-value conservation. You feel it here. There is space. There is quiet. There is the sense that the animals are not performing for you — they are simply living, and you have been allowed to witness it.</a:t>
            </a:r>
            <a:endParaRPr lang="en-US" sz="1100" dirty="0"/>
          </a:p>
        </p:txBody>
      </p:sp>
      <p:sp>
        <p:nvSpPr>
          <p:cNvPr id="7" name="Shape 5"/>
          <p:cNvSpPr/>
          <p:nvPr/>
        </p:nvSpPr>
        <p:spPr>
          <a:xfrm>
            <a:off x="5943600" y="457200"/>
            <a:ext cx="2377440" cy="1051560"/>
          </a:xfrm>
          <a:prstGeom prst="rect">
            <a:avLst/>
          </a:prstGeom>
          <a:solidFill>
            <a:srgbClr val="1A1A1A"/>
          </a:solidFill>
          <a:ln w="12700">
            <a:solidFill>
              <a:srgbClr val="1A1A1A"/>
            </a:solidFill>
            <a:prstDash val="solid"/>
          </a:ln>
        </p:spPr>
      </p:sp>
      <p:sp>
        <p:nvSpPr>
          <p:cNvPr id="8" name="Shape 6"/>
          <p:cNvSpPr/>
          <p:nvPr/>
        </p:nvSpPr>
        <p:spPr>
          <a:xfrm>
            <a:off x="5943600" y="457200"/>
            <a:ext cx="2377440" cy="45720"/>
          </a:xfrm>
          <a:prstGeom prst="rect">
            <a:avLst/>
          </a:prstGeom>
          <a:solidFill>
            <a:srgbClr val="B8963E"/>
          </a:solidFill>
          <a:ln w="12700">
            <a:solidFill>
              <a:srgbClr val="B8963E"/>
            </a:solidFill>
            <a:prstDash val="solid"/>
          </a:ln>
        </p:spPr>
      </p:sp>
      <p:sp>
        <p:nvSpPr>
          <p:cNvPr id="9" name="Text 7"/>
          <p:cNvSpPr/>
          <p:nvPr/>
        </p:nvSpPr>
        <p:spPr>
          <a:xfrm>
            <a:off x="6053328" y="54864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~120,000</a:t>
            </a:r>
            <a:endParaRPr lang="en-US" sz="2600" dirty="0"/>
          </a:p>
        </p:txBody>
      </p:sp>
      <p:sp>
        <p:nvSpPr>
          <p:cNvPr id="10" name="Text 8"/>
          <p:cNvSpPr/>
          <p:nvPr/>
        </p:nvSpPr>
        <p:spPr>
          <a:xfrm>
            <a:off x="6035040" y="107899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Elephants in Chobe</a:t>
            </a:r>
            <a:endParaRPr lang="en-US" sz="850" dirty="0"/>
          </a:p>
        </p:txBody>
      </p:sp>
      <p:sp>
        <p:nvSpPr>
          <p:cNvPr id="11" name="Shape 9"/>
          <p:cNvSpPr/>
          <p:nvPr/>
        </p:nvSpPr>
        <p:spPr>
          <a:xfrm>
            <a:off x="5943600" y="1645920"/>
            <a:ext cx="2377440" cy="1051560"/>
          </a:xfrm>
          <a:prstGeom prst="rect">
            <a:avLst/>
          </a:prstGeom>
          <a:solidFill>
            <a:srgbClr val="1A1A1A"/>
          </a:solidFill>
          <a:ln w="12700">
            <a:solidFill>
              <a:srgbClr val="1A1A1A"/>
            </a:solidFill>
            <a:prstDash val="solid"/>
          </a:ln>
        </p:spPr>
      </p:sp>
      <p:sp>
        <p:nvSpPr>
          <p:cNvPr id="12" name="Shape 10"/>
          <p:cNvSpPr/>
          <p:nvPr/>
        </p:nvSpPr>
        <p:spPr>
          <a:xfrm>
            <a:off x="5943600" y="1645920"/>
            <a:ext cx="2377440" cy="45720"/>
          </a:xfrm>
          <a:prstGeom prst="rect">
            <a:avLst/>
          </a:prstGeom>
          <a:solidFill>
            <a:srgbClr val="B8963E"/>
          </a:solidFill>
          <a:ln w="12700">
            <a:solidFill>
              <a:srgbClr val="B8963E"/>
            </a:solidFill>
            <a:prstDash val="solid"/>
          </a:ln>
        </p:spPr>
      </p:sp>
      <p:sp>
        <p:nvSpPr>
          <p:cNvPr id="13" name="Text 11"/>
          <p:cNvSpPr/>
          <p:nvPr/>
        </p:nvSpPr>
        <p:spPr>
          <a:xfrm>
            <a:off x="6053328" y="173736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1 hr</a:t>
            </a:r>
            <a:endParaRPr lang="en-US" sz="2600" dirty="0"/>
          </a:p>
        </p:txBody>
      </p:sp>
      <p:sp>
        <p:nvSpPr>
          <p:cNvPr id="14" name="Text 12"/>
          <p:cNvSpPr/>
          <p:nvPr/>
        </p:nvSpPr>
        <p:spPr>
          <a:xfrm>
            <a:off x="6035040" y="226771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Drive from Victoria Falls</a:t>
            </a:r>
            <a:endParaRPr lang="en-US" sz="850" dirty="0"/>
          </a:p>
        </p:txBody>
      </p:sp>
      <p:sp>
        <p:nvSpPr>
          <p:cNvPr id="15" name="Text 13"/>
          <p:cNvSpPr/>
          <p:nvPr/>
        </p:nvSpPr>
        <p:spPr>
          <a:xfrm>
            <a:off x="5943600" y="2926080"/>
            <a:ext cx="2377440" cy="292608"/>
          </a:xfrm>
          <a:prstGeom prst="rect">
            <a:avLst/>
          </a:prstGeom>
          <a:noFill/>
          <a:ln/>
        </p:spPr>
        <p:txBody>
          <a:bodyPr wrap="square" rtlCol="0" anchor="ctr"/>
          <a:lstStyle/>
          <a:p>
            <a:pPr marL="0" indent="0" algn="ctr">
              <a:buNone/>
            </a:pPr>
            <a:r>
              <a:rPr lang="en-US" sz="800" kern="0" spc="300" dirty="0">
                <a:solidFill>
                  <a:srgbClr val="B8963E"/>
                </a:solidFill>
                <a:latin typeface="Calibri" pitchFamily="34" charset="0"/>
                <a:ea typeface="Calibri" pitchFamily="34" charset="-122"/>
                <a:cs typeface="Calibri" pitchFamily="34" charset="-120"/>
              </a:rPr>
              <a:t>HIGHLIGHTS</a:t>
            </a:r>
            <a:endParaRPr lang="en-US" sz="800" dirty="0"/>
          </a:p>
        </p:txBody>
      </p:sp>
      <p:sp>
        <p:nvSpPr>
          <p:cNvPr id="16" name="Text 14"/>
          <p:cNvSpPr/>
          <p:nvPr/>
        </p:nvSpPr>
        <p:spPr>
          <a:xfrm>
            <a:off x="5943600" y="3291840"/>
            <a:ext cx="2377440" cy="32004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  Boat safaris on the Chobe River</a:t>
            </a:r>
            <a:endParaRPr lang="en-US" sz="900" dirty="0"/>
          </a:p>
        </p:txBody>
      </p:sp>
      <p:sp>
        <p:nvSpPr>
          <p:cNvPr id="17" name="Text 15"/>
          <p:cNvSpPr/>
          <p:nvPr/>
        </p:nvSpPr>
        <p:spPr>
          <a:xfrm>
            <a:off x="5943600" y="3639312"/>
            <a:ext cx="2377440" cy="32004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  Buffalo &amp; elephant in vast numbers</a:t>
            </a:r>
            <a:endParaRPr lang="en-US" sz="900" dirty="0"/>
          </a:p>
        </p:txBody>
      </p:sp>
      <p:sp>
        <p:nvSpPr>
          <p:cNvPr id="18" name="Text 16"/>
          <p:cNvSpPr/>
          <p:nvPr/>
        </p:nvSpPr>
        <p:spPr>
          <a:xfrm>
            <a:off x="5943600" y="3986784"/>
            <a:ext cx="2377440" cy="32004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  Hippo, crocodile, fish eagle</a:t>
            </a:r>
            <a:endParaRPr lang="en-US" sz="900" dirty="0"/>
          </a:p>
        </p:txBody>
      </p:sp>
      <p:sp>
        <p:nvSpPr>
          <p:cNvPr id="19" name="Text 17"/>
          <p:cNvSpPr/>
          <p:nvPr/>
        </p:nvSpPr>
        <p:spPr>
          <a:xfrm>
            <a:off x="5943600" y="4334256"/>
            <a:ext cx="2377440" cy="32004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  Amber light — golden hour photography</a:t>
            </a:r>
            <a:endParaRPr lang="en-US" sz="900" dirty="0"/>
          </a:p>
        </p:txBody>
      </p:sp>
      <p:sp>
        <p:nvSpPr>
          <p:cNvPr id="20" name="Text 18"/>
          <p:cNvSpPr/>
          <p:nvPr/>
        </p:nvSpPr>
        <p:spPr>
          <a:xfrm>
            <a:off x="5943600" y="4681728"/>
            <a:ext cx="2377440" cy="32004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  Low-volume, high-value conservation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466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0"/>
            <a:ext cx="54864" cy="5143500"/>
          </a:xfrm>
          <a:prstGeom prst="rect">
            <a:avLst/>
          </a:prstGeom>
          <a:solidFill>
            <a:srgbClr val="0D0D0D"/>
          </a:solidFill>
          <a:ln w="12700">
            <a:solidFill>
              <a:srgbClr val="0D0D0D"/>
            </a:solidFill>
            <a:prstDash val="solid"/>
          </a:ln>
        </p:spPr>
      </p:sp>
      <p:sp>
        <p:nvSpPr>
          <p:cNvPr id="4" name="Text 2"/>
          <p:cNvSpPr/>
          <p:nvPr/>
        </p:nvSpPr>
        <p:spPr>
          <a:xfrm>
            <a:off x="228600" y="228600"/>
            <a:ext cx="868680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DESTINATIONS  ·  HWANGE, ZIMBABWE</a:t>
            </a:r>
            <a:endParaRPr lang="en-US" sz="800" dirty="0"/>
          </a:p>
        </p:txBody>
      </p:sp>
      <p:sp>
        <p:nvSpPr>
          <p:cNvPr id="5" name="Text 3"/>
          <p:cNvSpPr/>
          <p:nvPr/>
        </p:nvSpPr>
        <p:spPr>
          <a:xfrm>
            <a:off x="228600" y="594360"/>
            <a:ext cx="5943600" cy="914400"/>
          </a:xfrm>
          <a:prstGeom prst="rect">
            <a:avLst/>
          </a:prstGeom>
          <a:noFill/>
          <a:ln/>
        </p:spPr>
        <p:txBody>
          <a:bodyPr wrap="square" rtlCol="0" anchor="ctr"/>
          <a:lstStyle/>
          <a:p>
            <a:pPr marL="0" indent="0">
              <a:buNone/>
            </a:pPr>
            <a:r>
              <a:rPr lang="en-US" sz="3000" i="1" dirty="0">
                <a:solidFill>
                  <a:srgbClr val="0D0D0D"/>
                </a:solidFill>
                <a:latin typeface="Georgia" pitchFamily="34" charset="0"/>
                <a:ea typeface="Georgia" pitchFamily="34" charset="-122"/>
                <a:cs typeface="Georgia" pitchFamily="34" charset="-120"/>
              </a:rPr>
              <a:t>Hwange</a:t>
            </a:r>
            <a:endParaRPr lang="en-US" sz="3000" dirty="0"/>
          </a:p>
          <a:p>
            <a:pPr marL="0" indent="0">
              <a:buNone/>
            </a:pPr>
            <a:r>
              <a:rPr lang="en-US" sz="3000" i="1" dirty="0">
                <a:solidFill>
                  <a:srgbClr val="0D0D0D"/>
                </a:solidFill>
                <a:latin typeface="Georgia" pitchFamily="34" charset="0"/>
                <a:ea typeface="Georgia" pitchFamily="34" charset="-122"/>
                <a:cs typeface="Georgia" pitchFamily="34" charset="-120"/>
              </a:rPr>
              <a:t>National Park</a:t>
            </a:r>
            <a:endParaRPr lang="en-US" sz="3000" dirty="0"/>
          </a:p>
        </p:txBody>
      </p:sp>
      <p:sp>
        <p:nvSpPr>
          <p:cNvPr id="6" name="Shape 4"/>
          <p:cNvSpPr/>
          <p:nvPr/>
        </p:nvSpPr>
        <p:spPr>
          <a:xfrm>
            <a:off x="228600" y="1581912"/>
            <a:ext cx="3200400" cy="27432"/>
          </a:xfrm>
          <a:prstGeom prst="rect">
            <a:avLst/>
          </a:prstGeom>
          <a:solidFill>
            <a:srgbClr val="B8963E"/>
          </a:solidFill>
          <a:ln w="12700">
            <a:solidFill>
              <a:srgbClr val="B8963E"/>
            </a:solidFill>
            <a:prstDash val="solid"/>
          </a:ln>
        </p:spPr>
      </p:sp>
      <p:sp>
        <p:nvSpPr>
          <p:cNvPr id="7" name="Text 5"/>
          <p:cNvSpPr/>
          <p:nvPr/>
        </p:nvSpPr>
        <p:spPr>
          <a:xfrm>
            <a:off x="228600" y="1737360"/>
            <a:ext cx="5394960" cy="310896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The old wilderness. Unchanged and uncompromising.</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Hwange National Park is Zimbabwe's largest — fourteen thousand square kilometres of mopane woodland, teak forest, and open pans that hold water long after the rains have gone. It is around these pans that the wildlife congregates, and the concentrations here are among the most extraordinary in Africa.</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Forty thousand elephants. Lion. Leopard. Wild dog — one of the most endangered predators on the continent, and one of Hwange's most celebrated residents. Sable antelope. Giraffe moving between trees in slow, improbable elegance.</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Hwange is not manicured. It is vast and ancient and indifferent in the way only true wilderness can be. A game drive here at dawn, when the light is flat and pink and the animals are moving to the water, is the kind of experience that lodges itself permanently in memory.</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This is the wild heart of the TWT journey.</a:t>
            </a:r>
            <a:endParaRPr lang="en-US" sz="1100" dirty="0"/>
          </a:p>
        </p:txBody>
      </p:sp>
      <p:sp>
        <p:nvSpPr>
          <p:cNvPr id="8" name="Shape 6"/>
          <p:cNvSpPr/>
          <p:nvPr/>
        </p:nvSpPr>
        <p:spPr>
          <a:xfrm>
            <a:off x="5852160" y="457200"/>
            <a:ext cx="2377440" cy="1051560"/>
          </a:xfrm>
          <a:prstGeom prst="rect">
            <a:avLst/>
          </a:prstGeom>
          <a:solidFill>
            <a:srgbClr val="1A1A1A"/>
          </a:solidFill>
          <a:ln w="12700">
            <a:solidFill>
              <a:srgbClr val="1A1A1A"/>
            </a:solidFill>
            <a:prstDash val="solid"/>
          </a:ln>
        </p:spPr>
      </p:sp>
      <p:sp>
        <p:nvSpPr>
          <p:cNvPr id="9" name="Shape 7"/>
          <p:cNvSpPr/>
          <p:nvPr/>
        </p:nvSpPr>
        <p:spPr>
          <a:xfrm>
            <a:off x="5852160" y="457200"/>
            <a:ext cx="2377440" cy="45720"/>
          </a:xfrm>
          <a:prstGeom prst="rect">
            <a:avLst/>
          </a:prstGeom>
          <a:solidFill>
            <a:srgbClr val="B8963E"/>
          </a:solidFill>
          <a:ln w="12700">
            <a:solidFill>
              <a:srgbClr val="B8963E"/>
            </a:solidFill>
            <a:prstDash val="solid"/>
          </a:ln>
        </p:spPr>
      </p:sp>
      <p:sp>
        <p:nvSpPr>
          <p:cNvPr id="10" name="Text 8"/>
          <p:cNvSpPr/>
          <p:nvPr/>
        </p:nvSpPr>
        <p:spPr>
          <a:xfrm>
            <a:off x="5961888" y="54864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14,651 km²</a:t>
            </a:r>
            <a:endParaRPr lang="en-US" sz="2600" dirty="0"/>
          </a:p>
        </p:txBody>
      </p:sp>
      <p:sp>
        <p:nvSpPr>
          <p:cNvPr id="11" name="Text 9"/>
          <p:cNvSpPr/>
          <p:nvPr/>
        </p:nvSpPr>
        <p:spPr>
          <a:xfrm>
            <a:off x="5943600" y="107899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Park size</a:t>
            </a:r>
            <a:endParaRPr lang="en-US" sz="850" dirty="0"/>
          </a:p>
        </p:txBody>
      </p:sp>
      <p:sp>
        <p:nvSpPr>
          <p:cNvPr id="12" name="Shape 10"/>
          <p:cNvSpPr/>
          <p:nvPr/>
        </p:nvSpPr>
        <p:spPr>
          <a:xfrm>
            <a:off x="5852160" y="1645920"/>
            <a:ext cx="2377440" cy="1051560"/>
          </a:xfrm>
          <a:prstGeom prst="rect">
            <a:avLst/>
          </a:prstGeom>
          <a:solidFill>
            <a:srgbClr val="1A1A1A"/>
          </a:solidFill>
          <a:ln w="12700">
            <a:solidFill>
              <a:srgbClr val="1A1A1A"/>
            </a:solidFill>
            <a:prstDash val="solid"/>
          </a:ln>
        </p:spPr>
      </p:sp>
      <p:sp>
        <p:nvSpPr>
          <p:cNvPr id="13" name="Shape 11"/>
          <p:cNvSpPr/>
          <p:nvPr/>
        </p:nvSpPr>
        <p:spPr>
          <a:xfrm>
            <a:off x="5852160" y="1645920"/>
            <a:ext cx="2377440" cy="45720"/>
          </a:xfrm>
          <a:prstGeom prst="rect">
            <a:avLst/>
          </a:prstGeom>
          <a:solidFill>
            <a:srgbClr val="B8963E"/>
          </a:solidFill>
          <a:ln w="12700">
            <a:solidFill>
              <a:srgbClr val="B8963E"/>
            </a:solidFill>
            <a:prstDash val="solid"/>
          </a:ln>
        </p:spPr>
      </p:sp>
      <p:sp>
        <p:nvSpPr>
          <p:cNvPr id="14" name="Text 12"/>
          <p:cNvSpPr/>
          <p:nvPr/>
        </p:nvSpPr>
        <p:spPr>
          <a:xfrm>
            <a:off x="5961888" y="1737360"/>
            <a:ext cx="2157984" cy="548640"/>
          </a:xfrm>
          <a:prstGeom prst="rect">
            <a:avLst/>
          </a:prstGeom>
          <a:noFill/>
          <a:ln/>
        </p:spPr>
        <p:txBody>
          <a:bodyPr wrap="square" rtlCol="0" anchor="ctr"/>
          <a:lstStyle/>
          <a:p>
            <a:pPr marL="0" indent="0" algn="ctr">
              <a:buNone/>
            </a:pPr>
            <a:r>
              <a:rPr lang="en-US" sz="2600" dirty="0">
                <a:solidFill>
                  <a:srgbClr val="B8963E"/>
                </a:solidFill>
                <a:latin typeface="Georgia" pitchFamily="34" charset="0"/>
                <a:ea typeface="Georgia" pitchFamily="34" charset="-122"/>
                <a:cs typeface="Georgia" pitchFamily="34" charset="-120"/>
              </a:rPr>
              <a:t>40,000+</a:t>
            </a:r>
            <a:endParaRPr lang="en-US" sz="2600" dirty="0"/>
          </a:p>
        </p:txBody>
      </p:sp>
      <p:sp>
        <p:nvSpPr>
          <p:cNvPr id="15" name="Text 13"/>
          <p:cNvSpPr/>
          <p:nvPr/>
        </p:nvSpPr>
        <p:spPr>
          <a:xfrm>
            <a:off x="5943600" y="2267712"/>
            <a:ext cx="2194560" cy="347472"/>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Elephants</a:t>
            </a:r>
            <a:endParaRPr lang="en-US" sz="850" dirty="0"/>
          </a:p>
        </p:txBody>
      </p:sp>
      <p:sp>
        <p:nvSpPr>
          <p:cNvPr id="16" name="Text 14"/>
          <p:cNvSpPr/>
          <p:nvPr/>
        </p:nvSpPr>
        <p:spPr>
          <a:xfrm>
            <a:off x="5852160" y="2926080"/>
            <a:ext cx="2377440" cy="292608"/>
          </a:xfrm>
          <a:prstGeom prst="rect">
            <a:avLst/>
          </a:prstGeom>
          <a:noFill/>
          <a:ln/>
        </p:spPr>
        <p:txBody>
          <a:bodyPr wrap="square" rtlCol="0" anchor="ctr"/>
          <a:lstStyle/>
          <a:p>
            <a:pPr marL="0" indent="0" algn="ctr">
              <a:buNone/>
            </a:pPr>
            <a:r>
              <a:rPr lang="en-US" sz="800" kern="0" spc="300" dirty="0">
                <a:solidFill>
                  <a:srgbClr val="B8963E"/>
                </a:solidFill>
                <a:latin typeface="Calibri" pitchFamily="34" charset="0"/>
                <a:ea typeface="Calibri" pitchFamily="34" charset="-122"/>
                <a:cs typeface="Calibri" pitchFamily="34" charset="-120"/>
              </a:rPr>
              <a:t>KEY WILDLIFE</a:t>
            </a:r>
            <a:endParaRPr lang="en-US" sz="800" dirty="0"/>
          </a:p>
        </p:txBody>
      </p:sp>
      <p:sp>
        <p:nvSpPr>
          <p:cNvPr id="17" name="Text 15"/>
          <p:cNvSpPr/>
          <p:nvPr/>
        </p:nvSpPr>
        <p:spPr>
          <a:xfrm>
            <a:off x="5852160" y="3291840"/>
            <a:ext cx="2377440" cy="320040"/>
          </a:xfrm>
          <a:prstGeom prst="rect">
            <a:avLst/>
          </a:prstGeom>
          <a:noFill/>
          <a:ln/>
        </p:spPr>
        <p:txBody>
          <a:bodyPr wrap="square" rtlCol="0" anchor="ctr"/>
          <a:lstStyle/>
          <a:p>
            <a:pPr marL="0" indent="0">
              <a:buNone/>
            </a:pPr>
            <a:r>
              <a:rPr lang="en-US" sz="950" dirty="0">
                <a:solidFill>
                  <a:srgbClr val="2A2A2A"/>
                </a:solidFill>
                <a:latin typeface="Calibri" pitchFamily="34" charset="0"/>
                <a:ea typeface="Calibri" pitchFamily="34" charset="-122"/>
                <a:cs typeface="Calibri" pitchFamily="34" charset="-120"/>
              </a:rPr>
              <a:t>▸  African Wild Dog</a:t>
            </a:r>
            <a:endParaRPr lang="en-US" sz="950" dirty="0"/>
          </a:p>
        </p:txBody>
      </p:sp>
      <p:sp>
        <p:nvSpPr>
          <p:cNvPr id="18" name="Text 16"/>
          <p:cNvSpPr/>
          <p:nvPr/>
        </p:nvSpPr>
        <p:spPr>
          <a:xfrm>
            <a:off x="5852160" y="3639312"/>
            <a:ext cx="2377440" cy="320040"/>
          </a:xfrm>
          <a:prstGeom prst="rect">
            <a:avLst/>
          </a:prstGeom>
          <a:noFill/>
          <a:ln/>
        </p:spPr>
        <p:txBody>
          <a:bodyPr wrap="square" rtlCol="0" anchor="ctr"/>
          <a:lstStyle/>
          <a:p>
            <a:pPr marL="0" indent="0">
              <a:buNone/>
            </a:pPr>
            <a:r>
              <a:rPr lang="en-US" sz="950" dirty="0">
                <a:solidFill>
                  <a:srgbClr val="2A2A2A"/>
                </a:solidFill>
                <a:latin typeface="Calibri" pitchFamily="34" charset="0"/>
                <a:ea typeface="Calibri" pitchFamily="34" charset="-122"/>
                <a:cs typeface="Calibri" pitchFamily="34" charset="-120"/>
              </a:rPr>
              <a:t>▸  Lion &amp; Leopard</a:t>
            </a:r>
            <a:endParaRPr lang="en-US" sz="950" dirty="0"/>
          </a:p>
        </p:txBody>
      </p:sp>
      <p:sp>
        <p:nvSpPr>
          <p:cNvPr id="19" name="Text 17"/>
          <p:cNvSpPr/>
          <p:nvPr/>
        </p:nvSpPr>
        <p:spPr>
          <a:xfrm>
            <a:off x="5852160" y="3986784"/>
            <a:ext cx="2377440" cy="320040"/>
          </a:xfrm>
          <a:prstGeom prst="rect">
            <a:avLst/>
          </a:prstGeom>
          <a:noFill/>
          <a:ln/>
        </p:spPr>
        <p:txBody>
          <a:bodyPr wrap="square" rtlCol="0" anchor="ctr"/>
          <a:lstStyle/>
          <a:p>
            <a:pPr marL="0" indent="0">
              <a:buNone/>
            </a:pPr>
            <a:r>
              <a:rPr lang="en-US" sz="950" dirty="0">
                <a:solidFill>
                  <a:srgbClr val="2A2A2A"/>
                </a:solidFill>
                <a:latin typeface="Calibri" pitchFamily="34" charset="0"/>
                <a:ea typeface="Calibri" pitchFamily="34" charset="-122"/>
                <a:cs typeface="Calibri" pitchFamily="34" charset="-120"/>
              </a:rPr>
              <a:t>▸  Sable Antelope</a:t>
            </a:r>
            <a:endParaRPr lang="en-US" sz="950" dirty="0"/>
          </a:p>
        </p:txBody>
      </p:sp>
      <p:sp>
        <p:nvSpPr>
          <p:cNvPr id="20" name="Text 18"/>
          <p:cNvSpPr/>
          <p:nvPr/>
        </p:nvSpPr>
        <p:spPr>
          <a:xfrm>
            <a:off x="5852160" y="4334256"/>
            <a:ext cx="2377440" cy="320040"/>
          </a:xfrm>
          <a:prstGeom prst="rect">
            <a:avLst/>
          </a:prstGeom>
          <a:noFill/>
          <a:ln/>
        </p:spPr>
        <p:txBody>
          <a:bodyPr wrap="square" rtlCol="0" anchor="ctr"/>
          <a:lstStyle/>
          <a:p>
            <a:pPr marL="0" indent="0">
              <a:buNone/>
            </a:pPr>
            <a:r>
              <a:rPr lang="en-US" sz="950" dirty="0">
                <a:solidFill>
                  <a:srgbClr val="2A2A2A"/>
                </a:solidFill>
                <a:latin typeface="Calibri" pitchFamily="34" charset="0"/>
                <a:ea typeface="Calibri" pitchFamily="34" charset="-122"/>
                <a:cs typeface="Calibri" pitchFamily="34" charset="-120"/>
              </a:rPr>
              <a:t>▸  Elephant</a:t>
            </a:r>
            <a:endParaRPr lang="en-US" sz="950" dirty="0"/>
          </a:p>
        </p:txBody>
      </p:sp>
      <p:sp>
        <p:nvSpPr>
          <p:cNvPr id="21" name="Text 19"/>
          <p:cNvSpPr/>
          <p:nvPr/>
        </p:nvSpPr>
        <p:spPr>
          <a:xfrm>
            <a:off x="5852160" y="4681728"/>
            <a:ext cx="2377440" cy="320040"/>
          </a:xfrm>
          <a:prstGeom prst="rect">
            <a:avLst/>
          </a:prstGeom>
          <a:noFill/>
          <a:ln/>
        </p:spPr>
        <p:txBody>
          <a:bodyPr wrap="square" rtlCol="0" anchor="ctr"/>
          <a:lstStyle/>
          <a:p>
            <a:pPr marL="0" indent="0">
              <a:buNone/>
            </a:pPr>
            <a:r>
              <a:rPr lang="en-US" sz="950" dirty="0">
                <a:solidFill>
                  <a:srgbClr val="2A2A2A"/>
                </a:solidFill>
                <a:latin typeface="Calibri" pitchFamily="34" charset="0"/>
                <a:ea typeface="Calibri" pitchFamily="34" charset="-122"/>
                <a:cs typeface="Calibri" pitchFamily="34" charset="-120"/>
              </a:rPr>
              <a:t>▸  Giraffe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365760" y="1463040"/>
            <a:ext cx="8412480" cy="1463040"/>
          </a:xfrm>
          <a:prstGeom prst="rect">
            <a:avLst/>
          </a:prstGeom>
          <a:noFill/>
          <a:ln/>
        </p:spPr>
        <p:txBody>
          <a:bodyPr wrap="square" rtlCol="0" anchor="ctr"/>
          <a:lstStyle/>
          <a:p>
            <a:pPr marL="0" indent="0" algn="l">
              <a:buNone/>
            </a:pPr>
            <a:r>
              <a:rPr lang="en-US" sz="5400" i="1" dirty="0">
                <a:latin typeface="Georgia" pitchFamily="34" charset="0"/>
                <a:ea typeface="Georgia" pitchFamily="34" charset="-122"/>
                <a:cs typeface="Georgia" pitchFamily="34" charset="-120"/>
              </a:rPr>
              <a:t>Experiences</a:t>
            </a:r>
            <a:endParaRPr lang="en-US" sz="5400" dirty="0"/>
          </a:p>
        </p:txBody>
      </p:sp>
      <p:sp>
        <p:nvSpPr>
          <p:cNvPr id="5" name="Shape 3"/>
          <p:cNvSpPr/>
          <p:nvPr/>
        </p:nvSpPr>
        <p:spPr>
          <a:xfrm>
            <a:off x="365760" y="3063240"/>
            <a:ext cx="3657600" cy="27432"/>
          </a:xfrm>
          <a:prstGeom prst="rect">
            <a:avLst/>
          </a:prstGeom>
          <a:solidFill>
            <a:srgbClr val="B8963E"/>
          </a:solidFill>
          <a:ln w="12700">
            <a:solidFill>
              <a:srgbClr val="B8963E"/>
            </a:solidFill>
            <a:prstDash val="solid"/>
          </a:ln>
        </p:spPr>
      </p:sp>
      <p:sp>
        <p:nvSpPr>
          <p:cNvPr id="6" name="Text 4"/>
          <p:cNvSpPr/>
          <p:nvPr/>
        </p:nvSpPr>
        <p:spPr>
          <a:xfrm>
            <a:off x="365760" y="3246120"/>
            <a:ext cx="8229600" cy="548640"/>
          </a:xfrm>
          <a:prstGeom prst="rect">
            <a:avLst/>
          </a:prstGeom>
          <a:noFill/>
          <a:ln/>
        </p:spPr>
        <p:txBody>
          <a:bodyPr wrap="square" rtlCol="0" anchor="ctr"/>
          <a:lstStyle/>
          <a:p>
            <a:pPr marL="0" indent="0" algn="l">
              <a:buNone/>
            </a:pPr>
            <a:r>
              <a:rPr lang="en-US" sz="1300" dirty="0">
                <a:solidFill>
                  <a:srgbClr val="AAAAAA"/>
                </a:solidFill>
                <a:latin typeface="Calibri" pitchFamily="34" charset="0"/>
                <a:ea typeface="Calibri" pitchFamily="34" charset="-122"/>
                <a:cs typeface="Calibri" pitchFamily="34" charset="-120"/>
              </a:rPr>
              <a:t>Choose your entry point into the extraordinary.</a:t>
            </a:r>
            <a:endParaRPr lang="en-US" sz="1300" dirty="0"/>
          </a:p>
        </p:txBody>
      </p:sp>
      <p:sp>
        <p:nvSpPr>
          <p:cNvPr id="8" name="TextBox 7">
            <a:extLst>
              <a:ext uri="{FF2B5EF4-FFF2-40B4-BE49-F238E27FC236}">
                <a16:creationId xmlns:a16="http://schemas.microsoft.com/office/drawing/2014/main" id="{4B1D2A51-32BC-6C39-C6E8-2E0B918AEDD3}"/>
              </a:ext>
            </a:extLst>
          </p:cNvPr>
          <p:cNvSpPr txBox="1"/>
          <p:nvPr/>
        </p:nvSpPr>
        <p:spPr>
          <a:xfrm>
            <a:off x="-1233311" y="1059753"/>
            <a:ext cx="457764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i="1" dirty="0">
                <a:solidFill>
                  <a:srgbClr val="B8963E"/>
                </a:solidFill>
                <a:latin typeface="Calibri" pitchFamily="34" charset="0"/>
                <a:cs typeface="Calibri" pitchFamily="34" charset="-120"/>
              </a:rPr>
              <a:t>HOME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56032"/>
            <a:ext cx="8229600" cy="347472"/>
          </a:xfrm>
          <a:prstGeom prst="rect">
            <a:avLst/>
          </a:prstGeom>
          <a:noFill/>
          <a:ln/>
        </p:spPr>
        <p:txBody>
          <a:bodyPr wrap="square" rtlCol="0" anchor="ctr"/>
          <a:lstStyle/>
          <a:p>
            <a:pPr marL="0" indent="0" algn="ctr">
              <a:buNone/>
            </a:pPr>
            <a:r>
              <a:rPr lang="en-US" sz="850" kern="0" spc="300" dirty="0">
                <a:solidFill>
                  <a:srgbClr val="B8963E"/>
                </a:solidFill>
                <a:latin typeface="Calibri" pitchFamily="34" charset="0"/>
                <a:ea typeface="Calibri" pitchFamily="34" charset="-122"/>
                <a:cs typeface="Calibri" pitchFamily="34" charset="-120"/>
              </a:rPr>
              <a:t>HOMR </a:t>
            </a:r>
          </a:p>
          <a:p>
            <a:pPr marL="0" indent="0" algn="ctr">
              <a:buNone/>
            </a:pPr>
            <a:r>
              <a:rPr lang="en-US" sz="850" kern="0" spc="300" dirty="0">
                <a:solidFill>
                  <a:srgbClr val="B8963E"/>
                </a:solidFill>
                <a:latin typeface="Calibri" pitchFamily="34" charset="0"/>
                <a:ea typeface="Calibri" pitchFamily="34" charset="-122"/>
                <a:cs typeface="Calibri" pitchFamily="34" charset="-120"/>
              </a:rPr>
              <a:t>EXPERIENCES  ·  OVERVIEW</a:t>
            </a:r>
            <a:endParaRPr lang="en-US" sz="850" dirty="0"/>
          </a:p>
        </p:txBody>
      </p:sp>
      <p:sp>
        <p:nvSpPr>
          <p:cNvPr id="3" name="Text 1"/>
          <p:cNvSpPr/>
          <p:nvPr/>
        </p:nvSpPr>
        <p:spPr>
          <a:xfrm>
            <a:off x="457200" y="658368"/>
            <a:ext cx="8229600" cy="914400"/>
          </a:xfrm>
          <a:prstGeom prst="rect">
            <a:avLst/>
          </a:prstGeom>
          <a:noFill/>
          <a:ln/>
        </p:spPr>
        <p:txBody>
          <a:bodyPr wrap="square" rtlCol="0" anchor="ctr"/>
          <a:lstStyle/>
          <a:p>
            <a:pPr marL="0" indent="0" algn="ctr">
              <a:buNone/>
            </a:pPr>
            <a:r>
              <a:rPr lang="en-US" sz="2600" i="1" dirty="0">
                <a:solidFill>
                  <a:srgbClr val="FFFFFF"/>
                </a:solidFill>
                <a:latin typeface="Georgia" pitchFamily="34" charset="0"/>
                <a:ea typeface="Georgia" pitchFamily="34" charset="-122"/>
                <a:cs typeface="Georgia" pitchFamily="34" charset="-120"/>
              </a:rPr>
              <a:t>Four ways to enter</a:t>
            </a:r>
            <a:endParaRPr lang="en-US" sz="2600" dirty="0"/>
          </a:p>
          <a:p>
            <a:pPr marL="0" indent="0" algn="ctr">
              <a:buNone/>
            </a:pPr>
            <a:r>
              <a:rPr lang="en-US" sz="2600" i="1" dirty="0">
                <a:solidFill>
                  <a:srgbClr val="FFFFFF"/>
                </a:solidFill>
                <a:latin typeface="Georgia" pitchFamily="34" charset="0"/>
                <a:ea typeface="Georgia" pitchFamily="34" charset="-122"/>
                <a:cs typeface="Georgia" pitchFamily="34" charset="-120"/>
              </a:rPr>
              <a:t>the extraordinary.</a:t>
            </a:r>
            <a:endParaRPr lang="en-US" sz="2600" dirty="0"/>
          </a:p>
        </p:txBody>
      </p:sp>
      <p:sp>
        <p:nvSpPr>
          <p:cNvPr id="4" name="Shape 2"/>
          <p:cNvSpPr/>
          <p:nvPr/>
        </p:nvSpPr>
        <p:spPr>
          <a:xfrm>
            <a:off x="256032" y="1783080"/>
            <a:ext cx="2029968" cy="3108960"/>
          </a:xfrm>
          <a:prstGeom prst="rect">
            <a:avLst/>
          </a:prstGeom>
          <a:solidFill>
            <a:srgbClr val="1A1A1A"/>
          </a:solidFill>
          <a:ln w="12700">
            <a:solidFill>
              <a:srgbClr val="1A1A1A"/>
            </a:solidFill>
            <a:prstDash val="solid"/>
          </a:ln>
        </p:spPr>
      </p:sp>
      <p:sp>
        <p:nvSpPr>
          <p:cNvPr id="5" name="Shape 3"/>
          <p:cNvSpPr/>
          <p:nvPr/>
        </p:nvSpPr>
        <p:spPr>
          <a:xfrm>
            <a:off x="256032" y="1783080"/>
            <a:ext cx="2029968" cy="54864"/>
          </a:xfrm>
          <a:prstGeom prst="rect">
            <a:avLst/>
          </a:prstGeom>
          <a:solidFill>
            <a:srgbClr val="B8963E"/>
          </a:solidFill>
          <a:ln w="12700">
            <a:solidFill>
              <a:srgbClr val="B8963E"/>
            </a:solidFill>
            <a:prstDash val="solid"/>
          </a:ln>
        </p:spPr>
      </p:sp>
      <p:sp>
        <p:nvSpPr>
          <p:cNvPr id="6" name="Text 4"/>
          <p:cNvSpPr/>
          <p:nvPr/>
        </p:nvSpPr>
        <p:spPr>
          <a:xfrm>
            <a:off x="365760" y="1920240"/>
            <a:ext cx="1810512" cy="274320"/>
          </a:xfrm>
          <a:prstGeom prst="rect">
            <a:avLst/>
          </a:prstGeom>
          <a:noFill/>
          <a:ln/>
        </p:spPr>
        <p:txBody>
          <a:bodyPr wrap="square" rtlCol="0" anchor="ctr"/>
          <a:lstStyle/>
          <a:p>
            <a:pPr marL="0" indent="0">
              <a:buNone/>
            </a:pPr>
            <a:r>
              <a:rPr lang="en-US" sz="750" b="1" kern="0" spc="300" dirty="0">
                <a:solidFill>
                  <a:srgbClr val="B8963E"/>
                </a:solidFill>
                <a:latin typeface="Calibri" pitchFamily="34" charset="0"/>
                <a:ea typeface="Calibri" pitchFamily="34" charset="-122"/>
                <a:cs typeface="Calibri" pitchFamily="34" charset="-120"/>
              </a:rPr>
              <a:t>WONDER</a:t>
            </a:r>
            <a:endParaRPr lang="en-US" sz="750" dirty="0"/>
          </a:p>
        </p:txBody>
      </p:sp>
      <p:sp>
        <p:nvSpPr>
          <p:cNvPr id="7" name="Text 5"/>
          <p:cNvSpPr/>
          <p:nvPr/>
        </p:nvSpPr>
        <p:spPr>
          <a:xfrm>
            <a:off x="365760" y="2212848"/>
            <a:ext cx="1810512" cy="71323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The Falls &amp;</a:t>
            </a:r>
            <a:endParaRPr lang="en-US" sz="1300" dirty="0"/>
          </a:p>
          <a:p>
            <a:pPr marL="0" indent="0">
              <a:buNone/>
            </a:pPr>
            <a:r>
              <a:rPr lang="en-US" sz="1300" dirty="0">
                <a:solidFill>
                  <a:srgbClr val="FFFFFF"/>
                </a:solidFill>
                <a:latin typeface="Georgia" pitchFamily="34" charset="0"/>
                <a:ea typeface="Georgia" pitchFamily="34" charset="-122"/>
                <a:cs typeface="Georgia" pitchFamily="34" charset="-120"/>
              </a:rPr>
              <a:t>Livingstone Island</a:t>
            </a:r>
            <a:endParaRPr lang="en-US" sz="1300" dirty="0"/>
          </a:p>
        </p:txBody>
      </p:sp>
      <p:sp>
        <p:nvSpPr>
          <p:cNvPr id="8" name="Shape 6"/>
          <p:cNvSpPr/>
          <p:nvPr/>
        </p:nvSpPr>
        <p:spPr>
          <a:xfrm>
            <a:off x="365760" y="2980944"/>
            <a:ext cx="1188720" cy="22860"/>
          </a:xfrm>
          <a:prstGeom prst="rect">
            <a:avLst/>
          </a:prstGeom>
          <a:solidFill>
            <a:srgbClr val="B8963E"/>
          </a:solidFill>
          <a:ln w="12700">
            <a:solidFill>
              <a:srgbClr val="B8963E"/>
            </a:solidFill>
            <a:prstDash val="solid"/>
          </a:ln>
        </p:spPr>
      </p:sp>
      <p:sp>
        <p:nvSpPr>
          <p:cNvPr id="9" name="Text 7"/>
          <p:cNvSpPr/>
          <p:nvPr/>
        </p:nvSpPr>
        <p:spPr>
          <a:xfrm>
            <a:off x="365760" y="3108960"/>
            <a:ext cx="1810512" cy="160020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A guided walk through the rainforest spray. A sunset on the Zambezi. Breakfast at the table set at the edge of the world.</a:t>
            </a:r>
            <a:endParaRPr lang="en-US" sz="900" dirty="0"/>
          </a:p>
        </p:txBody>
      </p:sp>
      <p:sp>
        <p:nvSpPr>
          <p:cNvPr id="10" name="Text 8"/>
          <p:cNvSpPr/>
          <p:nvPr/>
        </p:nvSpPr>
        <p:spPr>
          <a:xfrm>
            <a:off x="365760" y="4681728"/>
            <a:ext cx="1810512" cy="256032"/>
          </a:xfrm>
          <a:prstGeom prst="rect">
            <a:avLst/>
          </a:prstGeom>
          <a:noFill/>
          <a:ln/>
        </p:spPr>
        <p:txBody>
          <a:bodyPr wrap="square" rtlCol="0" anchor="ctr"/>
          <a:lstStyle/>
          <a:p>
            <a:pPr marL="0" indent="0">
              <a:buNone/>
            </a:pPr>
            <a:r>
              <a:rPr lang="en-US" sz="800" i="1" dirty="0">
                <a:solidFill>
                  <a:srgbClr val="B8963E"/>
                </a:solidFill>
                <a:latin typeface="Calibri" pitchFamily="34" charset="0"/>
                <a:ea typeface="Calibri" pitchFamily="34" charset="-122"/>
                <a:cs typeface="Calibri" pitchFamily="34" charset="-120"/>
              </a:rPr>
              <a:t>Explore →</a:t>
            </a:r>
            <a:endParaRPr lang="en-US" sz="800" dirty="0"/>
          </a:p>
        </p:txBody>
      </p:sp>
      <p:sp>
        <p:nvSpPr>
          <p:cNvPr id="11" name="Shape 9"/>
          <p:cNvSpPr/>
          <p:nvPr/>
        </p:nvSpPr>
        <p:spPr>
          <a:xfrm>
            <a:off x="2432304" y="1783080"/>
            <a:ext cx="2029968" cy="3108960"/>
          </a:xfrm>
          <a:prstGeom prst="rect">
            <a:avLst/>
          </a:prstGeom>
          <a:solidFill>
            <a:srgbClr val="1A1A1A"/>
          </a:solidFill>
          <a:ln w="12700">
            <a:solidFill>
              <a:srgbClr val="1A1A1A"/>
            </a:solidFill>
            <a:prstDash val="solid"/>
          </a:ln>
        </p:spPr>
      </p:sp>
      <p:sp>
        <p:nvSpPr>
          <p:cNvPr id="12" name="Shape 10"/>
          <p:cNvSpPr/>
          <p:nvPr/>
        </p:nvSpPr>
        <p:spPr>
          <a:xfrm>
            <a:off x="2432304" y="1783080"/>
            <a:ext cx="2029968" cy="54864"/>
          </a:xfrm>
          <a:prstGeom prst="rect">
            <a:avLst/>
          </a:prstGeom>
          <a:solidFill>
            <a:srgbClr val="B8963E"/>
          </a:solidFill>
          <a:ln w="12700">
            <a:solidFill>
              <a:srgbClr val="B8963E"/>
            </a:solidFill>
            <a:prstDash val="solid"/>
          </a:ln>
        </p:spPr>
      </p:sp>
      <p:sp>
        <p:nvSpPr>
          <p:cNvPr id="13" name="Text 11"/>
          <p:cNvSpPr/>
          <p:nvPr/>
        </p:nvSpPr>
        <p:spPr>
          <a:xfrm>
            <a:off x="2542032" y="1920240"/>
            <a:ext cx="1810512" cy="274320"/>
          </a:xfrm>
          <a:prstGeom prst="rect">
            <a:avLst/>
          </a:prstGeom>
          <a:noFill/>
          <a:ln/>
        </p:spPr>
        <p:txBody>
          <a:bodyPr wrap="square" rtlCol="0" anchor="ctr"/>
          <a:lstStyle/>
          <a:p>
            <a:pPr marL="0" indent="0">
              <a:buNone/>
            </a:pPr>
            <a:r>
              <a:rPr lang="en-US" sz="750" b="1" kern="0" spc="300" dirty="0">
                <a:solidFill>
                  <a:srgbClr val="B8963E"/>
                </a:solidFill>
                <a:latin typeface="Calibri" pitchFamily="34" charset="0"/>
                <a:ea typeface="Calibri" pitchFamily="34" charset="-122"/>
                <a:cs typeface="Calibri" pitchFamily="34" charset="-120"/>
              </a:rPr>
              <a:t>WILD</a:t>
            </a:r>
            <a:endParaRPr lang="en-US" sz="750" dirty="0"/>
          </a:p>
        </p:txBody>
      </p:sp>
      <p:sp>
        <p:nvSpPr>
          <p:cNvPr id="14" name="Text 12"/>
          <p:cNvSpPr/>
          <p:nvPr/>
        </p:nvSpPr>
        <p:spPr>
          <a:xfrm>
            <a:off x="2542032" y="2212848"/>
            <a:ext cx="1810512" cy="71323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Hwange &amp;</a:t>
            </a:r>
            <a:endParaRPr lang="en-US" sz="1300" dirty="0"/>
          </a:p>
          <a:p>
            <a:pPr marL="0" indent="0">
              <a:buNone/>
            </a:pPr>
            <a:r>
              <a:rPr lang="en-US" sz="1300" dirty="0">
                <a:solidFill>
                  <a:srgbClr val="FFFFFF"/>
                </a:solidFill>
                <a:latin typeface="Georgia" pitchFamily="34" charset="0"/>
                <a:ea typeface="Georgia" pitchFamily="34" charset="-122"/>
                <a:cs typeface="Georgia" pitchFamily="34" charset="-120"/>
              </a:rPr>
              <a:t>Chobe Safari</a:t>
            </a:r>
            <a:endParaRPr lang="en-US" sz="1300" dirty="0"/>
          </a:p>
        </p:txBody>
      </p:sp>
      <p:sp>
        <p:nvSpPr>
          <p:cNvPr id="15" name="Shape 13"/>
          <p:cNvSpPr/>
          <p:nvPr/>
        </p:nvSpPr>
        <p:spPr>
          <a:xfrm>
            <a:off x="2542032" y="2980944"/>
            <a:ext cx="1188720" cy="22860"/>
          </a:xfrm>
          <a:prstGeom prst="rect">
            <a:avLst/>
          </a:prstGeom>
          <a:solidFill>
            <a:srgbClr val="B8963E"/>
          </a:solidFill>
          <a:ln w="12700">
            <a:solidFill>
              <a:srgbClr val="B8963E"/>
            </a:solidFill>
            <a:prstDash val="solid"/>
          </a:ln>
        </p:spPr>
      </p:sp>
      <p:sp>
        <p:nvSpPr>
          <p:cNvPr id="16" name="Text 14"/>
          <p:cNvSpPr/>
          <p:nvPr/>
        </p:nvSpPr>
        <p:spPr>
          <a:xfrm>
            <a:off x="2542032" y="3108960"/>
            <a:ext cx="1810512" cy="160020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Private, unhurried, guided by people who have spent their lives reading this landscape. Dawn drives. Boat safaris. Patience always rewarded.</a:t>
            </a:r>
            <a:endParaRPr lang="en-US" sz="900" dirty="0"/>
          </a:p>
        </p:txBody>
      </p:sp>
      <p:sp>
        <p:nvSpPr>
          <p:cNvPr id="17" name="Text 15"/>
          <p:cNvSpPr/>
          <p:nvPr/>
        </p:nvSpPr>
        <p:spPr>
          <a:xfrm>
            <a:off x="2542032" y="4681728"/>
            <a:ext cx="1810512" cy="256032"/>
          </a:xfrm>
          <a:prstGeom prst="rect">
            <a:avLst/>
          </a:prstGeom>
          <a:noFill/>
          <a:ln/>
        </p:spPr>
        <p:txBody>
          <a:bodyPr wrap="square" rtlCol="0" anchor="ctr"/>
          <a:lstStyle/>
          <a:p>
            <a:pPr marL="0" indent="0">
              <a:buNone/>
            </a:pPr>
            <a:r>
              <a:rPr lang="en-US" sz="800" i="1" dirty="0">
                <a:solidFill>
                  <a:srgbClr val="B8963E"/>
                </a:solidFill>
                <a:latin typeface="Calibri" pitchFamily="34" charset="0"/>
                <a:ea typeface="Calibri" pitchFamily="34" charset="-122"/>
                <a:cs typeface="Calibri" pitchFamily="34" charset="-120"/>
              </a:rPr>
              <a:t>Explore →</a:t>
            </a:r>
            <a:endParaRPr lang="en-US" sz="800" dirty="0"/>
          </a:p>
        </p:txBody>
      </p:sp>
      <p:sp>
        <p:nvSpPr>
          <p:cNvPr id="18" name="Shape 16"/>
          <p:cNvSpPr/>
          <p:nvPr/>
        </p:nvSpPr>
        <p:spPr>
          <a:xfrm>
            <a:off x="4608576" y="1783080"/>
            <a:ext cx="2029968" cy="3108960"/>
          </a:xfrm>
          <a:prstGeom prst="rect">
            <a:avLst/>
          </a:prstGeom>
          <a:solidFill>
            <a:srgbClr val="1A1A1A"/>
          </a:solidFill>
          <a:ln w="12700">
            <a:solidFill>
              <a:srgbClr val="1A1A1A"/>
            </a:solidFill>
            <a:prstDash val="solid"/>
          </a:ln>
        </p:spPr>
      </p:sp>
      <p:sp>
        <p:nvSpPr>
          <p:cNvPr id="19" name="Shape 17"/>
          <p:cNvSpPr/>
          <p:nvPr/>
        </p:nvSpPr>
        <p:spPr>
          <a:xfrm>
            <a:off x="4608576" y="1783080"/>
            <a:ext cx="2029968" cy="54864"/>
          </a:xfrm>
          <a:prstGeom prst="rect">
            <a:avLst/>
          </a:prstGeom>
          <a:solidFill>
            <a:srgbClr val="B8963E"/>
          </a:solidFill>
          <a:ln w="12700">
            <a:solidFill>
              <a:srgbClr val="B8963E"/>
            </a:solidFill>
            <a:prstDash val="solid"/>
          </a:ln>
        </p:spPr>
      </p:sp>
      <p:sp>
        <p:nvSpPr>
          <p:cNvPr id="20" name="Text 18"/>
          <p:cNvSpPr/>
          <p:nvPr/>
        </p:nvSpPr>
        <p:spPr>
          <a:xfrm>
            <a:off x="4718304" y="1920240"/>
            <a:ext cx="1810512" cy="274320"/>
          </a:xfrm>
          <a:prstGeom prst="rect">
            <a:avLst/>
          </a:prstGeom>
          <a:noFill/>
          <a:ln/>
        </p:spPr>
        <p:txBody>
          <a:bodyPr wrap="square" rtlCol="0" anchor="ctr"/>
          <a:lstStyle/>
          <a:p>
            <a:pPr marL="0" indent="0">
              <a:buNone/>
            </a:pPr>
            <a:r>
              <a:rPr lang="en-US" sz="750" b="1" kern="0" spc="300" dirty="0">
                <a:solidFill>
                  <a:srgbClr val="B8963E"/>
                </a:solidFill>
                <a:latin typeface="Calibri" pitchFamily="34" charset="0"/>
                <a:ea typeface="Calibri" pitchFamily="34" charset="-122"/>
                <a:cs typeface="Calibri" pitchFamily="34" charset="-120"/>
              </a:rPr>
              <a:t>THRILL</a:t>
            </a:r>
            <a:endParaRPr lang="en-US" sz="750" dirty="0"/>
          </a:p>
        </p:txBody>
      </p:sp>
      <p:sp>
        <p:nvSpPr>
          <p:cNvPr id="21" name="Text 19"/>
          <p:cNvSpPr/>
          <p:nvPr/>
        </p:nvSpPr>
        <p:spPr>
          <a:xfrm>
            <a:off x="4718304" y="2212848"/>
            <a:ext cx="1810512" cy="71323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The Gorge</a:t>
            </a:r>
            <a:endParaRPr lang="en-US" sz="1300" dirty="0"/>
          </a:p>
          <a:p>
            <a:pPr marL="0" indent="0">
              <a:buNone/>
            </a:pPr>
            <a:r>
              <a:rPr lang="en-US" sz="1300" dirty="0">
                <a:solidFill>
                  <a:srgbClr val="FFFFFF"/>
                </a:solidFill>
                <a:latin typeface="Georgia" pitchFamily="34" charset="0"/>
                <a:ea typeface="Georgia" pitchFamily="34" charset="-122"/>
                <a:cs typeface="Georgia" pitchFamily="34" charset="-120"/>
              </a:rPr>
              <a:t>&amp; Rapids</a:t>
            </a:r>
            <a:endParaRPr lang="en-US" sz="1300" dirty="0"/>
          </a:p>
        </p:txBody>
      </p:sp>
      <p:sp>
        <p:nvSpPr>
          <p:cNvPr id="22" name="Shape 20"/>
          <p:cNvSpPr/>
          <p:nvPr/>
        </p:nvSpPr>
        <p:spPr>
          <a:xfrm>
            <a:off x="4718304" y="2980944"/>
            <a:ext cx="1188720" cy="22860"/>
          </a:xfrm>
          <a:prstGeom prst="rect">
            <a:avLst/>
          </a:prstGeom>
          <a:solidFill>
            <a:srgbClr val="B8963E"/>
          </a:solidFill>
          <a:ln w="12700">
            <a:solidFill>
              <a:srgbClr val="B8963E"/>
            </a:solidFill>
            <a:prstDash val="solid"/>
          </a:ln>
        </p:spPr>
      </p:sp>
      <p:sp>
        <p:nvSpPr>
          <p:cNvPr id="23" name="Text 21"/>
          <p:cNvSpPr/>
          <p:nvPr/>
        </p:nvSpPr>
        <p:spPr>
          <a:xfrm>
            <a:off x="4718304" y="3108960"/>
            <a:ext cx="1810512" cy="160020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Grade five white water. Bungee from the bridge. The gorge swing. The zipline. The microlight above it all.</a:t>
            </a:r>
            <a:endParaRPr lang="en-US" sz="900" dirty="0"/>
          </a:p>
        </p:txBody>
      </p:sp>
      <p:sp>
        <p:nvSpPr>
          <p:cNvPr id="24" name="Text 22"/>
          <p:cNvSpPr/>
          <p:nvPr/>
        </p:nvSpPr>
        <p:spPr>
          <a:xfrm>
            <a:off x="4718304" y="4681728"/>
            <a:ext cx="1810512" cy="256032"/>
          </a:xfrm>
          <a:prstGeom prst="rect">
            <a:avLst/>
          </a:prstGeom>
          <a:noFill/>
          <a:ln/>
        </p:spPr>
        <p:txBody>
          <a:bodyPr wrap="square" rtlCol="0" anchor="ctr"/>
          <a:lstStyle/>
          <a:p>
            <a:pPr marL="0" indent="0">
              <a:buNone/>
            </a:pPr>
            <a:r>
              <a:rPr lang="en-US" sz="800" i="1" dirty="0">
                <a:solidFill>
                  <a:srgbClr val="B8963E"/>
                </a:solidFill>
                <a:latin typeface="Calibri" pitchFamily="34" charset="0"/>
                <a:ea typeface="Calibri" pitchFamily="34" charset="-122"/>
                <a:cs typeface="Calibri" pitchFamily="34" charset="-120"/>
              </a:rPr>
              <a:t>Explore →</a:t>
            </a:r>
            <a:endParaRPr lang="en-US" sz="800" dirty="0"/>
          </a:p>
        </p:txBody>
      </p:sp>
      <p:sp>
        <p:nvSpPr>
          <p:cNvPr id="25" name="Shape 23"/>
          <p:cNvSpPr/>
          <p:nvPr/>
        </p:nvSpPr>
        <p:spPr>
          <a:xfrm>
            <a:off x="6784848" y="1783080"/>
            <a:ext cx="2029968" cy="3108960"/>
          </a:xfrm>
          <a:prstGeom prst="rect">
            <a:avLst/>
          </a:prstGeom>
          <a:solidFill>
            <a:srgbClr val="1A1A1A"/>
          </a:solidFill>
          <a:ln w="12700">
            <a:solidFill>
              <a:srgbClr val="1A1A1A"/>
            </a:solidFill>
            <a:prstDash val="solid"/>
          </a:ln>
        </p:spPr>
      </p:sp>
      <p:sp>
        <p:nvSpPr>
          <p:cNvPr id="26" name="Shape 24"/>
          <p:cNvSpPr/>
          <p:nvPr/>
        </p:nvSpPr>
        <p:spPr>
          <a:xfrm>
            <a:off x="6784848" y="1783080"/>
            <a:ext cx="2029968" cy="54864"/>
          </a:xfrm>
          <a:prstGeom prst="rect">
            <a:avLst/>
          </a:prstGeom>
          <a:solidFill>
            <a:srgbClr val="B8963E"/>
          </a:solidFill>
          <a:ln w="12700">
            <a:solidFill>
              <a:srgbClr val="B8963E"/>
            </a:solidFill>
            <a:prstDash val="solid"/>
          </a:ln>
        </p:spPr>
      </p:sp>
      <p:sp>
        <p:nvSpPr>
          <p:cNvPr id="27" name="Text 25"/>
          <p:cNvSpPr/>
          <p:nvPr/>
        </p:nvSpPr>
        <p:spPr>
          <a:xfrm>
            <a:off x="6894576" y="1920240"/>
            <a:ext cx="1810512" cy="274320"/>
          </a:xfrm>
          <a:prstGeom prst="rect">
            <a:avLst/>
          </a:prstGeom>
          <a:noFill/>
          <a:ln/>
        </p:spPr>
        <p:txBody>
          <a:bodyPr wrap="square" rtlCol="0" anchor="ctr"/>
          <a:lstStyle/>
          <a:p>
            <a:pPr marL="0" indent="0">
              <a:buNone/>
            </a:pPr>
            <a:r>
              <a:rPr lang="en-US" sz="750" b="1" kern="0" spc="300" dirty="0">
                <a:solidFill>
                  <a:srgbClr val="B8963E"/>
                </a:solidFill>
                <a:latin typeface="Calibri" pitchFamily="34" charset="0"/>
                <a:ea typeface="Calibri" pitchFamily="34" charset="-122"/>
                <a:cs typeface="Calibri" pitchFamily="34" charset="-120"/>
              </a:rPr>
              <a:t>CULTURE</a:t>
            </a:r>
            <a:endParaRPr lang="en-US" sz="750" dirty="0"/>
          </a:p>
        </p:txBody>
      </p:sp>
      <p:sp>
        <p:nvSpPr>
          <p:cNvPr id="28" name="Text 26"/>
          <p:cNvSpPr/>
          <p:nvPr/>
        </p:nvSpPr>
        <p:spPr>
          <a:xfrm>
            <a:off x="6894576" y="2212848"/>
            <a:ext cx="1810512" cy="713232"/>
          </a:xfrm>
          <a:prstGeom prst="rect">
            <a:avLst/>
          </a:prstGeom>
          <a:noFill/>
          <a:ln/>
        </p:spPr>
        <p:txBody>
          <a:bodyPr wrap="square" rtlCol="0" anchor="ctr"/>
          <a:lstStyle/>
          <a:p>
            <a:pPr marL="0" indent="0">
              <a:buNone/>
            </a:pPr>
            <a:r>
              <a:rPr lang="en-US" sz="1300" dirty="0">
                <a:solidFill>
                  <a:srgbClr val="FFFFFF"/>
                </a:solidFill>
                <a:latin typeface="Georgia" pitchFamily="34" charset="0"/>
                <a:ea typeface="Georgia" pitchFamily="34" charset="-122"/>
                <a:cs typeface="Georgia" pitchFamily="34" charset="-120"/>
              </a:rPr>
              <a:t>Fire, Story</a:t>
            </a:r>
            <a:endParaRPr lang="en-US" sz="1300" dirty="0"/>
          </a:p>
          <a:p>
            <a:pPr marL="0" indent="0">
              <a:buNone/>
            </a:pPr>
            <a:r>
              <a:rPr lang="en-US" sz="1300" dirty="0">
                <a:solidFill>
                  <a:srgbClr val="FFFFFF"/>
                </a:solidFill>
                <a:latin typeface="Georgia" pitchFamily="34" charset="0"/>
                <a:ea typeface="Georgia" pitchFamily="34" charset="-122"/>
                <a:cs typeface="Georgia" pitchFamily="34" charset="-120"/>
              </a:rPr>
              <a:t>&amp; Belonging</a:t>
            </a:r>
            <a:endParaRPr lang="en-US" sz="1300" dirty="0"/>
          </a:p>
        </p:txBody>
      </p:sp>
      <p:sp>
        <p:nvSpPr>
          <p:cNvPr id="29" name="Shape 27"/>
          <p:cNvSpPr/>
          <p:nvPr/>
        </p:nvSpPr>
        <p:spPr>
          <a:xfrm>
            <a:off x="6894576" y="2980944"/>
            <a:ext cx="1188720" cy="22860"/>
          </a:xfrm>
          <a:prstGeom prst="rect">
            <a:avLst/>
          </a:prstGeom>
          <a:solidFill>
            <a:srgbClr val="B8963E"/>
          </a:solidFill>
          <a:ln w="12700">
            <a:solidFill>
              <a:srgbClr val="B8963E"/>
            </a:solidFill>
            <a:prstDash val="solid"/>
          </a:ln>
        </p:spPr>
      </p:sp>
      <p:sp>
        <p:nvSpPr>
          <p:cNvPr id="30" name="Text 28"/>
          <p:cNvSpPr/>
          <p:nvPr/>
        </p:nvSpPr>
        <p:spPr>
          <a:xfrm>
            <a:off x="6894576" y="3108960"/>
            <a:ext cx="1810512" cy="1600200"/>
          </a:xfrm>
          <a:prstGeom prst="rect">
            <a:avLst/>
          </a:prstGeom>
          <a:noFill/>
          <a:ln/>
        </p:spPr>
        <p:txBody>
          <a:bodyPr wrap="square" rtlCol="0" anchor="ctr"/>
          <a:lstStyle/>
          <a:p>
            <a:pPr marL="0" indent="0">
              <a:buNone/>
            </a:pPr>
            <a:r>
              <a:rPr lang="en-US" sz="900" dirty="0">
                <a:solidFill>
                  <a:srgbClr val="BBBBBB"/>
                </a:solidFill>
                <a:latin typeface="Calibri" pitchFamily="34" charset="0"/>
                <a:ea typeface="Calibri" pitchFamily="34" charset="-122"/>
                <a:cs typeface="Calibri" pitchFamily="34" charset="-120"/>
              </a:rPr>
              <a:t> An evening at the boma. Stories told the way they were always meant to be told — slowly, in the dark.</a:t>
            </a:r>
            <a:endParaRPr lang="en-US" sz="900" dirty="0"/>
          </a:p>
        </p:txBody>
      </p:sp>
      <p:sp>
        <p:nvSpPr>
          <p:cNvPr id="31" name="Text 29"/>
          <p:cNvSpPr/>
          <p:nvPr/>
        </p:nvSpPr>
        <p:spPr>
          <a:xfrm>
            <a:off x="6894576" y="4681728"/>
            <a:ext cx="1810512" cy="256032"/>
          </a:xfrm>
          <a:prstGeom prst="rect">
            <a:avLst/>
          </a:prstGeom>
          <a:noFill/>
          <a:ln/>
        </p:spPr>
        <p:txBody>
          <a:bodyPr wrap="square" rtlCol="0" anchor="ctr"/>
          <a:lstStyle/>
          <a:p>
            <a:pPr marL="0" indent="0">
              <a:buNone/>
            </a:pPr>
            <a:r>
              <a:rPr lang="en-US" sz="800" i="1" dirty="0">
                <a:solidFill>
                  <a:srgbClr val="B8963E"/>
                </a:solidFill>
                <a:latin typeface="Calibri" pitchFamily="34" charset="0"/>
                <a:ea typeface="Calibri" pitchFamily="34" charset="-122"/>
                <a:cs typeface="Calibri" pitchFamily="34" charset="-120"/>
              </a:rPr>
              <a:t>Explore →</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Text 1"/>
          <p:cNvSpPr/>
          <p:nvPr/>
        </p:nvSpPr>
        <p:spPr>
          <a:xfrm>
            <a:off x="274320" y="256032"/>
            <a:ext cx="859536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EXPERIENCES  ·  WONDER</a:t>
            </a:r>
            <a:endParaRPr lang="en-US" sz="800" dirty="0"/>
          </a:p>
        </p:txBody>
      </p:sp>
      <p:sp>
        <p:nvSpPr>
          <p:cNvPr id="4" name="Text 2"/>
          <p:cNvSpPr/>
          <p:nvPr/>
        </p:nvSpPr>
        <p:spPr>
          <a:xfrm>
            <a:off x="274320" y="640080"/>
            <a:ext cx="5486400" cy="914400"/>
          </a:xfrm>
          <a:prstGeom prst="rect">
            <a:avLst/>
          </a:prstGeom>
          <a:noFill/>
          <a:ln/>
        </p:spPr>
        <p:txBody>
          <a:bodyPr wrap="square" rtlCol="0" anchor="ctr"/>
          <a:lstStyle/>
          <a:p>
            <a:pPr marL="0" indent="0" algn="l">
              <a:buNone/>
            </a:pPr>
            <a:r>
              <a:rPr lang="en-US" sz="3000" i="1" dirty="0">
                <a:solidFill>
                  <a:srgbClr val="FFFFFF"/>
                </a:solidFill>
                <a:latin typeface="Georgia" pitchFamily="34" charset="0"/>
                <a:ea typeface="Georgia" pitchFamily="34" charset="-122"/>
                <a:cs typeface="Georgia" pitchFamily="34" charset="-120"/>
              </a:rPr>
              <a:t>The Falls &amp;</a:t>
            </a:r>
            <a:endParaRPr lang="en-US" sz="3000" dirty="0"/>
          </a:p>
          <a:p>
            <a:pPr marL="0" indent="0" algn="l">
              <a:buNone/>
            </a:pPr>
            <a:r>
              <a:rPr lang="en-US" sz="3000" i="1" dirty="0">
                <a:latin typeface="Georgia" pitchFamily="34" charset="0"/>
                <a:ea typeface="Georgia" pitchFamily="34" charset="-122"/>
                <a:cs typeface="Georgia" pitchFamily="34" charset="-120"/>
              </a:rPr>
              <a:t>Livingstone Island</a:t>
            </a:r>
            <a:endParaRPr lang="en-US" sz="3000" dirty="0"/>
          </a:p>
        </p:txBody>
      </p:sp>
      <p:sp>
        <p:nvSpPr>
          <p:cNvPr id="5" name="Shape 3"/>
          <p:cNvSpPr/>
          <p:nvPr/>
        </p:nvSpPr>
        <p:spPr>
          <a:xfrm>
            <a:off x="274320" y="1627632"/>
            <a:ext cx="3200400" cy="27432"/>
          </a:xfrm>
          <a:prstGeom prst="rect">
            <a:avLst/>
          </a:prstGeom>
          <a:solidFill>
            <a:srgbClr val="B8963E"/>
          </a:solidFill>
          <a:ln w="12700">
            <a:solidFill>
              <a:srgbClr val="B8963E"/>
            </a:solidFill>
            <a:prstDash val="solid"/>
          </a:ln>
        </p:spPr>
      </p:sp>
      <p:sp>
        <p:nvSpPr>
          <p:cNvPr id="6" name="Text 4"/>
          <p:cNvSpPr/>
          <p:nvPr/>
        </p:nvSpPr>
        <p:spPr>
          <a:xfrm>
            <a:off x="274320" y="1783080"/>
            <a:ext cx="5303520" cy="3063240"/>
          </a:xfrm>
          <a:prstGeom prst="rect">
            <a:avLst/>
          </a:prstGeom>
          <a:noFill/>
          <a:ln/>
        </p:spPr>
        <p:txBody>
          <a:bodyPr wrap="square" rtlCol="0" anchor="ctr"/>
          <a:lstStyle/>
          <a:p>
            <a:pPr marL="0" indent="0" algn="l">
              <a:buNone/>
            </a:pPr>
            <a:r>
              <a:rPr lang="en-US" sz="1100" dirty="0">
                <a:latin typeface="Calibri" pitchFamily="34" charset="0"/>
                <a:ea typeface="Calibri" pitchFamily="34" charset="-122"/>
                <a:cs typeface="Calibri" pitchFamily="34" charset="-120"/>
              </a:rPr>
              <a:t>There are places on this earth that exist beyond the reach of language. Victoria Falls is one of them.</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One thousand seven hundred metres wide. One hundred and eight metres tall. Five hundred million litres of water per minute at peak flow. The statistics do not help. Nothing prepares you for the moment the sound finds you through the trees, and then the mist, and then suddenly the whole violent, gorgeous, overwhelming reality of it.</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A guided walk through the rainforest spray. A sunset on the Zambezi upstream, where the water is still and the hippos surface slowly in the golden light. And for those who are ready — a boat across the channel to Livingstone Island. Breakfast at the table set at the edge of the world. The Devil's Pool, where the water pools impossibly at the lip of the cascade.</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TWT facilitates Livingstone Island access as part of curated journeys. Seasonal availability applies.</a:t>
            </a:r>
            <a:endParaRPr lang="en-US" sz="1100" dirty="0"/>
          </a:p>
        </p:txBody>
      </p:sp>
      <p:sp>
        <p:nvSpPr>
          <p:cNvPr id="7" name="Shape 5"/>
          <p:cNvSpPr/>
          <p:nvPr/>
        </p:nvSpPr>
        <p:spPr>
          <a:xfrm>
            <a:off x="5852160" y="365760"/>
            <a:ext cx="2971800" cy="1417320"/>
          </a:xfrm>
          <a:prstGeom prst="rect">
            <a:avLst/>
          </a:prstGeom>
          <a:solidFill>
            <a:srgbClr val="1A1A1A"/>
          </a:solidFill>
          <a:ln w="12700">
            <a:solidFill>
              <a:srgbClr val="1A1A1A"/>
            </a:solidFill>
            <a:prstDash val="solid"/>
          </a:ln>
        </p:spPr>
      </p:sp>
      <p:sp>
        <p:nvSpPr>
          <p:cNvPr id="8" name="Shape 6"/>
          <p:cNvSpPr/>
          <p:nvPr/>
        </p:nvSpPr>
        <p:spPr>
          <a:xfrm>
            <a:off x="5852160" y="365760"/>
            <a:ext cx="2971800" cy="45720"/>
          </a:xfrm>
          <a:prstGeom prst="rect">
            <a:avLst/>
          </a:prstGeom>
          <a:solidFill>
            <a:srgbClr val="B8963E"/>
          </a:solidFill>
          <a:ln w="12700">
            <a:solidFill>
              <a:srgbClr val="B8963E"/>
            </a:solidFill>
            <a:prstDash val="solid"/>
          </a:ln>
        </p:spPr>
      </p:sp>
      <p:sp>
        <p:nvSpPr>
          <p:cNvPr id="9" name="Text 7"/>
          <p:cNvSpPr/>
          <p:nvPr/>
        </p:nvSpPr>
        <p:spPr>
          <a:xfrm>
            <a:off x="5852160" y="47548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0" name="Text 8"/>
          <p:cNvSpPr/>
          <p:nvPr/>
        </p:nvSpPr>
        <p:spPr>
          <a:xfrm>
            <a:off x="5961888" y="86868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Guided Rainforest Walk</a:t>
            </a:r>
            <a:endParaRPr lang="en-US" sz="1200" dirty="0"/>
          </a:p>
        </p:txBody>
      </p:sp>
      <p:sp>
        <p:nvSpPr>
          <p:cNvPr id="11" name="Text 9"/>
          <p:cNvSpPr/>
          <p:nvPr/>
        </p:nvSpPr>
        <p:spPr>
          <a:xfrm>
            <a:off x="5961888" y="1280160"/>
            <a:ext cx="275234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Through the spray of the Falls, into the rainforest sustained by the mist.</a:t>
            </a:r>
            <a:endParaRPr lang="en-US" sz="900" dirty="0"/>
          </a:p>
        </p:txBody>
      </p:sp>
      <p:sp>
        <p:nvSpPr>
          <p:cNvPr id="12" name="Shape 10"/>
          <p:cNvSpPr/>
          <p:nvPr/>
        </p:nvSpPr>
        <p:spPr>
          <a:xfrm>
            <a:off x="5852160" y="1920240"/>
            <a:ext cx="2971800" cy="1417320"/>
          </a:xfrm>
          <a:prstGeom prst="rect">
            <a:avLst/>
          </a:prstGeom>
          <a:solidFill>
            <a:srgbClr val="1A1A1A"/>
          </a:solidFill>
          <a:ln w="12700">
            <a:solidFill>
              <a:srgbClr val="1A1A1A"/>
            </a:solidFill>
            <a:prstDash val="solid"/>
          </a:ln>
        </p:spPr>
      </p:sp>
      <p:sp>
        <p:nvSpPr>
          <p:cNvPr id="13" name="Shape 11"/>
          <p:cNvSpPr/>
          <p:nvPr/>
        </p:nvSpPr>
        <p:spPr>
          <a:xfrm>
            <a:off x="5852160" y="1920240"/>
            <a:ext cx="2971800" cy="45720"/>
          </a:xfrm>
          <a:prstGeom prst="rect">
            <a:avLst/>
          </a:prstGeom>
          <a:solidFill>
            <a:srgbClr val="B8963E"/>
          </a:solidFill>
          <a:ln w="12700">
            <a:solidFill>
              <a:srgbClr val="B8963E"/>
            </a:solidFill>
            <a:prstDash val="solid"/>
          </a:ln>
        </p:spPr>
      </p:sp>
      <p:sp>
        <p:nvSpPr>
          <p:cNvPr id="14" name="Text 12"/>
          <p:cNvSpPr/>
          <p:nvPr/>
        </p:nvSpPr>
        <p:spPr>
          <a:xfrm>
            <a:off x="5852160" y="202996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5" name="Text 13"/>
          <p:cNvSpPr/>
          <p:nvPr/>
        </p:nvSpPr>
        <p:spPr>
          <a:xfrm>
            <a:off x="5961888" y="242316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Livingstone Island</a:t>
            </a:r>
            <a:endParaRPr lang="en-US" sz="1200" dirty="0"/>
          </a:p>
        </p:txBody>
      </p:sp>
      <p:sp>
        <p:nvSpPr>
          <p:cNvPr id="16" name="Text 14"/>
          <p:cNvSpPr/>
          <p:nvPr/>
        </p:nvSpPr>
        <p:spPr>
          <a:xfrm>
            <a:off x="5961888" y="2834640"/>
            <a:ext cx="275234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Boat access. Devil's Pool in season. Breakfast at the edge of the cascade.</a:t>
            </a:r>
            <a:endParaRPr lang="en-US" sz="900" dirty="0"/>
          </a:p>
        </p:txBody>
      </p:sp>
      <p:sp>
        <p:nvSpPr>
          <p:cNvPr id="17" name="Shape 15"/>
          <p:cNvSpPr/>
          <p:nvPr/>
        </p:nvSpPr>
        <p:spPr>
          <a:xfrm>
            <a:off x="5852160" y="3474720"/>
            <a:ext cx="2971800" cy="1371600"/>
          </a:xfrm>
          <a:prstGeom prst="rect">
            <a:avLst/>
          </a:prstGeom>
          <a:solidFill>
            <a:srgbClr val="1A1A1A"/>
          </a:solidFill>
          <a:ln w="12700">
            <a:solidFill>
              <a:srgbClr val="1A1A1A"/>
            </a:solidFill>
            <a:prstDash val="solid"/>
          </a:ln>
        </p:spPr>
      </p:sp>
      <p:sp>
        <p:nvSpPr>
          <p:cNvPr id="18" name="Shape 16"/>
          <p:cNvSpPr/>
          <p:nvPr/>
        </p:nvSpPr>
        <p:spPr>
          <a:xfrm>
            <a:off x="5852160" y="3474720"/>
            <a:ext cx="2971800" cy="45720"/>
          </a:xfrm>
          <a:prstGeom prst="rect">
            <a:avLst/>
          </a:prstGeom>
          <a:solidFill>
            <a:srgbClr val="B8963E"/>
          </a:solidFill>
          <a:ln w="12700">
            <a:solidFill>
              <a:srgbClr val="B8963E"/>
            </a:solidFill>
            <a:prstDash val="solid"/>
          </a:ln>
        </p:spPr>
      </p:sp>
      <p:sp>
        <p:nvSpPr>
          <p:cNvPr id="19" name="Text 17"/>
          <p:cNvSpPr/>
          <p:nvPr/>
        </p:nvSpPr>
        <p:spPr>
          <a:xfrm>
            <a:off x="5852160" y="358444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20" name="Text 18"/>
          <p:cNvSpPr/>
          <p:nvPr/>
        </p:nvSpPr>
        <p:spPr>
          <a:xfrm>
            <a:off x="5961888" y="397764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Zambezi Sunset Cruise</a:t>
            </a:r>
            <a:endParaRPr lang="en-US" sz="1200" dirty="0"/>
          </a:p>
        </p:txBody>
      </p:sp>
      <p:sp>
        <p:nvSpPr>
          <p:cNvPr id="21" name="Text 19"/>
          <p:cNvSpPr/>
          <p:nvPr/>
        </p:nvSpPr>
        <p:spPr>
          <a:xfrm>
            <a:off x="5961888" y="4389120"/>
            <a:ext cx="2752344" cy="32004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The water still. Hippos surfacing slowly. The light long and golden.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0"/>
            <a:ext cx="54864" cy="5143500"/>
          </a:xfrm>
          <a:prstGeom prst="rect">
            <a:avLst/>
          </a:prstGeom>
          <a:solidFill>
            <a:srgbClr val="0D0D0D"/>
          </a:solidFill>
          <a:ln w="12700">
            <a:solidFill>
              <a:srgbClr val="0D0D0D"/>
            </a:solidFill>
            <a:prstDash val="solid"/>
          </a:ln>
        </p:spPr>
      </p:sp>
      <p:sp>
        <p:nvSpPr>
          <p:cNvPr id="4" name="Text 2"/>
          <p:cNvSpPr/>
          <p:nvPr/>
        </p:nvSpPr>
        <p:spPr>
          <a:xfrm>
            <a:off x="228600" y="228600"/>
            <a:ext cx="868680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EXPERIENCES  ·  WILD</a:t>
            </a:r>
            <a:endParaRPr lang="en-US" sz="800" dirty="0"/>
          </a:p>
        </p:txBody>
      </p:sp>
      <p:sp>
        <p:nvSpPr>
          <p:cNvPr id="5" name="Text 3"/>
          <p:cNvSpPr/>
          <p:nvPr/>
        </p:nvSpPr>
        <p:spPr>
          <a:xfrm>
            <a:off x="228600" y="594360"/>
            <a:ext cx="5943600" cy="914400"/>
          </a:xfrm>
          <a:prstGeom prst="rect">
            <a:avLst/>
          </a:prstGeom>
          <a:noFill/>
          <a:ln/>
        </p:spPr>
        <p:txBody>
          <a:bodyPr wrap="square" rtlCol="0" anchor="ctr"/>
          <a:lstStyle/>
          <a:p>
            <a:pPr marL="0" indent="0">
              <a:buNone/>
            </a:pPr>
            <a:r>
              <a:rPr lang="en-US" sz="3000" i="1" dirty="0">
                <a:solidFill>
                  <a:srgbClr val="0D0D0D"/>
                </a:solidFill>
                <a:latin typeface="Georgia" pitchFamily="34" charset="0"/>
                <a:ea typeface="Georgia" pitchFamily="34" charset="-122"/>
                <a:cs typeface="Georgia" pitchFamily="34" charset="-120"/>
              </a:rPr>
              <a:t>Hwange &amp;</a:t>
            </a:r>
            <a:endParaRPr lang="en-US" sz="3000" dirty="0"/>
          </a:p>
          <a:p>
            <a:pPr marL="0" indent="0">
              <a:buNone/>
            </a:pPr>
            <a:r>
              <a:rPr lang="en-US" sz="3000" i="1" dirty="0">
                <a:solidFill>
                  <a:srgbClr val="0D0D0D"/>
                </a:solidFill>
                <a:latin typeface="Georgia" pitchFamily="34" charset="0"/>
                <a:ea typeface="Georgia" pitchFamily="34" charset="-122"/>
                <a:cs typeface="Georgia" pitchFamily="34" charset="-120"/>
              </a:rPr>
              <a:t>Chobe Safari</a:t>
            </a:r>
            <a:endParaRPr lang="en-US" sz="3000" dirty="0"/>
          </a:p>
        </p:txBody>
      </p:sp>
      <p:sp>
        <p:nvSpPr>
          <p:cNvPr id="6" name="Shape 4"/>
          <p:cNvSpPr/>
          <p:nvPr/>
        </p:nvSpPr>
        <p:spPr>
          <a:xfrm>
            <a:off x="228600" y="1581912"/>
            <a:ext cx="3200400" cy="27432"/>
          </a:xfrm>
          <a:prstGeom prst="rect">
            <a:avLst/>
          </a:prstGeom>
          <a:solidFill>
            <a:srgbClr val="B8963E"/>
          </a:solidFill>
          <a:ln w="12700">
            <a:solidFill>
              <a:srgbClr val="B8963E"/>
            </a:solidFill>
            <a:prstDash val="solid"/>
          </a:ln>
        </p:spPr>
      </p:sp>
      <p:sp>
        <p:nvSpPr>
          <p:cNvPr id="7" name="Text 5"/>
          <p:cNvSpPr/>
          <p:nvPr/>
        </p:nvSpPr>
        <p:spPr>
          <a:xfrm>
            <a:off x="228600" y="1737360"/>
            <a:ext cx="5394960" cy="310896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The bush does not reveal itself to those in a hurry.</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A TWT safari is private, unhurried, and guided by people who have spent their lives reading this landscape. We know where the wild dogs denned last season. We know which pan the elephant matriarch prefers at midday. We know when to stop the vehicle and wait, and when the waiting becomes something worth remembering forever.</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In Hwange, game drives at dawn and dusk when the light is extraordinary and the animals are moving. Walking safaris for those who want to feel the ground beneath their feet and understand the bush at human scale. At the pans, a patience that is always rewarded.</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In Chobe, a boat on the river as the afternoon softens. The world's largest elephant population coming to drink. Buffalo. Hippo. Crocodile. Fish eagle. The kind of abundance that makes you feel you have arrived somewhere fundamental.</a:t>
            </a:r>
            <a:endParaRPr lang="en-US" sz="1100" dirty="0"/>
          </a:p>
        </p:txBody>
      </p:sp>
      <p:sp>
        <p:nvSpPr>
          <p:cNvPr id="8" name="Shape 6"/>
          <p:cNvSpPr/>
          <p:nvPr/>
        </p:nvSpPr>
        <p:spPr>
          <a:xfrm>
            <a:off x="5852160" y="365760"/>
            <a:ext cx="2971800" cy="1417320"/>
          </a:xfrm>
          <a:prstGeom prst="rect">
            <a:avLst/>
          </a:prstGeom>
          <a:solidFill>
            <a:srgbClr val="1A1A1A"/>
          </a:solidFill>
          <a:ln w="12700">
            <a:solidFill>
              <a:srgbClr val="1A1A1A"/>
            </a:solidFill>
            <a:prstDash val="solid"/>
          </a:ln>
        </p:spPr>
      </p:sp>
      <p:sp>
        <p:nvSpPr>
          <p:cNvPr id="9" name="Shape 7"/>
          <p:cNvSpPr/>
          <p:nvPr/>
        </p:nvSpPr>
        <p:spPr>
          <a:xfrm>
            <a:off x="5852160" y="365760"/>
            <a:ext cx="2971800" cy="45720"/>
          </a:xfrm>
          <a:prstGeom prst="rect">
            <a:avLst/>
          </a:prstGeom>
          <a:solidFill>
            <a:srgbClr val="B8963E"/>
          </a:solidFill>
          <a:ln w="12700">
            <a:solidFill>
              <a:srgbClr val="B8963E"/>
            </a:solidFill>
            <a:prstDash val="solid"/>
          </a:ln>
        </p:spPr>
      </p:sp>
      <p:sp>
        <p:nvSpPr>
          <p:cNvPr id="10" name="Text 8"/>
          <p:cNvSpPr/>
          <p:nvPr/>
        </p:nvSpPr>
        <p:spPr>
          <a:xfrm>
            <a:off x="5852160" y="47548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1" name="Text 9"/>
          <p:cNvSpPr/>
          <p:nvPr/>
        </p:nvSpPr>
        <p:spPr>
          <a:xfrm>
            <a:off x="5961888" y="86868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Game Drives</a:t>
            </a:r>
            <a:endParaRPr lang="en-US" sz="1200" dirty="0"/>
          </a:p>
        </p:txBody>
      </p:sp>
      <p:sp>
        <p:nvSpPr>
          <p:cNvPr id="12" name="Text 10"/>
          <p:cNvSpPr/>
          <p:nvPr/>
        </p:nvSpPr>
        <p:spPr>
          <a:xfrm>
            <a:off x="5961888" y="1280160"/>
            <a:ext cx="275234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Dawn and dusk. Private vehicle. Your guide. The landscape on its own terms.</a:t>
            </a:r>
            <a:endParaRPr lang="en-US" sz="900" dirty="0"/>
          </a:p>
        </p:txBody>
      </p:sp>
      <p:sp>
        <p:nvSpPr>
          <p:cNvPr id="13" name="Shape 11"/>
          <p:cNvSpPr/>
          <p:nvPr/>
        </p:nvSpPr>
        <p:spPr>
          <a:xfrm>
            <a:off x="5852160" y="1920240"/>
            <a:ext cx="2971800" cy="1417320"/>
          </a:xfrm>
          <a:prstGeom prst="rect">
            <a:avLst/>
          </a:prstGeom>
          <a:solidFill>
            <a:srgbClr val="1A1A1A"/>
          </a:solidFill>
          <a:ln w="12700">
            <a:solidFill>
              <a:srgbClr val="1A1A1A"/>
            </a:solidFill>
            <a:prstDash val="solid"/>
          </a:ln>
        </p:spPr>
      </p:sp>
      <p:sp>
        <p:nvSpPr>
          <p:cNvPr id="14" name="Shape 12"/>
          <p:cNvSpPr/>
          <p:nvPr/>
        </p:nvSpPr>
        <p:spPr>
          <a:xfrm>
            <a:off x="5852160" y="1920240"/>
            <a:ext cx="2971800" cy="45720"/>
          </a:xfrm>
          <a:prstGeom prst="rect">
            <a:avLst/>
          </a:prstGeom>
          <a:solidFill>
            <a:srgbClr val="B8963E"/>
          </a:solidFill>
          <a:ln w="12700">
            <a:solidFill>
              <a:srgbClr val="B8963E"/>
            </a:solidFill>
            <a:prstDash val="solid"/>
          </a:ln>
        </p:spPr>
      </p:sp>
      <p:sp>
        <p:nvSpPr>
          <p:cNvPr id="15" name="Text 13"/>
          <p:cNvSpPr/>
          <p:nvPr/>
        </p:nvSpPr>
        <p:spPr>
          <a:xfrm>
            <a:off x="5852160" y="202996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6" name="Text 14"/>
          <p:cNvSpPr/>
          <p:nvPr/>
        </p:nvSpPr>
        <p:spPr>
          <a:xfrm>
            <a:off x="5961888" y="242316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Walking Safaris</a:t>
            </a:r>
            <a:endParaRPr lang="en-US" sz="1200" dirty="0"/>
          </a:p>
        </p:txBody>
      </p:sp>
      <p:sp>
        <p:nvSpPr>
          <p:cNvPr id="17" name="Text 15"/>
          <p:cNvSpPr/>
          <p:nvPr/>
        </p:nvSpPr>
        <p:spPr>
          <a:xfrm>
            <a:off x="5961888" y="2834640"/>
            <a:ext cx="275234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Feel the ground. Read the tracks. Understand the bush at human scale.</a:t>
            </a:r>
            <a:endParaRPr lang="en-US" sz="900" dirty="0"/>
          </a:p>
        </p:txBody>
      </p:sp>
      <p:sp>
        <p:nvSpPr>
          <p:cNvPr id="18" name="Shape 16"/>
          <p:cNvSpPr/>
          <p:nvPr/>
        </p:nvSpPr>
        <p:spPr>
          <a:xfrm>
            <a:off x="5852160" y="3474720"/>
            <a:ext cx="2971800" cy="1371600"/>
          </a:xfrm>
          <a:prstGeom prst="rect">
            <a:avLst/>
          </a:prstGeom>
          <a:solidFill>
            <a:srgbClr val="1A1A1A"/>
          </a:solidFill>
          <a:ln w="12700">
            <a:solidFill>
              <a:srgbClr val="1A1A1A"/>
            </a:solidFill>
            <a:prstDash val="solid"/>
          </a:ln>
        </p:spPr>
      </p:sp>
      <p:sp>
        <p:nvSpPr>
          <p:cNvPr id="19" name="Shape 17"/>
          <p:cNvSpPr/>
          <p:nvPr/>
        </p:nvSpPr>
        <p:spPr>
          <a:xfrm>
            <a:off x="5852160" y="3474720"/>
            <a:ext cx="2971800" cy="45720"/>
          </a:xfrm>
          <a:prstGeom prst="rect">
            <a:avLst/>
          </a:prstGeom>
          <a:solidFill>
            <a:srgbClr val="B8963E"/>
          </a:solidFill>
          <a:ln w="12700">
            <a:solidFill>
              <a:srgbClr val="B8963E"/>
            </a:solidFill>
            <a:prstDash val="solid"/>
          </a:ln>
        </p:spPr>
      </p:sp>
      <p:sp>
        <p:nvSpPr>
          <p:cNvPr id="20" name="Text 18"/>
          <p:cNvSpPr/>
          <p:nvPr/>
        </p:nvSpPr>
        <p:spPr>
          <a:xfrm>
            <a:off x="5852160" y="358444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21" name="Text 19"/>
          <p:cNvSpPr/>
          <p:nvPr/>
        </p:nvSpPr>
        <p:spPr>
          <a:xfrm>
            <a:off x="5961888" y="397764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Boat Safaris — Chobe</a:t>
            </a:r>
            <a:endParaRPr lang="en-US" sz="1200" dirty="0"/>
          </a:p>
        </p:txBody>
      </p:sp>
      <p:sp>
        <p:nvSpPr>
          <p:cNvPr id="22" name="Text 20"/>
          <p:cNvSpPr/>
          <p:nvPr/>
        </p:nvSpPr>
        <p:spPr>
          <a:xfrm>
            <a:off x="5961888" y="4389120"/>
            <a:ext cx="2752344" cy="32004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Drift. The animals come to you. The afternoon light turns everything amber.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Text 1"/>
          <p:cNvSpPr/>
          <p:nvPr/>
        </p:nvSpPr>
        <p:spPr>
          <a:xfrm>
            <a:off x="274320" y="256032"/>
            <a:ext cx="859536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EXPERIENCES  ·  THRILL</a:t>
            </a:r>
            <a:endParaRPr lang="en-US" sz="800" dirty="0"/>
          </a:p>
        </p:txBody>
      </p:sp>
      <p:sp>
        <p:nvSpPr>
          <p:cNvPr id="4" name="Text 2"/>
          <p:cNvSpPr/>
          <p:nvPr/>
        </p:nvSpPr>
        <p:spPr>
          <a:xfrm>
            <a:off x="274320" y="640080"/>
            <a:ext cx="5486400" cy="914400"/>
          </a:xfrm>
          <a:prstGeom prst="rect">
            <a:avLst/>
          </a:prstGeom>
          <a:noFill/>
          <a:ln/>
        </p:spPr>
        <p:txBody>
          <a:bodyPr wrap="square" rtlCol="0" anchor="ctr"/>
          <a:lstStyle/>
          <a:p>
            <a:pPr marL="0" indent="0" algn="l">
              <a:buNone/>
            </a:pPr>
            <a:r>
              <a:rPr lang="en-US" sz="3000" i="1" dirty="0">
                <a:latin typeface="Georgia" pitchFamily="34" charset="0"/>
                <a:ea typeface="Georgia" pitchFamily="34" charset="-122"/>
                <a:cs typeface="Georgia" pitchFamily="34" charset="-120"/>
              </a:rPr>
              <a:t>The Gorge</a:t>
            </a:r>
            <a:endParaRPr lang="en-US" sz="3000" dirty="0"/>
          </a:p>
          <a:p>
            <a:pPr marL="0" indent="0" algn="l">
              <a:buNone/>
            </a:pPr>
            <a:r>
              <a:rPr lang="en-US" sz="3000" i="1" dirty="0">
                <a:latin typeface="Georgia" pitchFamily="34" charset="0"/>
                <a:ea typeface="Georgia" pitchFamily="34" charset="-122"/>
                <a:cs typeface="Georgia" pitchFamily="34" charset="-120"/>
              </a:rPr>
              <a:t>&amp; The Rapids</a:t>
            </a:r>
            <a:endParaRPr lang="en-US" sz="3000" dirty="0"/>
          </a:p>
        </p:txBody>
      </p:sp>
      <p:sp>
        <p:nvSpPr>
          <p:cNvPr id="5" name="Shape 3"/>
          <p:cNvSpPr/>
          <p:nvPr/>
        </p:nvSpPr>
        <p:spPr>
          <a:xfrm>
            <a:off x="274320" y="1627632"/>
            <a:ext cx="3200400" cy="27432"/>
          </a:xfrm>
          <a:prstGeom prst="rect">
            <a:avLst/>
          </a:prstGeom>
          <a:solidFill>
            <a:srgbClr val="B8963E"/>
          </a:solidFill>
          <a:ln w="12700">
            <a:solidFill>
              <a:srgbClr val="B8963E"/>
            </a:solidFill>
            <a:prstDash val="solid"/>
          </a:ln>
        </p:spPr>
      </p:sp>
      <p:sp>
        <p:nvSpPr>
          <p:cNvPr id="6" name="Text 4"/>
          <p:cNvSpPr/>
          <p:nvPr/>
        </p:nvSpPr>
        <p:spPr>
          <a:xfrm>
            <a:off x="274320" y="1783080"/>
            <a:ext cx="5303520" cy="3063240"/>
          </a:xfrm>
          <a:prstGeom prst="rect">
            <a:avLst/>
          </a:prstGeom>
          <a:noFill/>
          <a:ln/>
        </p:spPr>
        <p:txBody>
          <a:bodyPr wrap="square" rtlCol="0" anchor="ctr"/>
          <a:lstStyle/>
          <a:p>
            <a:pPr marL="0" indent="0" algn="l">
              <a:buNone/>
            </a:pPr>
            <a:r>
              <a:rPr lang="en-US" sz="1100" dirty="0">
                <a:latin typeface="Calibri" pitchFamily="34" charset="0"/>
                <a:ea typeface="Calibri" pitchFamily="34" charset="-122"/>
                <a:cs typeface="Calibri" pitchFamily="34" charset="-120"/>
              </a:rPr>
              <a:t>Below the Falls, the Zambezi enters the Batoka Gorge and becomes something else entirely.</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This is grade five white water — some of the most technically demanding and exhilarating rafting on the planet. The rapids have names. The Ghost. The Washing Machine. Commercial Suicide. The guides are extraordinary. The experience is not for the faint-hearted and completely unforgettable for everyone else.</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Above the gorge, the options multiply. Bungee from the bridge — 111 metres above the river, one of the original and most iconic bungee jumps in the world. The gorge swing, which trades the rebound for a long, breathless arc across the canyon. The zipline, which crosses the gorge at speed with the Falls visible in the distance. The microlight, which lifts you above all of it and gives you the view that belongs to eagles.</a:t>
            </a:r>
            <a:endParaRPr lang="en-US" sz="1100" dirty="0"/>
          </a:p>
          <a:p>
            <a:pPr marL="0" indent="0" algn="l">
              <a:buNone/>
            </a:pPr>
            <a:endParaRPr lang="en-US" sz="1100" dirty="0"/>
          </a:p>
          <a:p>
            <a:pPr marL="0" indent="0" algn="l">
              <a:buNone/>
            </a:pPr>
            <a:r>
              <a:rPr lang="en-US" sz="1100" dirty="0">
                <a:latin typeface="Calibri" pitchFamily="34" charset="0"/>
                <a:ea typeface="Calibri" pitchFamily="34" charset="-122"/>
                <a:cs typeface="Calibri" pitchFamily="34" charset="-120"/>
              </a:rPr>
              <a:t>Some guests choose one. Some choose all. TWT builds your thrill itinerary around your appetite and your nerve.</a:t>
            </a:r>
            <a:endParaRPr lang="en-US" sz="1100" dirty="0"/>
          </a:p>
        </p:txBody>
      </p:sp>
      <p:sp>
        <p:nvSpPr>
          <p:cNvPr id="7" name="Shape 5"/>
          <p:cNvSpPr/>
          <p:nvPr/>
        </p:nvSpPr>
        <p:spPr>
          <a:xfrm>
            <a:off x="5852160" y="365760"/>
            <a:ext cx="2971800" cy="1005840"/>
          </a:xfrm>
          <a:prstGeom prst="rect">
            <a:avLst/>
          </a:prstGeom>
          <a:solidFill>
            <a:srgbClr val="1A1A1A"/>
          </a:solidFill>
          <a:ln w="12700">
            <a:solidFill>
              <a:srgbClr val="1A1A1A"/>
            </a:solidFill>
            <a:prstDash val="solid"/>
          </a:ln>
        </p:spPr>
      </p:sp>
      <p:sp>
        <p:nvSpPr>
          <p:cNvPr id="8" name="Shape 6"/>
          <p:cNvSpPr/>
          <p:nvPr/>
        </p:nvSpPr>
        <p:spPr>
          <a:xfrm>
            <a:off x="5852160" y="365760"/>
            <a:ext cx="54864" cy="1005840"/>
          </a:xfrm>
          <a:prstGeom prst="rect">
            <a:avLst/>
          </a:prstGeom>
          <a:solidFill>
            <a:srgbClr val="B8963E"/>
          </a:solidFill>
          <a:ln w="12700">
            <a:solidFill>
              <a:srgbClr val="B8963E"/>
            </a:solidFill>
            <a:prstDash val="solid"/>
          </a:ln>
        </p:spPr>
      </p:sp>
      <p:sp>
        <p:nvSpPr>
          <p:cNvPr id="9" name="Text 7"/>
          <p:cNvSpPr/>
          <p:nvPr/>
        </p:nvSpPr>
        <p:spPr>
          <a:xfrm>
            <a:off x="6035040" y="457200"/>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  White Water Rafting</a:t>
            </a:r>
            <a:endParaRPr lang="en-US" sz="1100" dirty="0"/>
          </a:p>
        </p:txBody>
      </p:sp>
      <p:sp>
        <p:nvSpPr>
          <p:cNvPr id="10" name="Text 8"/>
          <p:cNvSpPr/>
          <p:nvPr/>
        </p:nvSpPr>
        <p:spPr>
          <a:xfrm>
            <a:off x="6035040" y="822960"/>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Grade 5. The Ghost. The Washing Machine. The guides are extraordinary.</a:t>
            </a:r>
            <a:endParaRPr lang="en-US" sz="900" dirty="0"/>
          </a:p>
        </p:txBody>
      </p:sp>
      <p:sp>
        <p:nvSpPr>
          <p:cNvPr id="11" name="Shape 9"/>
          <p:cNvSpPr/>
          <p:nvPr/>
        </p:nvSpPr>
        <p:spPr>
          <a:xfrm>
            <a:off x="5852160" y="1536192"/>
            <a:ext cx="2971800" cy="1005840"/>
          </a:xfrm>
          <a:prstGeom prst="rect">
            <a:avLst/>
          </a:prstGeom>
          <a:solidFill>
            <a:srgbClr val="1A1A1A"/>
          </a:solidFill>
          <a:ln w="12700">
            <a:solidFill>
              <a:srgbClr val="1A1A1A"/>
            </a:solidFill>
            <a:prstDash val="solid"/>
          </a:ln>
        </p:spPr>
      </p:sp>
      <p:sp>
        <p:nvSpPr>
          <p:cNvPr id="12" name="Shape 10"/>
          <p:cNvSpPr/>
          <p:nvPr/>
        </p:nvSpPr>
        <p:spPr>
          <a:xfrm>
            <a:off x="5852160" y="1536192"/>
            <a:ext cx="54864" cy="1005840"/>
          </a:xfrm>
          <a:prstGeom prst="rect">
            <a:avLst/>
          </a:prstGeom>
          <a:solidFill>
            <a:srgbClr val="B8963E"/>
          </a:solidFill>
          <a:ln w="12700">
            <a:solidFill>
              <a:srgbClr val="B8963E"/>
            </a:solidFill>
            <a:prstDash val="solid"/>
          </a:ln>
        </p:spPr>
      </p:sp>
      <p:sp>
        <p:nvSpPr>
          <p:cNvPr id="13" name="Text 11"/>
          <p:cNvSpPr/>
          <p:nvPr/>
        </p:nvSpPr>
        <p:spPr>
          <a:xfrm>
            <a:off x="6035040" y="1627632"/>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  Bungee Jump</a:t>
            </a:r>
            <a:endParaRPr lang="en-US" sz="1100" dirty="0"/>
          </a:p>
        </p:txBody>
      </p:sp>
      <p:sp>
        <p:nvSpPr>
          <p:cNvPr id="14" name="Text 12"/>
          <p:cNvSpPr/>
          <p:nvPr/>
        </p:nvSpPr>
        <p:spPr>
          <a:xfrm>
            <a:off x="6035040" y="1993392"/>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111m above the river. One of the world's most iconic jumps.</a:t>
            </a:r>
            <a:endParaRPr lang="en-US" sz="900" dirty="0"/>
          </a:p>
        </p:txBody>
      </p:sp>
      <p:sp>
        <p:nvSpPr>
          <p:cNvPr id="15" name="Shape 13"/>
          <p:cNvSpPr/>
          <p:nvPr/>
        </p:nvSpPr>
        <p:spPr>
          <a:xfrm>
            <a:off x="5852160" y="2706624"/>
            <a:ext cx="2971800" cy="1005840"/>
          </a:xfrm>
          <a:prstGeom prst="rect">
            <a:avLst/>
          </a:prstGeom>
          <a:solidFill>
            <a:srgbClr val="1A1A1A"/>
          </a:solidFill>
          <a:ln w="12700">
            <a:solidFill>
              <a:srgbClr val="1A1A1A"/>
            </a:solidFill>
            <a:prstDash val="solid"/>
          </a:ln>
        </p:spPr>
      </p:sp>
      <p:sp>
        <p:nvSpPr>
          <p:cNvPr id="16" name="Shape 14"/>
          <p:cNvSpPr/>
          <p:nvPr/>
        </p:nvSpPr>
        <p:spPr>
          <a:xfrm>
            <a:off x="5852160" y="2706624"/>
            <a:ext cx="54864" cy="1005840"/>
          </a:xfrm>
          <a:prstGeom prst="rect">
            <a:avLst/>
          </a:prstGeom>
          <a:solidFill>
            <a:srgbClr val="B8963E"/>
          </a:solidFill>
          <a:ln w="12700">
            <a:solidFill>
              <a:srgbClr val="B8963E"/>
            </a:solidFill>
            <a:prstDash val="solid"/>
          </a:ln>
        </p:spPr>
      </p:sp>
      <p:sp>
        <p:nvSpPr>
          <p:cNvPr id="17" name="Text 15"/>
          <p:cNvSpPr/>
          <p:nvPr/>
        </p:nvSpPr>
        <p:spPr>
          <a:xfrm>
            <a:off x="6035040" y="2798064"/>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  Gorge Swing &amp; Zipline</a:t>
            </a:r>
            <a:endParaRPr lang="en-US" sz="1100" dirty="0"/>
          </a:p>
        </p:txBody>
      </p:sp>
      <p:sp>
        <p:nvSpPr>
          <p:cNvPr id="18" name="Text 16"/>
          <p:cNvSpPr/>
          <p:nvPr/>
        </p:nvSpPr>
        <p:spPr>
          <a:xfrm>
            <a:off x="6035040" y="3163824"/>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A long, breathless arc. Speed across the canyon with the Falls ahead.</a:t>
            </a:r>
            <a:endParaRPr lang="en-US" sz="900" dirty="0"/>
          </a:p>
        </p:txBody>
      </p:sp>
      <p:sp>
        <p:nvSpPr>
          <p:cNvPr id="19" name="Shape 17"/>
          <p:cNvSpPr/>
          <p:nvPr/>
        </p:nvSpPr>
        <p:spPr>
          <a:xfrm>
            <a:off x="5852160" y="3877056"/>
            <a:ext cx="2971800" cy="1005840"/>
          </a:xfrm>
          <a:prstGeom prst="rect">
            <a:avLst/>
          </a:prstGeom>
          <a:solidFill>
            <a:srgbClr val="1A1A1A"/>
          </a:solidFill>
          <a:ln w="12700">
            <a:solidFill>
              <a:srgbClr val="1A1A1A"/>
            </a:solidFill>
            <a:prstDash val="solid"/>
          </a:ln>
        </p:spPr>
      </p:sp>
      <p:sp>
        <p:nvSpPr>
          <p:cNvPr id="20" name="Shape 18"/>
          <p:cNvSpPr/>
          <p:nvPr/>
        </p:nvSpPr>
        <p:spPr>
          <a:xfrm>
            <a:off x="5852160" y="3877056"/>
            <a:ext cx="54864" cy="1005840"/>
          </a:xfrm>
          <a:prstGeom prst="rect">
            <a:avLst/>
          </a:prstGeom>
          <a:solidFill>
            <a:srgbClr val="B8963E"/>
          </a:solidFill>
          <a:ln w="12700">
            <a:solidFill>
              <a:srgbClr val="B8963E"/>
            </a:solidFill>
            <a:prstDash val="solid"/>
          </a:ln>
        </p:spPr>
      </p:sp>
      <p:sp>
        <p:nvSpPr>
          <p:cNvPr id="21" name="Text 19"/>
          <p:cNvSpPr/>
          <p:nvPr/>
        </p:nvSpPr>
        <p:spPr>
          <a:xfrm>
            <a:off x="6035040" y="3968496"/>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  Microlight Flight</a:t>
            </a:r>
            <a:endParaRPr lang="en-US" sz="1100" dirty="0"/>
          </a:p>
        </p:txBody>
      </p:sp>
      <p:sp>
        <p:nvSpPr>
          <p:cNvPr id="22" name="Text 20"/>
          <p:cNvSpPr/>
          <p:nvPr/>
        </p:nvSpPr>
        <p:spPr>
          <a:xfrm>
            <a:off x="6035040" y="4334256"/>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Above the Falls. Above the gorge. The view that belongs to eagles.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0"/>
            <a:ext cx="54864" cy="5143500"/>
          </a:xfrm>
          <a:prstGeom prst="rect">
            <a:avLst/>
          </a:prstGeom>
          <a:solidFill>
            <a:srgbClr val="0D0D0D"/>
          </a:solidFill>
          <a:ln w="12700">
            <a:solidFill>
              <a:srgbClr val="0D0D0D"/>
            </a:solidFill>
            <a:prstDash val="solid"/>
          </a:ln>
        </p:spPr>
      </p:sp>
      <p:sp>
        <p:nvSpPr>
          <p:cNvPr id="4" name="Text 2"/>
          <p:cNvSpPr/>
          <p:nvPr/>
        </p:nvSpPr>
        <p:spPr>
          <a:xfrm>
            <a:off x="228600" y="228600"/>
            <a:ext cx="8686800" cy="347472"/>
          </a:xfrm>
          <a:prstGeom prst="rect">
            <a:avLst/>
          </a:prstGeom>
          <a:noFill/>
          <a:ln/>
        </p:spPr>
        <p:txBody>
          <a:bodyPr wrap="square" rtlCol="0" anchor="ctr"/>
          <a:lstStyle/>
          <a:p>
            <a:pPr marL="0" indent="0" algn="l">
              <a:buNone/>
            </a:pPr>
            <a:r>
              <a:rPr lang="en-US" sz="800" kern="0" spc="400" dirty="0">
                <a:solidFill>
                  <a:srgbClr val="B8963E"/>
                </a:solidFill>
                <a:latin typeface="Calibri" pitchFamily="34" charset="0"/>
                <a:ea typeface="Calibri" pitchFamily="34" charset="-122"/>
                <a:cs typeface="Calibri" pitchFamily="34" charset="-120"/>
              </a:rPr>
              <a:t>EXPERIENCES  ·  CULTURE</a:t>
            </a:r>
            <a:endParaRPr lang="en-US" sz="800" dirty="0"/>
          </a:p>
        </p:txBody>
      </p:sp>
      <p:sp>
        <p:nvSpPr>
          <p:cNvPr id="5" name="Text 3"/>
          <p:cNvSpPr/>
          <p:nvPr/>
        </p:nvSpPr>
        <p:spPr>
          <a:xfrm>
            <a:off x="228600" y="594360"/>
            <a:ext cx="5943600" cy="914400"/>
          </a:xfrm>
          <a:prstGeom prst="rect">
            <a:avLst/>
          </a:prstGeom>
          <a:noFill/>
          <a:ln/>
        </p:spPr>
        <p:txBody>
          <a:bodyPr wrap="square" rtlCol="0" anchor="ctr"/>
          <a:lstStyle/>
          <a:p>
            <a:pPr marL="0" indent="0">
              <a:buNone/>
            </a:pPr>
            <a:r>
              <a:rPr lang="en-US" sz="3000" i="1" dirty="0">
                <a:solidFill>
                  <a:srgbClr val="0D0D0D"/>
                </a:solidFill>
                <a:latin typeface="Georgia" pitchFamily="34" charset="0"/>
                <a:ea typeface="Georgia" pitchFamily="34" charset="-122"/>
                <a:cs typeface="Georgia" pitchFamily="34" charset="-120"/>
              </a:rPr>
              <a:t>Fire, Story</a:t>
            </a:r>
            <a:endParaRPr lang="en-US" sz="3000" dirty="0"/>
          </a:p>
          <a:p>
            <a:pPr marL="0" indent="0">
              <a:buNone/>
            </a:pPr>
            <a:r>
              <a:rPr lang="en-US" sz="3000" i="1" dirty="0">
                <a:solidFill>
                  <a:srgbClr val="0D0D0D"/>
                </a:solidFill>
                <a:latin typeface="Georgia" pitchFamily="34" charset="0"/>
                <a:ea typeface="Georgia" pitchFamily="34" charset="-122"/>
                <a:cs typeface="Georgia" pitchFamily="34" charset="-120"/>
              </a:rPr>
              <a:t>&amp; Belonging</a:t>
            </a:r>
            <a:endParaRPr lang="en-US" sz="3000" dirty="0"/>
          </a:p>
        </p:txBody>
      </p:sp>
      <p:sp>
        <p:nvSpPr>
          <p:cNvPr id="6" name="Shape 4"/>
          <p:cNvSpPr/>
          <p:nvPr/>
        </p:nvSpPr>
        <p:spPr>
          <a:xfrm>
            <a:off x="228600" y="1581912"/>
            <a:ext cx="3200400" cy="27432"/>
          </a:xfrm>
          <a:prstGeom prst="rect">
            <a:avLst/>
          </a:prstGeom>
          <a:solidFill>
            <a:srgbClr val="B8963E"/>
          </a:solidFill>
          <a:ln w="12700">
            <a:solidFill>
              <a:srgbClr val="B8963E"/>
            </a:solidFill>
            <a:prstDash val="solid"/>
          </a:ln>
        </p:spPr>
      </p:sp>
      <p:sp>
        <p:nvSpPr>
          <p:cNvPr id="7" name="Text 5"/>
          <p:cNvSpPr/>
          <p:nvPr/>
        </p:nvSpPr>
        <p:spPr>
          <a:xfrm>
            <a:off x="228600" y="1737360"/>
            <a:ext cx="5394960" cy="310896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The landscape is only half the story.</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The people who have lived alongside the Zambezi for thousands of years carry the other half — in their languages, their ceremonies, their relationship with the land, and the way they tell a story around a fire after dark.</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A TWT cultural experience is not a performance. It is an encounter. A visit to a local community, where the rhythms of daily life are visible and honest and genuinely welcoming. An evening at the boma — the traditional enclosure — where food is cooked over open fire and the conversation moves between languages and generations.</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Voices Around the Fire, our signature evening experience, where the stories of this landscape are told the way they were always meant to be told — slowly, in the dark, with the bush listening.</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This is the part of the journey that guests mention last and remember longest.</a:t>
            </a:r>
            <a:endParaRPr lang="en-US" sz="1100" dirty="0"/>
          </a:p>
        </p:txBody>
      </p:sp>
      <p:sp>
        <p:nvSpPr>
          <p:cNvPr id="8" name="Shape 6"/>
          <p:cNvSpPr/>
          <p:nvPr/>
        </p:nvSpPr>
        <p:spPr>
          <a:xfrm>
            <a:off x="5852160" y="365760"/>
            <a:ext cx="2971800" cy="1417320"/>
          </a:xfrm>
          <a:prstGeom prst="rect">
            <a:avLst/>
          </a:prstGeom>
          <a:solidFill>
            <a:srgbClr val="1A1A1A"/>
          </a:solidFill>
          <a:ln w="12700">
            <a:solidFill>
              <a:srgbClr val="1A1A1A"/>
            </a:solidFill>
            <a:prstDash val="solid"/>
          </a:ln>
        </p:spPr>
      </p:sp>
      <p:sp>
        <p:nvSpPr>
          <p:cNvPr id="9" name="Shape 7"/>
          <p:cNvSpPr/>
          <p:nvPr/>
        </p:nvSpPr>
        <p:spPr>
          <a:xfrm>
            <a:off x="5852160" y="365760"/>
            <a:ext cx="2971800" cy="45720"/>
          </a:xfrm>
          <a:prstGeom prst="rect">
            <a:avLst/>
          </a:prstGeom>
          <a:solidFill>
            <a:srgbClr val="B8963E"/>
          </a:solidFill>
          <a:ln w="12700">
            <a:solidFill>
              <a:srgbClr val="B8963E"/>
            </a:solidFill>
            <a:prstDash val="solid"/>
          </a:ln>
        </p:spPr>
      </p:sp>
      <p:sp>
        <p:nvSpPr>
          <p:cNvPr id="10" name="Text 8"/>
          <p:cNvSpPr/>
          <p:nvPr/>
        </p:nvSpPr>
        <p:spPr>
          <a:xfrm>
            <a:off x="5852160" y="47548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1" name="Text 9"/>
          <p:cNvSpPr/>
          <p:nvPr/>
        </p:nvSpPr>
        <p:spPr>
          <a:xfrm>
            <a:off x="5961888" y="86868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Community Visits</a:t>
            </a:r>
            <a:endParaRPr lang="en-US" sz="1200" dirty="0"/>
          </a:p>
        </p:txBody>
      </p:sp>
      <p:sp>
        <p:nvSpPr>
          <p:cNvPr id="12" name="Text 10"/>
          <p:cNvSpPr/>
          <p:nvPr/>
        </p:nvSpPr>
        <p:spPr>
          <a:xfrm>
            <a:off x="5961888" y="1280160"/>
            <a:ext cx="275234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The rhythms of daily life. Honest. Welcoming. A genuine encounter.</a:t>
            </a:r>
            <a:endParaRPr lang="en-US" sz="900" dirty="0"/>
          </a:p>
        </p:txBody>
      </p:sp>
      <p:sp>
        <p:nvSpPr>
          <p:cNvPr id="13" name="Shape 11"/>
          <p:cNvSpPr/>
          <p:nvPr/>
        </p:nvSpPr>
        <p:spPr>
          <a:xfrm>
            <a:off x="5852160" y="1920240"/>
            <a:ext cx="2971800" cy="1417320"/>
          </a:xfrm>
          <a:prstGeom prst="rect">
            <a:avLst/>
          </a:prstGeom>
          <a:solidFill>
            <a:srgbClr val="1A1A1A"/>
          </a:solidFill>
          <a:ln w="12700">
            <a:solidFill>
              <a:srgbClr val="1A1A1A"/>
            </a:solidFill>
            <a:prstDash val="solid"/>
          </a:ln>
        </p:spPr>
      </p:sp>
      <p:sp>
        <p:nvSpPr>
          <p:cNvPr id="14" name="Shape 12"/>
          <p:cNvSpPr/>
          <p:nvPr/>
        </p:nvSpPr>
        <p:spPr>
          <a:xfrm>
            <a:off x="5852160" y="1920240"/>
            <a:ext cx="2971800" cy="45720"/>
          </a:xfrm>
          <a:prstGeom prst="rect">
            <a:avLst/>
          </a:prstGeom>
          <a:solidFill>
            <a:srgbClr val="B8963E"/>
          </a:solidFill>
          <a:ln w="12700">
            <a:solidFill>
              <a:srgbClr val="B8963E"/>
            </a:solidFill>
            <a:prstDash val="solid"/>
          </a:ln>
        </p:spPr>
      </p:sp>
      <p:sp>
        <p:nvSpPr>
          <p:cNvPr id="15" name="Text 13"/>
          <p:cNvSpPr/>
          <p:nvPr/>
        </p:nvSpPr>
        <p:spPr>
          <a:xfrm>
            <a:off x="5852160" y="202996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16" name="Text 14"/>
          <p:cNvSpPr/>
          <p:nvPr/>
        </p:nvSpPr>
        <p:spPr>
          <a:xfrm>
            <a:off x="5961888" y="242316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Evening at the Boma</a:t>
            </a:r>
            <a:endParaRPr lang="en-US" sz="1200" dirty="0"/>
          </a:p>
        </p:txBody>
      </p:sp>
      <p:sp>
        <p:nvSpPr>
          <p:cNvPr id="17" name="Text 15"/>
          <p:cNvSpPr/>
          <p:nvPr/>
        </p:nvSpPr>
        <p:spPr>
          <a:xfrm>
            <a:off x="5961888" y="2834640"/>
            <a:ext cx="2752344" cy="36576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Food over open fire. Conversation across languages and generations.</a:t>
            </a:r>
            <a:endParaRPr lang="en-US" sz="900" dirty="0"/>
          </a:p>
        </p:txBody>
      </p:sp>
      <p:sp>
        <p:nvSpPr>
          <p:cNvPr id="18" name="Shape 16"/>
          <p:cNvSpPr/>
          <p:nvPr/>
        </p:nvSpPr>
        <p:spPr>
          <a:xfrm>
            <a:off x="5852160" y="3474720"/>
            <a:ext cx="2971800" cy="1371600"/>
          </a:xfrm>
          <a:prstGeom prst="rect">
            <a:avLst/>
          </a:prstGeom>
          <a:solidFill>
            <a:srgbClr val="1A1A1A"/>
          </a:solidFill>
          <a:ln w="12700">
            <a:solidFill>
              <a:srgbClr val="1A1A1A"/>
            </a:solidFill>
            <a:prstDash val="solid"/>
          </a:ln>
        </p:spPr>
      </p:sp>
      <p:sp>
        <p:nvSpPr>
          <p:cNvPr id="19" name="Shape 17"/>
          <p:cNvSpPr/>
          <p:nvPr/>
        </p:nvSpPr>
        <p:spPr>
          <a:xfrm>
            <a:off x="5852160" y="3474720"/>
            <a:ext cx="2971800" cy="45720"/>
          </a:xfrm>
          <a:prstGeom prst="rect">
            <a:avLst/>
          </a:prstGeom>
          <a:solidFill>
            <a:srgbClr val="B8963E"/>
          </a:solidFill>
          <a:ln w="12700">
            <a:solidFill>
              <a:srgbClr val="B8963E"/>
            </a:solidFill>
            <a:prstDash val="solid"/>
          </a:ln>
        </p:spPr>
      </p:sp>
      <p:sp>
        <p:nvSpPr>
          <p:cNvPr id="20" name="Text 18"/>
          <p:cNvSpPr/>
          <p:nvPr/>
        </p:nvSpPr>
        <p:spPr>
          <a:xfrm>
            <a:off x="5852160" y="3584448"/>
            <a:ext cx="2971800" cy="365760"/>
          </a:xfrm>
          <a:prstGeom prst="rect">
            <a:avLst/>
          </a:prstGeom>
          <a:noFill/>
          <a:ln/>
        </p:spPr>
        <p:txBody>
          <a:bodyPr wrap="square" rtlCol="0" anchor="ctr"/>
          <a:lstStyle/>
          <a:p>
            <a:pPr marL="0" indent="0" algn="ctr">
              <a:buNone/>
            </a:pPr>
            <a:r>
              <a:rPr lang="en-US" sz="1600" dirty="0">
                <a:solidFill>
                  <a:srgbClr val="B8963E"/>
                </a:solidFill>
              </a:rPr>
              <a:t>◆</a:t>
            </a:r>
            <a:endParaRPr lang="en-US" sz="1600" dirty="0"/>
          </a:p>
        </p:txBody>
      </p:sp>
      <p:sp>
        <p:nvSpPr>
          <p:cNvPr id="21" name="Text 19"/>
          <p:cNvSpPr/>
          <p:nvPr/>
        </p:nvSpPr>
        <p:spPr>
          <a:xfrm>
            <a:off x="5961888" y="3977640"/>
            <a:ext cx="2752344" cy="365760"/>
          </a:xfrm>
          <a:prstGeom prst="rect">
            <a:avLst/>
          </a:prstGeom>
          <a:noFill/>
          <a:ln/>
        </p:spPr>
        <p:txBody>
          <a:bodyPr wrap="square" rtlCol="0" anchor="ctr"/>
          <a:lstStyle/>
          <a:p>
            <a:pPr marL="0" indent="0" algn="ctr">
              <a:buNone/>
            </a:pPr>
            <a:r>
              <a:rPr lang="en-US" sz="1200" dirty="0">
                <a:solidFill>
                  <a:srgbClr val="FFFFFF"/>
                </a:solidFill>
                <a:latin typeface="Georgia" pitchFamily="34" charset="0"/>
                <a:ea typeface="Georgia" pitchFamily="34" charset="-122"/>
                <a:cs typeface="Georgia" pitchFamily="34" charset="-120"/>
              </a:rPr>
              <a:t>Voices Around the Fire</a:t>
            </a:r>
            <a:endParaRPr lang="en-US" sz="1200" dirty="0"/>
          </a:p>
        </p:txBody>
      </p:sp>
      <p:sp>
        <p:nvSpPr>
          <p:cNvPr id="22" name="Text 20"/>
          <p:cNvSpPr/>
          <p:nvPr/>
        </p:nvSpPr>
        <p:spPr>
          <a:xfrm>
            <a:off x="5961888" y="4389120"/>
            <a:ext cx="2752344" cy="32004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Our signature evening. Stories told slowly, in the dark, with the bush listening.</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365760" y="1463040"/>
            <a:ext cx="8412480" cy="1463040"/>
          </a:xfrm>
          <a:prstGeom prst="rect">
            <a:avLst/>
          </a:prstGeom>
          <a:noFill/>
          <a:ln/>
        </p:spPr>
        <p:txBody>
          <a:bodyPr wrap="square" rtlCol="0" anchor="ctr"/>
          <a:lstStyle/>
          <a:p>
            <a:pPr marL="0" indent="0" algn="l">
              <a:buNone/>
            </a:pPr>
            <a:r>
              <a:rPr lang="en-US" sz="5400" i="1" dirty="0">
                <a:latin typeface="Georgia" pitchFamily="34" charset="0"/>
                <a:ea typeface="Georgia" pitchFamily="34" charset="-122"/>
                <a:cs typeface="Georgia" pitchFamily="34" charset="-120"/>
              </a:rPr>
              <a:t>About TWT</a:t>
            </a:r>
            <a:endParaRPr lang="en-US" sz="5400" dirty="0"/>
          </a:p>
        </p:txBody>
      </p:sp>
      <p:sp>
        <p:nvSpPr>
          <p:cNvPr id="5" name="Shape 3"/>
          <p:cNvSpPr/>
          <p:nvPr/>
        </p:nvSpPr>
        <p:spPr>
          <a:xfrm>
            <a:off x="365760" y="3063240"/>
            <a:ext cx="3657600" cy="27432"/>
          </a:xfrm>
          <a:prstGeom prst="rect">
            <a:avLst/>
          </a:prstGeom>
          <a:solidFill>
            <a:srgbClr val="B8963E"/>
          </a:solidFill>
          <a:ln w="12700">
            <a:solidFill>
              <a:srgbClr val="B8963E"/>
            </a:solidFill>
            <a:prstDash val="solid"/>
          </a:ln>
        </p:spPr>
      </p:sp>
      <p:sp>
        <p:nvSpPr>
          <p:cNvPr id="6" name="Text 4"/>
          <p:cNvSpPr/>
          <p:nvPr/>
        </p:nvSpPr>
        <p:spPr>
          <a:xfrm>
            <a:off x="365760" y="3246120"/>
            <a:ext cx="8229600" cy="548640"/>
          </a:xfrm>
          <a:prstGeom prst="rect">
            <a:avLst/>
          </a:prstGeom>
          <a:noFill/>
          <a:ln/>
        </p:spPr>
        <p:txBody>
          <a:bodyPr wrap="square" rtlCol="0" anchor="ctr"/>
          <a:lstStyle/>
          <a:p>
            <a:pPr marL="0" indent="0" algn="l">
              <a:buNone/>
            </a:pPr>
            <a:r>
              <a:rPr lang="en-US" sz="1300" dirty="0">
                <a:latin typeface="Calibri" pitchFamily="34" charset="0"/>
                <a:ea typeface="Calibri" pitchFamily="34" charset="-122"/>
                <a:cs typeface="Calibri" pitchFamily="34" charset="-120"/>
              </a:rPr>
              <a:t>We did not find this place on a map. We grew up inside it.</a:t>
            </a:r>
            <a:endParaRPr lang="en-US" sz="1300" dirty="0"/>
          </a:p>
        </p:txBody>
      </p:sp>
      <p:sp>
        <p:nvSpPr>
          <p:cNvPr id="8" name="TextBox 7">
            <a:extLst>
              <a:ext uri="{FF2B5EF4-FFF2-40B4-BE49-F238E27FC236}">
                <a16:creationId xmlns:a16="http://schemas.microsoft.com/office/drawing/2014/main" id="{B07CB958-23F7-5731-F74D-F335C7E82937}"/>
              </a:ext>
            </a:extLst>
          </p:cNvPr>
          <p:cNvSpPr txBox="1"/>
          <p:nvPr/>
        </p:nvSpPr>
        <p:spPr>
          <a:xfrm>
            <a:off x="-1176867" y="919862"/>
            <a:ext cx="457764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rPr>
              <a:t>HOME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Text 1"/>
          <p:cNvSpPr/>
          <p:nvPr/>
        </p:nvSpPr>
        <p:spPr>
          <a:xfrm>
            <a:off x="274320" y="256032"/>
            <a:ext cx="8595360" cy="347472"/>
          </a:xfrm>
          <a:prstGeom prst="rect">
            <a:avLst/>
          </a:prstGeom>
          <a:noFill/>
          <a:ln/>
        </p:spPr>
        <p:txBody>
          <a:bodyPr wrap="square" rtlCol="0" anchor="ctr"/>
          <a:lstStyle/>
          <a:p>
            <a:pPr marL="0" indent="0" algn="l">
              <a:buNone/>
            </a:pPr>
            <a:r>
              <a:rPr lang="en-US" sz="850" kern="0" spc="300" dirty="0">
                <a:solidFill>
                  <a:srgbClr val="B8963E"/>
                </a:solidFill>
                <a:latin typeface="Calibri" pitchFamily="34" charset="0"/>
                <a:ea typeface="Calibri" pitchFamily="34" charset="-122"/>
                <a:cs typeface="Calibri" pitchFamily="34" charset="-120"/>
              </a:rPr>
              <a:t>ABOUT TWT  ·  OUR STORY</a:t>
            </a:r>
            <a:endParaRPr lang="en-US" sz="850" dirty="0"/>
          </a:p>
        </p:txBody>
      </p:sp>
      <p:sp>
        <p:nvSpPr>
          <p:cNvPr id="4" name="Text 2"/>
          <p:cNvSpPr/>
          <p:nvPr/>
        </p:nvSpPr>
        <p:spPr>
          <a:xfrm>
            <a:off x="274320" y="658368"/>
            <a:ext cx="6858000" cy="685800"/>
          </a:xfrm>
          <a:prstGeom prst="rect">
            <a:avLst/>
          </a:prstGeom>
          <a:noFill/>
          <a:ln/>
        </p:spPr>
        <p:txBody>
          <a:bodyPr wrap="square" rtlCol="0" anchor="ctr"/>
          <a:lstStyle/>
          <a:p>
            <a:pPr marL="0" indent="0">
              <a:buNone/>
            </a:pPr>
            <a:r>
              <a:rPr lang="en-US" sz="3000" i="1" dirty="0">
                <a:latin typeface="Georgia" pitchFamily="34" charset="0"/>
                <a:ea typeface="Georgia" pitchFamily="34" charset="-122"/>
                <a:cs typeface="Georgia" pitchFamily="34" charset="-120"/>
              </a:rPr>
              <a:t>Born in the bundu.</a:t>
            </a:r>
            <a:endParaRPr lang="en-US" sz="3000" dirty="0"/>
          </a:p>
        </p:txBody>
      </p:sp>
      <p:sp>
        <p:nvSpPr>
          <p:cNvPr id="5" name="Shape 3"/>
          <p:cNvSpPr/>
          <p:nvPr/>
        </p:nvSpPr>
        <p:spPr>
          <a:xfrm>
            <a:off x="274320" y="1417320"/>
            <a:ext cx="3200400" cy="27432"/>
          </a:xfrm>
          <a:prstGeom prst="rect">
            <a:avLst/>
          </a:prstGeom>
          <a:solidFill>
            <a:srgbClr val="B8963E"/>
          </a:solidFill>
          <a:ln w="12700">
            <a:solidFill>
              <a:srgbClr val="B8963E"/>
            </a:solidFill>
            <a:prstDash val="solid"/>
          </a:ln>
        </p:spPr>
      </p:sp>
      <p:sp>
        <p:nvSpPr>
          <p:cNvPr id="6" name="Text 4"/>
          <p:cNvSpPr/>
          <p:nvPr/>
        </p:nvSpPr>
        <p:spPr>
          <a:xfrm>
            <a:off x="274320" y="1572768"/>
            <a:ext cx="5212080" cy="3337560"/>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TWT All Africa One Journey was not built in a boardroom. It grew from a lifetime of mornings in the Hwange woodland before the heat arrived, of afternoons on the Zambezi watching the light change, of evenings around fires where the stories were older than anyone present.</a:t>
            </a:r>
            <a:endParaRPr lang="en-US" sz="1050" dirty="0"/>
          </a:p>
          <a:p>
            <a:pPr marL="0" indent="0">
              <a:buNone/>
            </a:pPr>
            <a:endParaRPr lang="en-US" sz="1050" dirty="0"/>
          </a:p>
          <a:p>
            <a:pPr marL="0" indent="0">
              <a:buNone/>
            </a:pPr>
            <a:r>
              <a:rPr lang="en-US" sz="1050" dirty="0">
                <a:latin typeface="Calibri" pitchFamily="34" charset="0"/>
                <a:ea typeface="Calibri" pitchFamily="34" charset="-122"/>
                <a:cs typeface="Calibri" pitchFamily="34" charset="-120"/>
              </a:rPr>
              <a:t>It grew from a love of this ecosystem — its logic, its beauty, its fragility, its extraordinary generosity — and from a belief that the people who travel here deserve to experience it the way we do. Not from a distance. From inside it.</a:t>
            </a:r>
            <a:endParaRPr lang="en-US" sz="1050" dirty="0"/>
          </a:p>
          <a:p>
            <a:pPr marL="0" indent="0">
              <a:buNone/>
            </a:pPr>
            <a:endParaRPr lang="en-US" sz="1050" dirty="0"/>
          </a:p>
          <a:p>
            <a:pPr marL="0" indent="0">
              <a:buNone/>
            </a:pPr>
            <a:r>
              <a:rPr lang="en-US" sz="1050" dirty="0">
                <a:latin typeface="Calibri" pitchFamily="34" charset="0"/>
                <a:ea typeface="Calibri" pitchFamily="34" charset="-122"/>
                <a:cs typeface="Calibri" pitchFamily="34" charset="-120"/>
              </a:rPr>
              <a:t>We are Victoria Falls guides, licensed across Zimbabwe and Zambia, operating across the triangle that the Zambezi River draws through three nations. We know this place the way you know a home.</a:t>
            </a:r>
            <a:endParaRPr lang="en-US" sz="1050" dirty="0"/>
          </a:p>
          <a:p>
            <a:pPr marL="0" indent="0">
              <a:buNone/>
            </a:pPr>
            <a:endParaRPr lang="en-US" sz="1050" dirty="0"/>
          </a:p>
          <a:p>
            <a:pPr marL="0" indent="0">
              <a:buNone/>
            </a:pPr>
            <a:r>
              <a:rPr lang="en-US" sz="1050" dirty="0">
                <a:latin typeface="Calibri" pitchFamily="34" charset="0"/>
                <a:ea typeface="Calibri" pitchFamily="34" charset="-122"/>
                <a:cs typeface="Calibri" pitchFamily="34" charset="-120"/>
              </a:rPr>
              <a:t>When you travel with TWT, you are not buying a product. You are being introduced to somewhere we love, by people who have spent their lives earning the right to show it properly.</a:t>
            </a:r>
            <a:endParaRPr lang="en-US" sz="1050" dirty="0"/>
          </a:p>
        </p:txBody>
      </p:sp>
      <p:sp>
        <p:nvSpPr>
          <p:cNvPr id="7" name="Shape 5"/>
          <p:cNvSpPr/>
          <p:nvPr/>
        </p:nvSpPr>
        <p:spPr>
          <a:xfrm>
            <a:off x="5852160" y="320040"/>
            <a:ext cx="2971800" cy="1005840"/>
          </a:xfrm>
          <a:prstGeom prst="rect">
            <a:avLst/>
          </a:prstGeom>
          <a:solidFill>
            <a:srgbClr val="1A1A1A"/>
          </a:solidFill>
          <a:ln w="12700">
            <a:solidFill>
              <a:srgbClr val="1A1A1A"/>
            </a:solidFill>
            <a:prstDash val="solid"/>
          </a:ln>
        </p:spPr>
      </p:sp>
      <p:sp>
        <p:nvSpPr>
          <p:cNvPr id="8" name="Shape 6"/>
          <p:cNvSpPr/>
          <p:nvPr/>
        </p:nvSpPr>
        <p:spPr>
          <a:xfrm>
            <a:off x="5852160" y="320040"/>
            <a:ext cx="54864" cy="1005840"/>
          </a:xfrm>
          <a:prstGeom prst="rect">
            <a:avLst/>
          </a:prstGeom>
          <a:solidFill>
            <a:srgbClr val="B8963E"/>
          </a:solidFill>
          <a:ln w="12700">
            <a:solidFill>
              <a:srgbClr val="B8963E"/>
            </a:solidFill>
            <a:prstDash val="solid"/>
          </a:ln>
        </p:spPr>
      </p:sp>
      <p:sp>
        <p:nvSpPr>
          <p:cNvPr id="9" name="Text 7"/>
          <p:cNvSpPr/>
          <p:nvPr/>
        </p:nvSpPr>
        <p:spPr>
          <a:xfrm>
            <a:off x="6035040" y="411480"/>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We live here.</a:t>
            </a:r>
            <a:endParaRPr lang="en-US" sz="1100" dirty="0"/>
          </a:p>
        </p:txBody>
      </p:sp>
      <p:sp>
        <p:nvSpPr>
          <p:cNvPr id="10" name="Text 8"/>
          <p:cNvSpPr/>
          <p:nvPr/>
        </p:nvSpPr>
        <p:spPr>
          <a:xfrm>
            <a:off x="6035040" y="777240"/>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Our knowledge is not researched — it is lived.</a:t>
            </a:r>
            <a:endParaRPr lang="en-US" sz="900" dirty="0"/>
          </a:p>
        </p:txBody>
      </p:sp>
      <p:sp>
        <p:nvSpPr>
          <p:cNvPr id="11" name="Shape 9"/>
          <p:cNvSpPr/>
          <p:nvPr/>
        </p:nvSpPr>
        <p:spPr>
          <a:xfrm>
            <a:off x="5852160" y="1490472"/>
            <a:ext cx="2971800" cy="1005840"/>
          </a:xfrm>
          <a:prstGeom prst="rect">
            <a:avLst/>
          </a:prstGeom>
          <a:solidFill>
            <a:srgbClr val="1A1A1A"/>
          </a:solidFill>
          <a:ln w="12700">
            <a:solidFill>
              <a:srgbClr val="1A1A1A"/>
            </a:solidFill>
            <a:prstDash val="solid"/>
          </a:ln>
        </p:spPr>
      </p:sp>
      <p:sp>
        <p:nvSpPr>
          <p:cNvPr id="12" name="Shape 10"/>
          <p:cNvSpPr/>
          <p:nvPr/>
        </p:nvSpPr>
        <p:spPr>
          <a:xfrm>
            <a:off x="5852160" y="1490472"/>
            <a:ext cx="54864" cy="1005840"/>
          </a:xfrm>
          <a:prstGeom prst="rect">
            <a:avLst/>
          </a:prstGeom>
          <a:solidFill>
            <a:srgbClr val="B8963E"/>
          </a:solidFill>
          <a:ln w="12700">
            <a:solidFill>
              <a:srgbClr val="B8963E"/>
            </a:solidFill>
            <a:prstDash val="solid"/>
          </a:ln>
        </p:spPr>
      </p:sp>
      <p:sp>
        <p:nvSpPr>
          <p:cNvPr id="13" name="Text 11"/>
          <p:cNvSpPr/>
          <p:nvPr/>
        </p:nvSpPr>
        <p:spPr>
          <a:xfrm>
            <a:off x="6035040" y="1581912"/>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We go private.</a:t>
            </a:r>
            <a:endParaRPr lang="en-US" sz="1100" dirty="0"/>
          </a:p>
        </p:txBody>
      </p:sp>
      <p:sp>
        <p:nvSpPr>
          <p:cNvPr id="14" name="Text 12"/>
          <p:cNvSpPr/>
          <p:nvPr/>
        </p:nvSpPr>
        <p:spPr>
          <a:xfrm>
            <a:off x="6035040" y="1947672"/>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No shared vehicles. No group itineraries. No compromises.</a:t>
            </a:r>
            <a:endParaRPr lang="en-US" sz="900" dirty="0"/>
          </a:p>
        </p:txBody>
      </p:sp>
      <p:sp>
        <p:nvSpPr>
          <p:cNvPr id="15" name="Shape 13"/>
          <p:cNvSpPr/>
          <p:nvPr/>
        </p:nvSpPr>
        <p:spPr>
          <a:xfrm>
            <a:off x="5852160" y="2660904"/>
            <a:ext cx="2971800" cy="1005840"/>
          </a:xfrm>
          <a:prstGeom prst="rect">
            <a:avLst/>
          </a:prstGeom>
          <a:solidFill>
            <a:srgbClr val="1A1A1A"/>
          </a:solidFill>
          <a:ln w="12700">
            <a:solidFill>
              <a:srgbClr val="1A1A1A"/>
            </a:solidFill>
            <a:prstDash val="solid"/>
          </a:ln>
        </p:spPr>
      </p:sp>
      <p:sp>
        <p:nvSpPr>
          <p:cNvPr id="16" name="Shape 14"/>
          <p:cNvSpPr/>
          <p:nvPr/>
        </p:nvSpPr>
        <p:spPr>
          <a:xfrm>
            <a:off x="5852160" y="2660904"/>
            <a:ext cx="54864" cy="1005840"/>
          </a:xfrm>
          <a:prstGeom prst="rect">
            <a:avLst/>
          </a:prstGeom>
          <a:solidFill>
            <a:srgbClr val="B8963E"/>
          </a:solidFill>
          <a:ln w="12700">
            <a:solidFill>
              <a:srgbClr val="B8963E"/>
            </a:solidFill>
            <a:prstDash val="solid"/>
          </a:ln>
        </p:spPr>
      </p:sp>
      <p:sp>
        <p:nvSpPr>
          <p:cNvPr id="17" name="Text 15"/>
          <p:cNvSpPr/>
          <p:nvPr/>
        </p:nvSpPr>
        <p:spPr>
          <a:xfrm>
            <a:off x="6035040" y="2752344"/>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We are licensed.</a:t>
            </a:r>
            <a:endParaRPr lang="en-US" sz="1100" dirty="0"/>
          </a:p>
        </p:txBody>
      </p:sp>
      <p:sp>
        <p:nvSpPr>
          <p:cNvPr id="18" name="Text 16"/>
          <p:cNvSpPr/>
          <p:nvPr/>
        </p:nvSpPr>
        <p:spPr>
          <a:xfrm>
            <a:off x="6035040" y="3118104"/>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Dual-licensed across Zimbabwe &amp; Zambia. KAZA UniVisa zone.</a:t>
            </a:r>
            <a:endParaRPr lang="en-US" sz="900" dirty="0"/>
          </a:p>
        </p:txBody>
      </p:sp>
      <p:sp>
        <p:nvSpPr>
          <p:cNvPr id="19" name="Shape 17"/>
          <p:cNvSpPr/>
          <p:nvPr/>
        </p:nvSpPr>
        <p:spPr>
          <a:xfrm>
            <a:off x="5852160" y="3831336"/>
            <a:ext cx="2971800" cy="1005840"/>
          </a:xfrm>
          <a:prstGeom prst="rect">
            <a:avLst/>
          </a:prstGeom>
          <a:solidFill>
            <a:srgbClr val="1A1A1A"/>
          </a:solidFill>
          <a:ln w="12700">
            <a:solidFill>
              <a:srgbClr val="1A1A1A"/>
            </a:solidFill>
            <a:prstDash val="solid"/>
          </a:ln>
        </p:spPr>
      </p:sp>
      <p:sp>
        <p:nvSpPr>
          <p:cNvPr id="20" name="Shape 18"/>
          <p:cNvSpPr/>
          <p:nvPr/>
        </p:nvSpPr>
        <p:spPr>
          <a:xfrm>
            <a:off x="5852160" y="3831336"/>
            <a:ext cx="54864" cy="1005840"/>
          </a:xfrm>
          <a:prstGeom prst="rect">
            <a:avLst/>
          </a:prstGeom>
          <a:solidFill>
            <a:srgbClr val="B8963E"/>
          </a:solidFill>
          <a:ln w="12700">
            <a:solidFill>
              <a:srgbClr val="B8963E"/>
            </a:solidFill>
            <a:prstDash val="solid"/>
          </a:ln>
        </p:spPr>
      </p:sp>
      <p:sp>
        <p:nvSpPr>
          <p:cNvPr id="21" name="Text 19"/>
          <p:cNvSpPr/>
          <p:nvPr/>
        </p:nvSpPr>
        <p:spPr>
          <a:xfrm>
            <a:off x="6035040" y="3922776"/>
            <a:ext cx="2651760" cy="347472"/>
          </a:xfrm>
          <a:prstGeom prst="rect">
            <a:avLst/>
          </a:prstGeom>
          <a:noFill/>
          <a:ln/>
        </p:spPr>
        <p:txBody>
          <a:bodyPr wrap="square" rtlCol="0" anchor="ctr"/>
          <a:lstStyle/>
          <a:p>
            <a:pPr marL="0" indent="0">
              <a:buNone/>
            </a:pPr>
            <a:r>
              <a:rPr lang="en-US" sz="1100" dirty="0">
                <a:solidFill>
                  <a:srgbClr val="FFFFFF"/>
                </a:solidFill>
                <a:latin typeface="Georgia" pitchFamily="34" charset="0"/>
                <a:ea typeface="Georgia" pitchFamily="34" charset="-122"/>
                <a:cs typeface="Georgia" pitchFamily="34" charset="-120"/>
              </a:rPr>
              <a:t>We know the stories.</a:t>
            </a:r>
            <a:endParaRPr lang="en-US" sz="1100" dirty="0"/>
          </a:p>
        </p:txBody>
      </p:sp>
      <p:sp>
        <p:nvSpPr>
          <p:cNvPr id="22" name="Text 20"/>
          <p:cNvSpPr/>
          <p:nvPr/>
        </p:nvSpPr>
        <p:spPr>
          <a:xfrm>
            <a:off x="6035040" y="4288536"/>
            <a:ext cx="2651760" cy="475488"/>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Ecological, historical, deeply human. The stories that make a place unforgettable.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37160" y="-365760"/>
            <a:ext cx="2743200" cy="2286000"/>
          </a:xfrm>
          <a:prstGeom prst="rect">
            <a:avLst/>
          </a:prstGeom>
          <a:noFill/>
          <a:ln/>
        </p:spPr>
        <p:txBody>
          <a:bodyPr wrap="square" rtlCol="0" anchor="ctr"/>
          <a:lstStyle/>
          <a:p>
            <a:pPr marL="0" indent="0" algn="l">
              <a:buNone/>
            </a:pPr>
            <a:r>
              <a:rPr lang="en-US" sz="20000" dirty="0">
                <a:solidFill>
                  <a:srgbClr val="2A2318"/>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502920"/>
            <a:ext cx="7498080" cy="1234440"/>
          </a:xfrm>
          <a:prstGeom prst="rect">
            <a:avLst/>
          </a:prstGeom>
          <a:noFill/>
          <a:ln/>
        </p:spPr>
        <p:txBody>
          <a:bodyPr wrap="square" rtlCol="0" anchor="ctr"/>
          <a:lstStyle/>
          <a:p>
            <a:pPr marL="0" indent="0" algn="l">
              <a:buNone/>
            </a:pPr>
            <a:r>
              <a:rPr lang="en-US" sz="3000" i="1" dirty="0">
                <a:latin typeface="Georgia" pitchFamily="34" charset="0"/>
                <a:ea typeface="Georgia" pitchFamily="34" charset="-122"/>
                <a:cs typeface="Georgia" pitchFamily="34" charset="-120"/>
              </a:rPr>
              <a:t>We did not discover this place</a:t>
            </a:r>
            <a:r>
              <a:rPr lang="en-US" sz="3000" i="1" dirty="0">
                <a:solidFill>
                  <a:srgbClr val="FFFFFF"/>
                </a:solidFill>
                <a:latin typeface="Georgia" pitchFamily="34" charset="0"/>
                <a:ea typeface="Georgia" pitchFamily="34" charset="-122"/>
                <a:cs typeface="Georgia" pitchFamily="34" charset="-120"/>
              </a:rPr>
              <a:t>.</a:t>
            </a:r>
            <a:endParaRPr lang="en-US" sz="3000" dirty="0"/>
          </a:p>
          <a:p>
            <a:pPr marL="0" indent="0" algn="l">
              <a:buNone/>
            </a:pPr>
            <a:r>
              <a:rPr lang="en-US" sz="3000" i="1" dirty="0">
                <a:latin typeface="Georgia" pitchFamily="34" charset="0"/>
                <a:ea typeface="Georgia" pitchFamily="34" charset="-122"/>
                <a:cs typeface="Georgia" pitchFamily="34" charset="-120"/>
              </a:rPr>
              <a:t>We grew up in it.</a:t>
            </a:r>
            <a:endParaRPr lang="en-US" sz="3000" dirty="0"/>
          </a:p>
        </p:txBody>
      </p:sp>
      <p:sp>
        <p:nvSpPr>
          <p:cNvPr id="4" name="Shape 2"/>
          <p:cNvSpPr/>
          <p:nvPr/>
        </p:nvSpPr>
        <p:spPr>
          <a:xfrm>
            <a:off x="822960" y="1874520"/>
            <a:ext cx="3200400" cy="27432"/>
          </a:xfrm>
          <a:prstGeom prst="rect">
            <a:avLst/>
          </a:prstGeom>
          <a:solidFill>
            <a:srgbClr val="B8963E"/>
          </a:solidFill>
          <a:ln w="12700">
            <a:solidFill>
              <a:srgbClr val="B8963E"/>
            </a:solidFill>
            <a:prstDash val="solid"/>
          </a:ln>
        </p:spPr>
      </p:sp>
      <p:sp>
        <p:nvSpPr>
          <p:cNvPr id="5" name="Text 3"/>
          <p:cNvSpPr/>
          <p:nvPr/>
        </p:nvSpPr>
        <p:spPr>
          <a:xfrm>
            <a:off x="822960" y="2011680"/>
            <a:ext cx="7132320" cy="233172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The </a:t>
            </a:r>
            <a:r>
              <a:rPr lang="en-US" sz="1200" dirty="0" err="1">
                <a:latin typeface="Calibri" pitchFamily="34" charset="0"/>
                <a:ea typeface="Calibri" pitchFamily="34" charset="-122"/>
                <a:cs typeface="Calibri" pitchFamily="34" charset="-120"/>
              </a:rPr>
              <a:t>bundu</a:t>
            </a:r>
            <a:r>
              <a:rPr lang="en-US" sz="1200" dirty="0">
                <a:latin typeface="Calibri" pitchFamily="34" charset="0"/>
                <a:ea typeface="Calibri" pitchFamily="34" charset="-122"/>
                <a:cs typeface="Calibri" pitchFamily="34" charset="-120"/>
              </a:rPr>
              <a:t> raised us. The Zambezi taught us patience. The bush taught us to listen before we speak.</a:t>
            </a:r>
            <a:endParaRPr lang="en-US" sz="1200" dirty="0"/>
          </a:p>
          <a:p>
            <a:pPr marL="0" indent="0">
              <a:buNone/>
            </a:pPr>
            <a:endParaRPr lang="en-US" sz="1200" dirty="0"/>
          </a:p>
          <a:p>
            <a:pPr marL="0" indent="0">
              <a:buNone/>
            </a:pPr>
            <a:r>
              <a:rPr lang="en-US" sz="1200" dirty="0">
                <a:latin typeface="Calibri" pitchFamily="34" charset="0"/>
                <a:ea typeface="Calibri" pitchFamily="34" charset="-122"/>
                <a:cs typeface="Calibri" pitchFamily="34" charset="-120"/>
              </a:rPr>
              <a:t>TWT All Africa One Journey exists because we believe the stories of this landscape deserve to be heard — and that the people who travel here deserve to hear them properly, from someone who has lived them.</a:t>
            </a:r>
            <a:endParaRPr lang="en-US" sz="1200" dirty="0"/>
          </a:p>
          <a:p>
            <a:pPr marL="0" indent="0">
              <a:buNone/>
            </a:pPr>
            <a:endParaRPr lang="en-US" sz="1200" dirty="0"/>
          </a:p>
          <a:p>
            <a:pPr marL="0" indent="0">
              <a:buNone/>
            </a:pPr>
            <a:r>
              <a:rPr lang="en-US" sz="1200" dirty="0">
                <a:latin typeface="Calibri" pitchFamily="34" charset="0"/>
                <a:ea typeface="Calibri" pitchFamily="34" charset="-122"/>
                <a:cs typeface="Calibri" pitchFamily="34" charset="-120"/>
              </a:rPr>
              <a:t>This is not a tour. It is an introduction to a place we love.</a:t>
            </a:r>
          </a:p>
          <a:p>
            <a:r>
              <a:rPr lang="en-ZW" sz="1200" dirty="0"/>
              <a:t>Our work is not simply to guide you through this region. It is to translate it</a:t>
            </a:r>
          </a:p>
          <a:p>
            <a:pPr marL="0" indent="0">
              <a:buNone/>
            </a:pPr>
            <a:endParaRPr lang="en-US" sz="1200" dirty="0"/>
          </a:p>
        </p:txBody>
      </p:sp>
      <p:sp>
        <p:nvSpPr>
          <p:cNvPr id="6" name="Text 4"/>
          <p:cNvSpPr/>
          <p:nvPr/>
        </p:nvSpPr>
        <p:spPr>
          <a:xfrm>
            <a:off x="822960" y="4572000"/>
            <a:ext cx="7315200" cy="320040"/>
          </a:xfrm>
          <a:prstGeom prst="rect">
            <a:avLst/>
          </a:prstGeom>
          <a:noFill/>
          <a:ln/>
        </p:spPr>
        <p:txBody>
          <a:bodyPr wrap="square" rtlCol="0" anchor="ctr"/>
          <a:lstStyle/>
          <a:p>
            <a:pPr marL="0" indent="0">
              <a:buNone/>
            </a:pPr>
            <a:r>
              <a:rPr lang="en-US" sz="1000" i="1" dirty="0">
                <a:solidFill>
                  <a:srgbClr val="D4AF6A"/>
                </a:solidFill>
                <a:latin typeface="Georgia" pitchFamily="34" charset="0"/>
                <a:ea typeface="Georgia" pitchFamily="34" charset="-122"/>
                <a:cs typeface="Georgia" pitchFamily="34" charset="-120"/>
              </a:rPr>
              <a:t>— The TWT Team, Victoria Falls</a:t>
            </a:r>
            <a:endParaRPr lang="en-US" sz="1000" dirty="0"/>
          </a:p>
        </p:txBody>
      </p:sp>
      <p:sp>
        <p:nvSpPr>
          <p:cNvPr id="8" name="TextBox 7">
            <a:extLst>
              <a:ext uri="{FF2B5EF4-FFF2-40B4-BE49-F238E27FC236}">
                <a16:creationId xmlns:a16="http://schemas.microsoft.com/office/drawing/2014/main" id="{4C4612BA-697B-B2D8-5612-1DB5AC3DACDF}"/>
              </a:ext>
            </a:extLst>
          </p:cNvPr>
          <p:cNvSpPr txBox="1"/>
          <p:nvPr/>
        </p:nvSpPr>
        <p:spPr>
          <a:xfrm>
            <a:off x="-922866" y="365760"/>
            <a:ext cx="5221110"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rPr>
              <a:t>HOME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274320" y="1515618"/>
            <a:ext cx="8412480" cy="1463040"/>
          </a:xfrm>
          <a:prstGeom prst="rect">
            <a:avLst/>
          </a:prstGeom>
          <a:noFill/>
          <a:ln/>
        </p:spPr>
        <p:txBody>
          <a:bodyPr wrap="square" rtlCol="0" anchor="ctr"/>
          <a:lstStyle/>
          <a:p>
            <a:pPr marL="0" indent="0" algn="l">
              <a:buNone/>
            </a:pPr>
            <a:r>
              <a:rPr lang="en-US" sz="5400" i="1" dirty="0">
                <a:latin typeface="Georgia" pitchFamily="34" charset="0"/>
                <a:ea typeface="Georgia" pitchFamily="34" charset="-122"/>
                <a:cs typeface="Georgia" pitchFamily="34" charset="-120"/>
              </a:rPr>
              <a:t>Explore the triangle</a:t>
            </a:r>
            <a:endParaRPr lang="en-US" sz="5400" dirty="0"/>
          </a:p>
        </p:txBody>
      </p:sp>
      <p:sp>
        <p:nvSpPr>
          <p:cNvPr id="5" name="Shape 3"/>
          <p:cNvSpPr/>
          <p:nvPr/>
        </p:nvSpPr>
        <p:spPr>
          <a:xfrm>
            <a:off x="365760" y="3063240"/>
            <a:ext cx="3657600" cy="27432"/>
          </a:xfrm>
          <a:prstGeom prst="rect">
            <a:avLst/>
          </a:prstGeom>
          <a:solidFill>
            <a:srgbClr val="B8963E"/>
          </a:solidFill>
          <a:ln w="12700">
            <a:solidFill>
              <a:srgbClr val="B8963E"/>
            </a:solidFill>
            <a:prstDash val="solid"/>
          </a:ln>
        </p:spPr>
      </p:sp>
      <p:sp>
        <p:nvSpPr>
          <p:cNvPr id="6" name="Text 4"/>
          <p:cNvSpPr/>
          <p:nvPr/>
        </p:nvSpPr>
        <p:spPr>
          <a:xfrm>
            <a:off x="365760" y="3246120"/>
            <a:ext cx="8229600" cy="548640"/>
          </a:xfrm>
          <a:prstGeom prst="rect">
            <a:avLst/>
          </a:prstGeom>
          <a:noFill/>
          <a:ln/>
        </p:spPr>
        <p:txBody>
          <a:bodyPr wrap="square" rtlCol="0" anchor="ctr"/>
          <a:lstStyle/>
          <a:p>
            <a:pPr marL="0" indent="0" algn="l">
              <a:buNone/>
            </a:pPr>
            <a:r>
              <a:rPr lang="en-US" sz="1300" dirty="0">
                <a:solidFill>
                  <a:srgbClr val="AAAAAA"/>
                </a:solidFill>
                <a:latin typeface="Calibri" pitchFamily="34" charset="0"/>
                <a:ea typeface="Calibri" pitchFamily="34" charset="-122"/>
                <a:cs typeface="Calibri" pitchFamily="34" charset="-120"/>
              </a:rPr>
              <a:t>Tell us about the journey you are imagining. We will make it real.</a:t>
            </a:r>
            <a:endParaRPr lang="en-US" sz="1300" dirty="0"/>
          </a:p>
        </p:txBody>
      </p:sp>
      <p:sp>
        <p:nvSpPr>
          <p:cNvPr id="8" name="TextBox 7">
            <a:extLst>
              <a:ext uri="{FF2B5EF4-FFF2-40B4-BE49-F238E27FC236}">
                <a16:creationId xmlns:a16="http://schemas.microsoft.com/office/drawing/2014/main" id="{1E8448D8-5347-6577-6187-09B53889CE88}"/>
              </a:ext>
            </a:extLst>
          </p:cNvPr>
          <p:cNvSpPr txBox="1"/>
          <p:nvPr/>
        </p:nvSpPr>
        <p:spPr>
          <a:xfrm>
            <a:off x="-1109133" y="1031431"/>
            <a:ext cx="4577644" cy="2231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rPr>
              <a:t>HOME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0"/>
            <a:ext cx="54864" cy="5143500"/>
          </a:xfrm>
          <a:prstGeom prst="rect">
            <a:avLst/>
          </a:prstGeom>
          <a:solidFill>
            <a:srgbClr val="0D0D0D"/>
          </a:solidFill>
          <a:ln w="12700">
            <a:solidFill>
              <a:srgbClr val="0D0D0D"/>
            </a:solidFill>
            <a:prstDash val="solid"/>
          </a:ln>
        </p:spPr>
      </p:sp>
      <p:sp>
        <p:nvSpPr>
          <p:cNvPr id="4" name="Text 2"/>
          <p:cNvSpPr/>
          <p:nvPr/>
        </p:nvSpPr>
        <p:spPr>
          <a:xfrm>
            <a:off x="228600" y="182880"/>
            <a:ext cx="8686800" cy="347472"/>
          </a:xfrm>
          <a:prstGeom prst="rect">
            <a:avLst/>
          </a:prstGeom>
          <a:noFill/>
          <a:ln/>
        </p:spPr>
        <p:txBody>
          <a:bodyPr wrap="square" rtlCol="0" anchor="ctr"/>
          <a:lstStyle/>
          <a:p>
            <a:pPr marL="0" indent="0" algn="l">
              <a:buNone/>
            </a:pPr>
            <a:r>
              <a:rPr lang="en-US" sz="850" kern="0" spc="300" dirty="0">
                <a:solidFill>
                  <a:srgbClr val="B8963E"/>
                </a:solidFill>
                <a:latin typeface="Calibri" pitchFamily="34" charset="0"/>
                <a:ea typeface="Calibri" pitchFamily="34" charset="-122"/>
                <a:cs typeface="Calibri" pitchFamily="34" charset="-120"/>
              </a:rPr>
              <a:t>HOME PLAN YOUR JOURNEY  ·  ENQUIRY</a:t>
            </a:r>
            <a:endParaRPr lang="en-US" sz="850" dirty="0"/>
          </a:p>
        </p:txBody>
      </p:sp>
      <p:sp>
        <p:nvSpPr>
          <p:cNvPr id="5" name="Text 3"/>
          <p:cNvSpPr/>
          <p:nvPr/>
        </p:nvSpPr>
        <p:spPr>
          <a:xfrm>
            <a:off x="228600" y="594360"/>
            <a:ext cx="6400800" cy="1005840"/>
          </a:xfrm>
          <a:prstGeom prst="rect">
            <a:avLst/>
          </a:prstGeom>
          <a:noFill/>
          <a:ln/>
        </p:spPr>
        <p:txBody>
          <a:bodyPr wrap="square" rtlCol="0" anchor="ctr"/>
          <a:lstStyle/>
          <a:p>
            <a:pPr marL="0" indent="0">
              <a:buNone/>
            </a:pPr>
            <a:r>
              <a:rPr lang="en-US" sz="2600" i="1" dirty="0">
                <a:solidFill>
                  <a:srgbClr val="0D0D0D"/>
                </a:solidFill>
                <a:latin typeface="Georgia" pitchFamily="34" charset="0"/>
                <a:ea typeface="Georgia" pitchFamily="34" charset="-122"/>
                <a:cs typeface="Georgia" pitchFamily="34" charset="-120"/>
              </a:rPr>
              <a:t>Every TWT journey begins</a:t>
            </a:r>
            <a:endParaRPr lang="en-US" sz="2600" dirty="0"/>
          </a:p>
          <a:p>
            <a:pPr marL="0" indent="0">
              <a:buNone/>
            </a:pPr>
            <a:r>
              <a:rPr lang="en-US" sz="2600" i="1" dirty="0">
                <a:solidFill>
                  <a:srgbClr val="0D0D0D"/>
                </a:solidFill>
                <a:latin typeface="Georgia" pitchFamily="34" charset="0"/>
                <a:ea typeface="Georgia" pitchFamily="34" charset="-122"/>
                <a:cs typeface="Georgia" pitchFamily="34" charset="-120"/>
              </a:rPr>
              <a:t>with a conversation.</a:t>
            </a:r>
            <a:endParaRPr lang="en-US" sz="2600" dirty="0"/>
          </a:p>
        </p:txBody>
      </p:sp>
      <p:sp>
        <p:nvSpPr>
          <p:cNvPr id="6" name="Shape 4"/>
          <p:cNvSpPr/>
          <p:nvPr/>
        </p:nvSpPr>
        <p:spPr>
          <a:xfrm>
            <a:off x="228600" y="1691640"/>
            <a:ext cx="3200400" cy="27432"/>
          </a:xfrm>
          <a:prstGeom prst="rect">
            <a:avLst/>
          </a:prstGeom>
          <a:solidFill>
            <a:srgbClr val="B8963E"/>
          </a:solidFill>
          <a:ln w="12700">
            <a:solidFill>
              <a:srgbClr val="B8963E"/>
            </a:solidFill>
            <a:prstDash val="solid"/>
          </a:ln>
        </p:spPr>
      </p:sp>
      <p:sp>
        <p:nvSpPr>
          <p:cNvPr id="7" name="Text 5"/>
          <p:cNvSpPr/>
          <p:nvPr/>
        </p:nvSpPr>
        <p:spPr>
          <a:xfrm>
            <a:off x="228600" y="1847088"/>
            <a:ext cx="5349240" cy="228600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There are no fixed packages, no off-the-shelf itineraries, no one-size-fits-all solutions. There is only your time, your vision, and our knowledge of this landscape — combined into something built entirely for you.</a:t>
            </a:r>
            <a:endParaRPr lang="en-US" sz="1100" dirty="0"/>
          </a:p>
          <a:p>
            <a:pPr marL="0" indent="0">
              <a:buNone/>
            </a:pP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Whether you have two days or twelve, whether you are travelling alone or with a group, whether you come for the wildlife or the adrenaline or the culture or simply because the Falls have been calling you for years — we will design something worthy of the journey.</a:t>
            </a:r>
            <a:endParaRPr lang="en-US" sz="1100" dirty="0"/>
          </a:p>
        </p:txBody>
      </p:sp>
      <p:sp>
        <p:nvSpPr>
          <p:cNvPr id="8" name="Text 6"/>
          <p:cNvSpPr/>
          <p:nvPr/>
        </p:nvSpPr>
        <p:spPr>
          <a:xfrm>
            <a:off x="5760720" y="566928"/>
            <a:ext cx="3154680" cy="320040"/>
          </a:xfrm>
          <a:prstGeom prst="rect">
            <a:avLst/>
          </a:prstGeom>
          <a:noFill/>
          <a:ln/>
        </p:spPr>
        <p:txBody>
          <a:bodyPr wrap="square" rtlCol="0" anchor="ctr"/>
          <a:lstStyle/>
          <a:p>
            <a:pPr marL="0" indent="0" algn="ctr">
              <a:buNone/>
            </a:pPr>
            <a:r>
              <a:rPr lang="en-US" sz="850" kern="0" spc="300" dirty="0">
                <a:solidFill>
                  <a:srgbClr val="B8963E"/>
                </a:solidFill>
                <a:latin typeface="Calibri" pitchFamily="34" charset="0"/>
                <a:ea typeface="Calibri" pitchFamily="34" charset="-122"/>
                <a:cs typeface="Calibri" pitchFamily="34" charset="-120"/>
              </a:rPr>
              <a:t>ENQUIRY FORM (HIDDEN)</a:t>
            </a:r>
            <a:endParaRPr lang="en-US" sz="850" dirty="0"/>
          </a:p>
        </p:txBody>
      </p:sp>
      <p:sp>
        <p:nvSpPr>
          <p:cNvPr id="9" name="Text 7"/>
          <p:cNvSpPr/>
          <p:nvPr/>
        </p:nvSpPr>
        <p:spPr>
          <a:xfrm>
            <a:off x="5760720" y="987552"/>
            <a:ext cx="3154680" cy="219456"/>
          </a:xfrm>
          <a:prstGeom prst="rect">
            <a:avLst/>
          </a:prstGeom>
          <a:noFill/>
          <a:ln/>
        </p:spPr>
        <p:txBody>
          <a:bodyPr wrap="square" rtlCol="0" anchor="ctr"/>
          <a:lstStyle/>
          <a:p>
            <a:pPr marL="0" indent="0">
              <a:buNone/>
            </a:pPr>
            <a:r>
              <a:rPr lang="en-US" sz="750" kern="0" spc="100" dirty="0">
                <a:solidFill>
                  <a:srgbClr val="5A5A5A"/>
                </a:solidFill>
                <a:latin typeface="Calibri" pitchFamily="34" charset="0"/>
                <a:ea typeface="Calibri" pitchFamily="34" charset="-122"/>
                <a:cs typeface="Calibri" pitchFamily="34" charset="-120"/>
              </a:rPr>
              <a:t>NAME</a:t>
            </a:r>
            <a:endParaRPr lang="en-US" sz="750" dirty="0"/>
          </a:p>
        </p:txBody>
      </p:sp>
      <p:sp>
        <p:nvSpPr>
          <p:cNvPr id="10" name="Shape 8"/>
          <p:cNvSpPr/>
          <p:nvPr/>
        </p:nvSpPr>
        <p:spPr>
          <a:xfrm>
            <a:off x="5760720" y="1225296"/>
            <a:ext cx="3154680" cy="27432"/>
          </a:xfrm>
          <a:prstGeom prst="rect">
            <a:avLst/>
          </a:prstGeom>
          <a:solidFill>
            <a:srgbClr val="CCCCCC"/>
          </a:solidFill>
          <a:ln w="12700">
            <a:solidFill>
              <a:srgbClr val="CCCCCC"/>
            </a:solidFill>
            <a:prstDash val="solid"/>
          </a:ln>
        </p:spPr>
      </p:sp>
      <p:sp>
        <p:nvSpPr>
          <p:cNvPr id="11" name="Text 9"/>
          <p:cNvSpPr/>
          <p:nvPr/>
        </p:nvSpPr>
        <p:spPr>
          <a:xfrm>
            <a:off x="5760720" y="1737360"/>
            <a:ext cx="3154680" cy="219456"/>
          </a:xfrm>
          <a:prstGeom prst="rect">
            <a:avLst/>
          </a:prstGeom>
          <a:noFill/>
          <a:ln/>
        </p:spPr>
        <p:txBody>
          <a:bodyPr wrap="square" rtlCol="0" anchor="ctr"/>
          <a:lstStyle/>
          <a:p>
            <a:pPr marL="0" indent="0">
              <a:buNone/>
            </a:pPr>
            <a:r>
              <a:rPr lang="en-US" sz="750" kern="0" spc="100" dirty="0">
                <a:solidFill>
                  <a:srgbClr val="5A5A5A"/>
                </a:solidFill>
                <a:latin typeface="Calibri" pitchFamily="34" charset="0"/>
                <a:ea typeface="Calibri" pitchFamily="34" charset="-122"/>
                <a:cs typeface="Calibri" pitchFamily="34" charset="-120"/>
              </a:rPr>
              <a:t>TRAVEL DATES</a:t>
            </a:r>
            <a:endParaRPr lang="en-US" sz="750" dirty="0"/>
          </a:p>
        </p:txBody>
      </p:sp>
      <p:sp>
        <p:nvSpPr>
          <p:cNvPr id="12" name="Shape 10"/>
          <p:cNvSpPr/>
          <p:nvPr/>
        </p:nvSpPr>
        <p:spPr>
          <a:xfrm>
            <a:off x="5760720" y="1975104"/>
            <a:ext cx="3154680" cy="27432"/>
          </a:xfrm>
          <a:prstGeom prst="rect">
            <a:avLst/>
          </a:prstGeom>
          <a:solidFill>
            <a:srgbClr val="CCCCCC"/>
          </a:solidFill>
          <a:ln w="12700">
            <a:solidFill>
              <a:srgbClr val="CCCCCC"/>
            </a:solidFill>
            <a:prstDash val="solid"/>
          </a:ln>
        </p:spPr>
      </p:sp>
      <p:sp>
        <p:nvSpPr>
          <p:cNvPr id="13" name="Text 11"/>
          <p:cNvSpPr/>
          <p:nvPr/>
        </p:nvSpPr>
        <p:spPr>
          <a:xfrm>
            <a:off x="5760720" y="2487168"/>
            <a:ext cx="3154680" cy="219456"/>
          </a:xfrm>
          <a:prstGeom prst="rect">
            <a:avLst/>
          </a:prstGeom>
          <a:noFill/>
          <a:ln/>
        </p:spPr>
        <p:txBody>
          <a:bodyPr wrap="square" rtlCol="0" anchor="ctr"/>
          <a:lstStyle/>
          <a:p>
            <a:pPr marL="0" indent="0">
              <a:buNone/>
            </a:pPr>
            <a:r>
              <a:rPr lang="en-US" sz="750" kern="0" spc="100" dirty="0">
                <a:solidFill>
                  <a:srgbClr val="5A5A5A"/>
                </a:solidFill>
                <a:latin typeface="Calibri" pitchFamily="34" charset="0"/>
                <a:ea typeface="Calibri" pitchFamily="34" charset="-122"/>
                <a:cs typeface="Calibri" pitchFamily="34" charset="-120"/>
              </a:rPr>
              <a:t>GROUP SIZE</a:t>
            </a:r>
            <a:endParaRPr lang="en-US" sz="750" dirty="0"/>
          </a:p>
        </p:txBody>
      </p:sp>
      <p:sp>
        <p:nvSpPr>
          <p:cNvPr id="14" name="Shape 12"/>
          <p:cNvSpPr/>
          <p:nvPr/>
        </p:nvSpPr>
        <p:spPr>
          <a:xfrm>
            <a:off x="5760720" y="2724912"/>
            <a:ext cx="3154680" cy="27432"/>
          </a:xfrm>
          <a:prstGeom prst="rect">
            <a:avLst/>
          </a:prstGeom>
          <a:solidFill>
            <a:srgbClr val="CCCCCC"/>
          </a:solidFill>
          <a:ln w="12700">
            <a:solidFill>
              <a:srgbClr val="CCCCCC"/>
            </a:solidFill>
            <a:prstDash val="solid"/>
          </a:ln>
        </p:spPr>
      </p:sp>
      <p:sp>
        <p:nvSpPr>
          <p:cNvPr id="15" name="Text 13"/>
          <p:cNvSpPr/>
          <p:nvPr/>
        </p:nvSpPr>
        <p:spPr>
          <a:xfrm>
            <a:off x="5760720" y="3236976"/>
            <a:ext cx="3154680" cy="219456"/>
          </a:xfrm>
          <a:prstGeom prst="rect">
            <a:avLst/>
          </a:prstGeom>
          <a:noFill/>
          <a:ln/>
        </p:spPr>
        <p:txBody>
          <a:bodyPr wrap="square" rtlCol="0" anchor="ctr"/>
          <a:lstStyle/>
          <a:p>
            <a:pPr marL="0" indent="0">
              <a:buNone/>
            </a:pPr>
            <a:r>
              <a:rPr lang="en-US" sz="750" kern="0" spc="100" dirty="0">
                <a:solidFill>
                  <a:srgbClr val="5A5A5A"/>
                </a:solidFill>
                <a:latin typeface="Calibri" pitchFamily="34" charset="0"/>
                <a:ea typeface="Calibri" pitchFamily="34" charset="-122"/>
                <a:cs typeface="Calibri" pitchFamily="34" charset="-120"/>
              </a:rPr>
              <a:t>JOURNEY LENGTH</a:t>
            </a:r>
            <a:endParaRPr lang="en-US" sz="750" dirty="0"/>
          </a:p>
        </p:txBody>
      </p:sp>
      <p:sp>
        <p:nvSpPr>
          <p:cNvPr id="16" name="Shape 14"/>
          <p:cNvSpPr/>
          <p:nvPr/>
        </p:nvSpPr>
        <p:spPr>
          <a:xfrm>
            <a:off x="5760720" y="3474720"/>
            <a:ext cx="3154680" cy="27432"/>
          </a:xfrm>
          <a:prstGeom prst="rect">
            <a:avLst/>
          </a:prstGeom>
          <a:solidFill>
            <a:srgbClr val="CCCCCC"/>
          </a:solidFill>
          <a:ln w="12700">
            <a:solidFill>
              <a:srgbClr val="CCCCCC"/>
            </a:solidFill>
            <a:prstDash val="solid"/>
          </a:ln>
        </p:spPr>
      </p:sp>
      <p:sp>
        <p:nvSpPr>
          <p:cNvPr id="17" name="Text 15"/>
          <p:cNvSpPr/>
          <p:nvPr/>
        </p:nvSpPr>
        <p:spPr>
          <a:xfrm>
            <a:off x="5760720" y="3986784"/>
            <a:ext cx="3154680" cy="219456"/>
          </a:xfrm>
          <a:prstGeom prst="rect">
            <a:avLst/>
          </a:prstGeom>
          <a:noFill/>
          <a:ln/>
        </p:spPr>
        <p:txBody>
          <a:bodyPr wrap="square" rtlCol="0" anchor="ctr"/>
          <a:lstStyle/>
          <a:p>
            <a:pPr marL="0" indent="0">
              <a:buNone/>
            </a:pPr>
            <a:r>
              <a:rPr lang="en-US" sz="750" kern="0" spc="100" dirty="0">
                <a:solidFill>
                  <a:srgbClr val="5A5A5A"/>
                </a:solidFill>
                <a:latin typeface="Calibri" pitchFamily="34" charset="0"/>
                <a:ea typeface="Calibri" pitchFamily="34" charset="-122"/>
                <a:cs typeface="Calibri" pitchFamily="34" charset="-120"/>
              </a:rPr>
              <a:t>WHAT CALLS TO YOU MOST</a:t>
            </a:r>
            <a:endParaRPr lang="en-US" sz="750" dirty="0"/>
          </a:p>
        </p:txBody>
      </p:sp>
      <p:sp>
        <p:nvSpPr>
          <p:cNvPr id="18" name="Shape 16"/>
          <p:cNvSpPr/>
          <p:nvPr/>
        </p:nvSpPr>
        <p:spPr>
          <a:xfrm>
            <a:off x="5760720" y="4224528"/>
            <a:ext cx="3154680" cy="27432"/>
          </a:xfrm>
          <a:prstGeom prst="rect">
            <a:avLst/>
          </a:prstGeom>
          <a:solidFill>
            <a:srgbClr val="CCCCCC"/>
          </a:solidFill>
          <a:ln w="12700">
            <a:solidFill>
              <a:srgbClr val="CCCCCC"/>
            </a:solidFill>
            <a:prstDash val="solid"/>
          </a:ln>
        </p:spPr>
      </p:sp>
      <p:sp>
        <p:nvSpPr>
          <p:cNvPr id="19" name="Text 17"/>
          <p:cNvSpPr/>
          <p:nvPr/>
        </p:nvSpPr>
        <p:spPr>
          <a:xfrm>
            <a:off x="228600" y="4297680"/>
            <a:ext cx="5349240" cy="548640"/>
          </a:xfrm>
          <a:prstGeom prst="rect">
            <a:avLst/>
          </a:prstGeom>
          <a:noFill/>
          <a:ln/>
        </p:spPr>
        <p:txBody>
          <a:bodyPr wrap="square" rtlCol="0" anchor="ctr"/>
          <a:lstStyle/>
          <a:p>
            <a:pPr marL="0" indent="0">
              <a:buNone/>
            </a:pPr>
            <a:r>
              <a:rPr lang="en-US" sz="950" i="1" dirty="0">
                <a:solidFill>
                  <a:srgbClr val="5A5A5A"/>
                </a:solidFill>
                <a:latin typeface="Calibri" pitchFamily="34" charset="0"/>
                <a:ea typeface="Calibri" pitchFamily="34" charset="-122"/>
                <a:cs typeface="Calibri" pitchFamily="34" charset="-120"/>
              </a:rPr>
              <a:t>Fill in the form and a member of the TWT team will be in touch within 24 hours.</a:t>
            </a:r>
            <a:endParaRPr lang="en-US" sz="950" dirty="0"/>
          </a:p>
        </p:txBody>
      </p:sp>
      <p:sp>
        <p:nvSpPr>
          <p:cNvPr id="20" name="Text 6">
            <a:extLst>
              <a:ext uri="{FF2B5EF4-FFF2-40B4-BE49-F238E27FC236}">
                <a16:creationId xmlns:a16="http://schemas.microsoft.com/office/drawing/2014/main" id="{3E1B4BF8-7617-6B35-D641-71D6D7E60109}"/>
              </a:ext>
            </a:extLst>
          </p:cNvPr>
          <p:cNvSpPr/>
          <p:nvPr/>
        </p:nvSpPr>
        <p:spPr>
          <a:xfrm>
            <a:off x="-555414" y="3957489"/>
            <a:ext cx="3154680" cy="320040"/>
          </a:xfrm>
          <a:prstGeom prst="rect">
            <a:avLst/>
          </a:prstGeom>
          <a:noFill/>
          <a:ln/>
        </p:spPr>
        <p:txBody>
          <a:bodyPr wrap="square" rtlCol="0" anchor="ctr"/>
          <a:lstStyle/>
          <a:p>
            <a:pPr marL="0" indent="0" algn="ctr">
              <a:buNone/>
            </a:pPr>
            <a:r>
              <a:rPr lang="en-US" sz="850" kern="0" spc="300" dirty="0">
                <a:solidFill>
                  <a:srgbClr val="B8963E"/>
                </a:solidFill>
                <a:latin typeface="Calibri" pitchFamily="34" charset="0"/>
                <a:ea typeface="Calibri" pitchFamily="34" charset="-122"/>
                <a:cs typeface="Calibri" pitchFamily="34" charset="-120"/>
              </a:rPr>
              <a:t>ENQUIRY FORM</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274320" y="256032"/>
            <a:ext cx="8595360" cy="347472"/>
          </a:xfrm>
          <a:prstGeom prst="rect">
            <a:avLst/>
          </a:prstGeom>
          <a:noFill/>
          <a:ln/>
        </p:spPr>
        <p:txBody>
          <a:bodyPr wrap="square" rtlCol="0" anchor="ctr"/>
          <a:lstStyle/>
          <a:p>
            <a:pPr marL="0" indent="0" algn="l">
              <a:buNone/>
            </a:pPr>
            <a:r>
              <a:rPr lang="en-US" sz="850" kern="0" spc="300" dirty="0">
                <a:solidFill>
                  <a:srgbClr val="B8963E"/>
                </a:solidFill>
                <a:latin typeface="Calibri" pitchFamily="34" charset="0"/>
                <a:ea typeface="Calibri" pitchFamily="34" charset="-122"/>
                <a:cs typeface="Calibri" pitchFamily="34" charset="-120"/>
              </a:rPr>
              <a:t>HOME PLAN YOUR JOURNEY  ·  TRADE &amp; AGENTS</a:t>
            </a:r>
            <a:endParaRPr lang="en-US" sz="850" dirty="0"/>
          </a:p>
        </p:txBody>
      </p:sp>
      <p:sp>
        <p:nvSpPr>
          <p:cNvPr id="5" name="Text 3"/>
          <p:cNvSpPr/>
          <p:nvPr/>
        </p:nvSpPr>
        <p:spPr>
          <a:xfrm>
            <a:off x="274320" y="658368"/>
            <a:ext cx="6858000" cy="1097280"/>
          </a:xfrm>
          <a:prstGeom prst="rect">
            <a:avLst/>
          </a:prstGeom>
          <a:noFill/>
          <a:ln/>
        </p:spPr>
        <p:txBody>
          <a:bodyPr wrap="square" rtlCol="0" anchor="ctr"/>
          <a:lstStyle/>
          <a:p>
            <a:pPr marL="0" indent="0">
              <a:buNone/>
            </a:pPr>
            <a:r>
              <a:rPr lang="en-US" sz="2600" i="1" dirty="0">
                <a:latin typeface="Georgia" pitchFamily="34" charset="0"/>
                <a:ea typeface="Georgia" pitchFamily="34" charset="-122"/>
                <a:cs typeface="Georgia" pitchFamily="34" charset="-120"/>
              </a:rPr>
              <a:t>Your eyes. Your ears.</a:t>
            </a:r>
            <a:endParaRPr lang="en-US" sz="2600" dirty="0"/>
          </a:p>
          <a:p>
            <a:pPr marL="0" indent="0">
              <a:buNone/>
            </a:pPr>
            <a:r>
              <a:rPr lang="en-US" sz="2600" i="1" dirty="0">
                <a:latin typeface="Georgia" pitchFamily="34" charset="0"/>
                <a:ea typeface="Georgia" pitchFamily="34" charset="-122"/>
                <a:cs typeface="Georgia" pitchFamily="34" charset="-120"/>
              </a:rPr>
              <a:t>Your trusted hands </a:t>
            </a:r>
            <a:r>
              <a:rPr lang="en-US" sz="2600" i="1" dirty="0">
                <a:solidFill>
                  <a:srgbClr val="FFFFFF"/>
                </a:solidFill>
                <a:latin typeface="Georgia" pitchFamily="34" charset="0"/>
                <a:ea typeface="Georgia" pitchFamily="34" charset="-122"/>
                <a:cs typeface="Georgia" pitchFamily="34" charset="-120"/>
              </a:rPr>
              <a:t>on the ground.</a:t>
            </a:r>
            <a:endParaRPr lang="en-US" sz="2600" dirty="0"/>
          </a:p>
        </p:txBody>
      </p:sp>
      <p:sp>
        <p:nvSpPr>
          <p:cNvPr id="6" name="Shape 4"/>
          <p:cNvSpPr/>
          <p:nvPr/>
        </p:nvSpPr>
        <p:spPr>
          <a:xfrm>
            <a:off x="274320" y="1828800"/>
            <a:ext cx="3200400" cy="27432"/>
          </a:xfrm>
          <a:prstGeom prst="rect">
            <a:avLst/>
          </a:prstGeom>
          <a:solidFill>
            <a:srgbClr val="B8963E"/>
          </a:solidFill>
          <a:ln w="12700">
            <a:solidFill>
              <a:srgbClr val="B8963E"/>
            </a:solidFill>
            <a:prstDash val="solid"/>
          </a:ln>
        </p:spPr>
      </p:sp>
      <p:sp>
        <p:nvSpPr>
          <p:cNvPr id="7" name="Text 5"/>
          <p:cNvSpPr/>
          <p:nvPr/>
        </p:nvSpPr>
        <p:spPr>
          <a:xfrm>
            <a:off x="274320" y="1993392"/>
            <a:ext cx="5212080" cy="274320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TWT All Africa One Journey works with a select network of international travel agents, tour operators, and DMCs to deliver premium ground experiences across the Victoria Falls Triangle.</a:t>
            </a:r>
            <a:endParaRPr lang="en-US" sz="1100" dirty="0"/>
          </a:p>
          <a:p>
            <a:pPr marL="0" indent="0">
              <a:buNone/>
            </a:pPr>
            <a:endParaRPr lang="en-US" sz="1100" dirty="0"/>
          </a:p>
          <a:p>
            <a:pPr marL="0" indent="0">
              <a:buNone/>
            </a:pPr>
            <a:r>
              <a:rPr lang="en-US" sz="1100" dirty="0">
                <a:latin typeface="Calibri" pitchFamily="34" charset="0"/>
                <a:ea typeface="Calibri" pitchFamily="34" charset="-122"/>
                <a:cs typeface="Calibri" pitchFamily="34" charset="-120"/>
              </a:rPr>
              <a:t>We are your on-the-ground partner. We handle logistics, guiding, supplier relationships, and the thousand small details that make the difference between a good trip and an unforgettable one. Our destination knowledge is deep, our supplier relationships are personal, and our commitment to your clients' experience is absolute.</a:t>
            </a:r>
            <a:endParaRPr lang="en-US" sz="1100" dirty="0"/>
          </a:p>
          <a:p>
            <a:pPr marL="0" indent="0">
              <a:buNone/>
            </a:pPr>
            <a:endParaRPr lang="en-US" sz="1100" dirty="0"/>
          </a:p>
          <a:p>
            <a:pPr marL="0" indent="0">
              <a:buNone/>
            </a:pPr>
            <a:r>
              <a:rPr lang="en-US" sz="1100" dirty="0">
                <a:latin typeface="Calibri" pitchFamily="34" charset="0"/>
                <a:ea typeface="Calibri" pitchFamily="34" charset="-122"/>
                <a:cs typeface="Calibri" pitchFamily="34" charset="-120"/>
              </a:rPr>
              <a:t>We welcome trade enquiries and are happy to discuss preferred partner arrangements, rates, and familiarisation visits.</a:t>
            </a:r>
            <a:endParaRPr lang="en-US" sz="1100" dirty="0"/>
          </a:p>
        </p:txBody>
      </p:sp>
      <p:sp>
        <p:nvSpPr>
          <p:cNvPr id="8" name="Shape 6"/>
          <p:cNvSpPr/>
          <p:nvPr/>
        </p:nvSpPr>
        <p:spPr>
          <a:xfrm>
            <a:off x="5852160" y="457200"/>
            <a:ext cx="2971800" cy="1298448"/>
          </a:xfrm>
          <a:prstGeom prst="rect">
            <a:avLst/>
          </a:prstGeom>
          <a:solidFill>
            <a:srgbClr val="1A1A1A"/>
          </a:solidFill>
          <a:ln w="12700">
            <a:solidFill>
              <a:srgbClr val="1A1A1A"/>
            </a:solidFill>
            <a:prstDash val="solid"/>
          </a:ln>
        </p:spPr>
      </p:sp>
      <p:sp>
        <p:nvSpPr>
          <p:cNvPr id="9" name="Shape 7"/>
          <p:cNvSpPr/>
          <p:nvPr/>
        </p:nvSpPr>
        <p:spPr>
          <a:xfrm>
            <a:off x="5852160" y="457200"/>
            <a:ext cx="2971800" cy="45720"/>
          </a:xfrm>
          <a:prstGeom prst="rect">
            <a:avLst/>
          </a:prstGeom>
          <a:solidFill>
            <a:srgbClr val="B8963E"/>
          </a:solidFill>
          <a:ln w="12700">
            <a:solidFill>
              <a:srgbClr val="B8963E"/>
            </a:solidFill>
            <a:prstDash val="solid"/>
          </a:ln>
        </p:spPr>
      </p:sp>
      <p:sp>
        <p:nvSpPr>
          <p:cNvPr id="10" name="Text 8"/>
          <p:cNvSpPr/>
          <p:nvPr/>
        </p:nvSpPr>
        <p:spPr>
          <a:xfrm>
            <a:off x="5852160" y="566928"/>
            <a:ext cx="2971800" cy="347472"/>
          </a:xfrm>
          <a:prstGeom prst="rect">
            <a:avLst/>
          </a:prstGeom>
          <a:noFill/>
          <a:ln/>
        </p:spPr>
        <p:txBody>
          <a:bodyPr wrap="square" rtlCol="0" anchor="ctr"/>
          <a:lstStyle/>
          <a:p>
            <a:pPr marL="0" indent="0" algn="ctr">
              <a:buNone/>
            </a:pPr>
            <a:r>
              <a:rPr lang="en-US" sz="1800" dirty="0">
                <a:solidFill>
                  <a:srgbClr val="B8963E"/>
                </a:solidFill>
              </a:rPr>
              <a:t>✦</a:t>
            </a:r>
            <a:endParaRPr lang="en-US" sz="1800" dirty="0"/>
          </a:p>
        </p:txBody>
      </p:sp>
      <p:sp>
        <p:nvSpPr>
          <p:cNvPr id="11" name="Text 9"/>
          <p:cNvSpPr/>
          <p:nvPr/>
        </p:nvSpPr>
        <p:spPr>
          <a:xfrm>
            <a:off x="5943600" y="960120"/>
            <a:ext cx="2788920" cy="685800"/>
          </a:xfrm>
          <a:prstGeom prst="rect">
            <a:avLst/>
          </a:prstGeom>
          <a:noFill/>
          <a:ln/>
        </p:spPr>
        <p:txBody>
          <a:bodyPr wrap="square" rtlCol="0" anchor="ctr"/>
          <a:lstStyle/>
          <a:p>
            <a:pPr marL="0" indent="0" algn="ctr">
              <a:buNone/>
            </a:pPr>
            <a:r>
              <a:rPr lang="en-US" sz="1100" dirty="0">
                <a:solidFill>
                  <a:srgbClr val="FFFFFF"/>
                </a:solidFill>
                <a:latin typeface="Georgia" pitchFamily="34" charset="0"/>
                <a:ea typeface="Georgia" pitchFamily="34" charset="-122"/>
                <a:cs typeface="Georgia" pitchFamily="34" charset="-120"/>
              </a:rPr>
              <a:t>Deep Destination</a:t>
            </a:r>
            <a:endParaRPr lang="en-US" sz="1100" dirty="0"/>
          </a:p>
          <a:p>
            <a:pPr marL="0" indent="0" algn="ctr">
              <a:buNone/>
            </a:pPr>
            <a:r>
              <a:rPr lang="en-US" sz="1100" dirty="0">
                <a:solidFill>
                  <a:srgbClr val="FFFFFF"/>
                </a:solidFill>
                <a:latin typeface="Georgia" pitchFamily="34" charset="0"/>
                <a:ea typeface="Georgia" pitchFamily="34" charset="-122"/>
                <a:cs typeface="Georgia" pitchFamily="34" charset="-120"/>
              </a:rPr>
              <a:t>Knowledge</a:t>
            </a:r>
            <a:endParaRPr lang="en-US" sz="1100" dirty="0"/>
          </a:p>
        </p:txBody>
      </p:sp>
      <p:sp>
        <p:nvSpPr>
          <p:cNvPr id="12" name="Shape 10"/>
          <p:cNvSpPr/>
          <p:nvPr/>
        </p:nvSpPr>
        <p:spPr>
          <a:xfrm>
            <a:off x="5852160" y="1938528"/>
            <a:ext cx="2971800" cy="1298448"/>
          </a:xfrm>
          <a:prstGeom prst="rect">
            <a:avLst/>
          </a:prstGeom>
          <a:solidFill>
            <a:srgbClr val="1A1A1A"/>
          </a:solidFill>
          <a:ln w="12700">
            <a:solidFill>
              <a:srgbClr val="1A1A1A"/>
            </a:solidFill>
            <a:prstDash val="solid"/>
          </a:ln>
        </p:spPr>
      </p:sp>
      <p:sp>
        <p:nvSpPr>
          <p:cNvPr id="13" name="Shape 11"/>
          <p:cNvSpPr/>
          <p:nvPr/>
        </p:nvSpPr>
        <p:spPr>
          <a:xfrm>
            <a:off x="5852160" y="1938528"/>
            <a:ext cx="2971800" cy="45720"/>
          </a:xfrm>
          <a:prstGeom prst="rect">
            <a:avLst/>
          </a:prstGeom>
          <a:solidFill>
            <a:srgbClr val="B8963E"/>
          </a:solidFill>
          <a:ln w="12700">
            <a:solidFill>
              <a:srgbClr val="B8963E"/>
            </a:solidFill>
            <a:prstDash val="solid"/>
          </a:ln>
        </p:spPr>
      </p:sp>
      <p:sp>
        <p:nvSpPr>
          <p:cNvPr id="14" name="Text 12"/>
          <p:cNvSpPr/>
          <p:nvPr/>
        </p:nvSpPr>
        <p:spPr>
          <a:xfrm>
            <a:off x="5852160" y="2048256"/>
            <a:ext cx="2971800" cy="347472"/>
          </a:xfrm>
          <a:prstGeom prst="rect">
            <a:avLst/>
          </a:prstGeom>
          <a:noFill/>
          <a:ln/>
        </p:spPr>
        <p:txBody>
          <a:bodyPr wrap="square" rtlCol="0" anchor="ctr"/>
          <a:lstStyle/>
          <a:p>
            <a:pPr marL="0" indent="0" algn="ctr">
              <a:buNone/>
            </a:pPr>
            <a:r>
              <a:rPr lang="en-US" sz="1800" dirty="0">
                <a:solidFill>
                  <a:srgbClr val="B8963E"/>
                </a:solidFill>
              </a:rPr>
              <a:t>◈</a:t>
            </a:r>
            <a:endParaRPr lang="en-US" sz="1800" dirty="0"/>
          </a:p>
        </p:txBody>
      </p:sp>
      <p:sp>
        <p:nvSpPr>
          <p:cNvPr id="15" name="Text 13"/>
          <p:cNvSpPr/>
          <p:nvPr/>
        </p:nvSpPr>
        <p:spPr>
          <a:xfrm>
            <a:off x="5943600" y="2441448"/>
            <a:ext cx="2788920" cy="685800"/>
          </a:xfrm>
          <a:prstGeom prst="rect">
            <a:avLst/>
          </a:prstGeom>
          <a:noFill/>
          <a:ln/>
        </p:spPr>
        <p:txBody>
          <a:bodyPr wrap="square" rtlCol="0" anchor="ctr"/>
          <a:lstStyle/>
          <a:p>
            <a:pPr marL="0" indent="0" algn="ctr">
              <a:buNone/>
            </a:pPr>
            <a:r>
              <a:rPr lang="en-US" sz="1100" dirty="0">
                <a:solidFill>
                  <a:srgbClr val="FFFFFF"/>
                </a:solidFill>
                <a:latin typeface="Georgia" pitchFamily="34" charset="0"/>
                <a:ea typeface="Georgia" pitchFamily="34" charset="-122"/>
                <a:cs typeface="Georgia" pitchFamily="34" charset="-120"/>
              </a:rPr>
              <a:t>Personal Supplier</a:t>
            </a:r>
            <a:endParaRPr lang="en-US" sz="1100" dirty="0"/>
          </a:p>
          <a:p>
            <a:pPr marL="0" indent="0" algn="ctr">
              <a:buNone/>
            </a:pPr>
            <a:r>
              <a:rPr lang="en-US" sz="1100" dirty="0">
                <a:solidFill>
                  <a:srgbClr val="FFFFFF"/>
                </a:solidFill>
                <a:latin typeface="Georgia" pitchFamily="34" charset="0"/>
                <a:ea typeface="Georgia" pitchFamily="34" charset="-122"/>
                <a:cs typeface="Georgia" pitchFamily="34" charset="-120"/>
              </a:rPr>
              <a:t>Relationships</a:t>
            </a:r>
            <a:endParaRPr lang="en-US" sz="1100" dirty="0"/>
          </a:p>
        </p:txBody>
      </p:sp>
      <p:sp>
        <p:nvSpPr>
          <p:cNvPr id="16" name="Shape 14"/>
          <p:cNvSpPr/>
          <p:nvPr/>
        </p:nvSpPr>
        <p:spPr>
          <a:xfrm>
            <a:off x="5852160" y="3419856"/>
            <a:ext cx="2971800" cy="1298448"/>
          </a:xfrm>
          <a:prstGeom prst="rect">
            <a:avLst/>
          </a:prstGeom>
          <a:solidFill>
            <a:srgbClr val="1A1A1A"/>
          </a:solidFill>
          <a:ln w="12700">
            <a:solidFill>
              <a:srgbClr val="1A1A1A"/>
            </a:solidFill>
            <a:prstDash val="solid"/>
          </a:ln>
        </p:spPr>
      </p:sp>
      <p:sp>
        <p:nvSpPr>
          <p:cNvPr id="17" name="Shape 15"/>
          <p:cNvSpPr/>
          <p:nvPr/>
        </p:nvSpPr>
        <p:spPr>
          <a:xfrm>
            <a:off x="5852160" y="3419856"/>
            <a:ext cx="2971800" cy="45720"/>
          </a:xfrm>
          <a:prstGeom prst="rect">
            <a:avLst/>
          </a:prstGeom>
          <a:solidFill>
            <a:srgbClr val="B8963E"/>
          </a:solidFill>
          <a:ln w="12700">
            <a:solidFill>
              <a:srgbClr val="B8963E"/>
            </a:solidFill>
            <a:prstDash val="solid"/>
          </a:ln>
        </p:spPr>
      </p:sp>
      <p:sp>
        <p:nvSpPr>
          <p:cNvPr id="18" name="Text 16"/>
          <p:cNvSpPr/>
          <p:nvPr/>
        </p:nvSpPr>
        <p:spPr>
          <a:xfrm>
            <a:off x="5852160" y="3529584"/>
            <a:ext cx="2971800" cy="347472"/>
          </a:xfrm>
          <a:prstGeom prst="rect">
            <a:avLst/>
          </a:prstGeom>
          <a:noFill/>
          <a:ln/>
        </p:spPr>
        <p:txBody>
          <a:bodyPr wrap="square" rtlCol="0" anchor="ctr"/>
          <a:lstStyle/>
          <a:p>
            <a:pPr marL="0" indent="0" algn="ctr">
              <a:buNone/>
            </a:pPr>
            <a:r>
              <a:rPr lang="en-US" sz="1800" dirty="0">
                <a:solidFill>
                  <a:srgbClr val="B8963E"/>
                </a:solidFill>
              </a:rPr>
              <a:t>◆</a:t>
            </a:r>
            <a:endParaRPr lang="en-US" sz="1800" dirty="0"/>
          </a:p>
        </p:txBody>
      </p:sp>
      <p:sp>
        <p:nvSpPr>
          <p:cNvPr id="19" name="Text 17"/>
          <p:cNvSpPr/>
          <p:nvPr/>
        </p:nvSpPr>
        <p:spPr>
          <a:xfrm>
            <a:off x="5943600" y="3922776"/>
            <a:ext cx="2788920" cy="685800"/>
          </a:xfrm>
          <a:prstGeom prst="rect">
            <a:avLst/>
          </a:prstGeom>
          <a:noFill/>
          <a:ln/>
        </p:spPr>
        <p:txBody>
          <a:bodyPr wrap="square" rtlCol="0" anchor="ctr"/>
          <a:lstStyle/>
          <a:p>
            <a:pPr marL="0" indent="0" algn="ctr">
              <a:buNone/>
            </a:pPr>
            <a:r>
              <a:rPr lang="en-US" sz="1100" dirty="0">
                <a:solidFill>
                  <a:srgbClr val="FFFFFF"/>
                </a:solidFill>
                <a:latin typeface="Georgia" pitchFamily="34" charset="0"/>
                <a:ea typeface="Georgia" pitchFamily="34" charset="-122"/>
                <a:cs typeface="Georgia" pitchFamily="34" charset="-120"/>
              </a:rPr>
              <a:t>Absolute Commitment</a:t>
            </a:r>
            <a:endParaRPr lang="en-US" sz="1100" dirty="0"/>
          </a:p>
          <a:p>
            <a:pPr marL="0" indent="0" algn="ctr">
              <a:buNone/>
            </a:pPr>
            <a:r>
              <a:rPr lang="en-US" sz="1100" dirty="0">
                <a:solidFill>
                  <a:srgbClr val="FFFFFF"/>
                </a:solidFill>
                <a:latin typeface="Georgia" pitchFamily="34" charset="0"/>
                <a:ea typeface="Georgia" pitchFamily="34" charset="-122"/>
                <a:cs typeface="Georgia" pitchFamily="34" charset="-120"/>
              </a:rPr>
              <a:t>to Your Clients</a:t>
            </a:r>
            <a:endParaRPr lang="en-US" sz="1100" dirty="0"/>
          </a:p>
        </p:txBody>
      </p:sp>
      <p:sp>
        <p:nvSpPr>
          <p:cNvPr id="20" name="Text 18"/>
          <p:cNvSpPr/>
          <p:nvPr/>
        </p:nvSpPr>
        <p:spPr>
          <a:xfrm>
            <a:off x="274320" y="4800600"/>
            <a:ext cx="5212080" cy="256032"/>
          </a:xfrm>
          <a:prstGeom prst="rect">
            <a:avLst/>
          </a:prstGeom>
          <a:noFill/>
          <a:ln/>
        </p:spPr>
        <p:txBody>
          <a:bodyPr wrap="square" rtlCol="0" anchor="ctr"/>
          <a:lstStyle/>
          <a:p>
            <a:pPr marL="0" indent="0">
              <a:buNone/>
            </a:pPr>
            <a:r>
              <a:rPr lang="en-US" sz="900" i="1" dirty="0">
                <a:solidFill>
                  <a:srgbClr val="B8963E"/>
                </a:solidFill>
                <a:latin typeface="Calibri" pitchFamily="34" charset="0"/>
                <a:ea typeface="Calibri" pitchFamily="34" charset="-122"/>
                <a:cs typeface="Calibri" pitchFamily="34" charset="-120"/>
              </a:rPr>
              <a:t>Trade Enquiry →  agent@twtallafricaonejourney.com</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0D3735-F566-AFA3-AA72-367317670ACC}"/>
              </a:ext>
            </a:extLst>
          </p:cNvPr>
          <p:cNvSpPr txBox="1"/>
          <p:nvPr/>
        </p:nvSpPr>
        <p:spPr>
          <a:xfrm>
            <a:off x="2282658" y="1694587"/>
            <a:ext cx="4578684" cy="1754326"/>
          </a:xfrm>
          <a:prstGeom prst="rect">
            <a:avLst/>
          </a:prstGeom>
          <a:noFill/>
        </p:spPr>
        <p:txBody>
          <a:bodyPr wrap="square">
            <a:spAutoFit/>
          </a:bodyPr>
          <a:lstStyle/>
          <a:p>
            <a:pPr>
              <a:buFont typeface="Arial" panose="020B0604020202020204" pitchFamily="34" charset="0"/>
              <a:buChar char="•"/>
            </a:pPr>
            <a:r>
              <a:rPr lang="en-ZW" dirty="0"/>
              <a:t>Private departures only.”</a:t>
            </a:r>
          </a:p>
          <a:p>
            <a:pPr>
              <a:buFont typeface="Arial" panose="020B0604020202020204" pitchFamily="34" charset="0"/>
              <a:buChar char="•"/>
            </a:pPr>
            <a:r>
              <a:rPr lang="en-ZW" dirty="0"/>
              <a:t>“Best experienced between May and October.”</a:t>
            </a:r>
          </a:p>
          <a:p>
            <a:pPr>
              <a:buFont typeface="Arial" panose="020B0604020202020204" pitchFamily="34" charset="0"/>
              <a:buChar char="•"/>
            </a:pPr>
            <a:r>
              <a:rPr lang="en-ZW" dirty="0"/>
              <a:t>“Designed around the rhythm of the river.”</a:t>
            </a:r>
          </a:p>
          <a:p>
            <a:pPr>
              <a:buFont typeface="Arial" panose="020B0604020202020204" pitchFamily="34" charset="0"/>
              <a:buChar char="•"/>
            </a:pPr>
            <a:r>
              <a:rPr lang="en-ZW" dirty="0"/>
              <a:t>“No fixed itineraries.”</a:t>
            </a:r>
          </a:p>
          <a:p>
            <a:pPr>
              <a:buFont typeface="Arial" panose="020B0604020202020204" pitchFamily="34" charset="0"/>
              <a:buChar char="•"/>
            </a:pPr>
            <a:r>
              <a:rPr lang="en-ZW" dirty="0"/>
              <a:t>“Curated from Victoria Falls.</a:t>
            </a:r>
          </a:p>
        </p:txBody>
      </p:sp>
      <p:sp>
        <p:nvSpPr>
          <p:cNvPr id="5" name="TextBox 4">
            <a:extLst>
              <a:ext uri="{FF2B5EF4-FFF2-40B4-BE49-F238E27FC236}">
                <a16:creationId xmlns:a16="http://schemas.microsoft.com/office/drawing/2014/main" id="{FF6E8A02-3CC3-3E45-1316-63FDA0220F20}"/>
              </a:ext>
            </a:extLst>
          </p:cNvPr>
          <p:cNvSpPr txBox="1"/>
          <p:nvPr/>
        </p:nvSpPr>
        <p:spPr>
          <a:xfrm>
            <a:off x="1703359" y="666655"/>
            <a:ext cx="4578684" cy="646331"/>
          </a:xfrm>
          <a:prstGeom prst="rect">
            <a:avLst/>
          </a:prstGeom>
          <a:noFill/>
        </p:spPr>
        <p:txBody>
          <a:bodyPr wrap="square">
            <a:spAutoFit/>
          </a:bodyPr>
          <a:lstStyle/>
          <a:p>
            <a:pPr>
              <a:buNone/>
            </a:pPr>
            <a:r>
              <a:rPr lang="en-ZW" dirty="0"/>
              <a:t>We design private journeys for travellers seeking depth, stillness, and access</a:t>
            </a:r>
          </a:p>
        </p:txBody>
      </p:sp>
    </p:spTree>
    <p:extLst>
      <p:ext uri="{BB962C8B-B14F-4D97-AF65-F5344CB8AC3E}">
        <p14:creationId xmlns:p14="http://schemas.microsoft.com/office/powerpoint/2010/main" val="3686048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8963E"/>
          </a:solidFill>
          <a:ln w="12700">
            <a:solidFill>
              <a:srgbClr val="B8963E"/>
            </a:solidFill>
            <a:prstDash val="solid"/>
          </a:ln>
        </p:spPr>
      </p:sp>
      <p:sp>
        <p:nvSpPr>
          <p:cNvPr id="3" name="Shape 1"/>
          <p:cNvSpPr/>
          <p:nvPr/>
        </p:nvSpPr>
        <p:spPr>
          <a:xfrm>
            <a:off x="9089136" y="0"/>
            <a:ext cx="54864" cy="5143500"/>
          </a:xfrm>
          <a:prstGeom prst="rect">
            <a:avLst/>
          </a:prstGeom>
          <a:solidFill>
            <a:srgbClr val="B8963E"/>
          </a:solidFill>
          <a:ln w="12700">
            <a:solidFill>
              <a:srgbClr val="B8963E"/>
            </a:solidFill>
            <a:prstDash val="solid"/>
          </a:ln>
        </p:spPr>
      </p:sp>
      <p:sp>
        <p:nvSpPr>
          <p:cNvPr id="4" name="Shape 2"/>
          <p:cNvSpPr/>
          <p:nvPr/>
        </p:nvSpPr>
        <p:spPr>
          <a:xfrm>
            <a:off x="0" y="0"/>
            <a:ext cx="9144000" cy="54864"/>
          </a:xfrm>
          <a:prstGeom prst="rect">
            <a:avLst/>
          </a:prstGeom>
          <a:solidFill>
            <a:srgbClr val="B8963E"/>
          </a:solidFill>
          <a:ln w="12700">
            <a:solidFill>
              <a:srgbClr val="B8963E"/>
            </a:solidFill>
            <a:prstDash val="solid"/>
          </a:ln>
        </p:spPr>
      </p:sp>
      <p:sp>
        <p:nvSpPr>
          <p:cNvPr id="5" name="Shape 3"/>
          <p:cNvSpPr/>
          <p:nvPr/>
        </p:nvSpPr>
        <p:spPr>
          <a:xfrm>
            <a:off x="0" y="5088636"/>
            <a:ext cx="9144000" cy="54864"/>
          </a:xfrm>
          <a:prstGeom prst="rect">
            <a:avLst/>
          </a:prstGeom>
          <a:solidFill>
            <a:srgbClr val="B8963E"/>
          </a:solidFill>
          <a:ln w="12700">
            <a:solidFill>
              <a:srgbClr val="B8963E"/>
            </a:solidFill>
            <a:prstDash val="solid"/>
          </a:ln>
        </p:spPr>
      </p:sp>
      <p:sp>
        <p:nvSpPr>
          <p:cNvPr id="6" name="Text 4"/>
          <p:cNvSpPr/>
          <p:nvPr/>
        </p:nvSpPr>
        <p:spPr>
          <a:xfrm>
            <a:off x="457200" y="384048"/>
            <a:ext cx="8229600" cy="438912"/>
          </a:xfrm>
          <a:prstGeom prst="rect">
            <a:avLst/>
          </a:prstGeom>
          <a:noFill/>
          <a:ln/>
        </p:spPr>
        <p:txBody>
          <a:bodyPr wrap="square" rtlCol="0" anchor="ctr"/>
          <a:lstStyle/>
          <a:p>
            <a:pPr marL="0" indent="0" algn="ctr">
              <a:buNone/>
            </a:pPr>
            <a:r>
              <a:rPr lang="en-US" sz="1000" kern="0" spc="600" dirty="0">
                <a:solidFill>
                  <a:srgbClr val="B8963E"/>
                </a:solidFill>
                <a:latin typeface="Calibri" pitchFamily="34" charset="0"/>
                <a:ea typeface="Calibri" pitchFamily="34" charset="-122"/>
                <a:cs typeface="Calibri" pitchFamily="34" charset="-120"/>
              </a:rPr>
              <a:t> HOMEBEGIN YOUR JOURNEY</a:t>
            </a:r>
            <a:endParaRPr lang="en-US" sz="1000" dirty="0"/>
          </a:p>
        </p:txBody>
      </p:sp>
      <p:sp>
        <p:nvSpPr>
          <p:cNvPr id="7" name="Text 5"/>
          <p:cNvSpPr/>
          <p:nvPr/>
        </p:nvSpPr>
        <p:spPr>
          <a:xfrm>
            <a:off x="457200" y="960120"/>
            <a:ext cx="8229600" cy="1371600"/>
          </a:xfrm>
          <a:prstGeom prst="rect">
            <a:avLst/>
          </a:prstGeom>
          <a:noFill/>
          <a:ln/>
        </p:spPr>
        <p:txBody>
          <a:bodyPr wrap="square" rtlCol="0" anchor="ctr"/>
          <a:lstStyle/>
          <a:p>
            <a:pPr marL="0" indent="0" algn="ctr">
              <a:buNone/>
            </a:pPr>
            <a:r>
              <a:rPr lang="en-US" sz="3400" i="1" dirty="0">
                <a:latin typeface="Georgia" pitchFamily="34" charset="0"/>
                <a:ea typeface="Georgia" pitchFamily="34" charset="-122"/>
                <a:cs typeface="Georgia" pitchFamily="34" charset="-120"/>
              </a:rPr>
              <a:t>The smoke that</a:t>
            </a:r>
            <a:r>
              <a:rPr lang="en-US" sz="3400" i="1" dirty="0">
                <a:solidFill>
                  <a:srgbClr val="FFFFFF"/>
                </a:solidFill>
                <a:latin typeface="Georgia" pitchFamily="34" charset="0"/>
                <a:ea typeface="Georgia" pitchFamily="34" charset="-122"/>
                <a:cs typeface="Georgia" pitchFamily="34" charset="-120"/>
              </a:rPr>
              <a:t> </a:t>
            </a:r>
            <a:r>
              <a:rPr lang="en-US" sz="3400" i="1" dirty="0">
                <a:latin typeface="Georgia" pitchFamily="34" charset="0"/>
                <a:ea typeface="Georgia" pitchFamily="34" charset="-122"/>
                <a:cs typeface="Georgia" pitchFamily="34" charset="-120"/>
              </a:rPr>
              <a:t>thunders</a:t>
            </a:r>
            <a:r>
              <a:rPr lang="en-US" sz="3400" i="1" dirty="0">
                <a:solidFill>
                  <a:srgbClr val="FFFFFF"/>
                </a:solidFill>
                <a:latin typeface="Georgia" pitchFamily="34" charset="0"/>
                <a:ea typeface="Georgia" pitchFamily="34" charset="-122"/>
                <a:cs typeface="Georgia" pitchFamily="34" charset="-120"/>
              </a:rPr>
              <a:t>.</a:t>
            </a:r>
            <a:endParaRPr lang="en-US" sz="3400" dirty="0"/>
          </a:p>
          <a:p>
            <a:pPr marL="0" indent="0" algn="ctr">
              <a:buNone/>
            </a:pPr>
            <a:r>
              <a:rPr lang="en-US" sz="3400" i="1" dirty="0">
                <a:solidFill>
                  <a:srgbClr val="FFFFFF"/>
                </a:solidFill>
                <a:latin typeface="Georgia" pitchFamily="34" charset="0"/>
                <a:ea typeface="Georgia" pitchFamily="34" charset="-122"/>
                <a:cs typeface="Georgia" pitchFamily="34" charset="-120"/>
              </a:rPr>
              <a:t>We will take you there.</a:t>
            </a:r>
            <a:endParaRPr lang="en-US" sz="3400" dirty="0"/>
          </a:p>
        </p:txBody>
      </p:sp>
      <p:sp>
        <p:nvSpPr>
          <p:cNvPr id="8" name="Shape 6"/>
          <p:cNvSpPr/>
          <p:nvPr/>
        </p:nvSpPr>
        <p:spPr>
          <a:xfrm>
            <a:off x="2926080" y="2468880"/>
            <a:ext cx="3291840" cy="27432"/>
          </a:xfrm>
          <a:prstGeom prst="rect">
            <a:avLst/>
          </a:prstGeom>
          <a:solidFill>
            <a:srgbClr val="B8963E"/>
          </a:solidFill>
          <a:ln w="12700">
            <a:solidFill>
              <a:srgbClr val="B8963E"/>
            </a:solidFill>
            <a:prstDash val="solid"/>
          </a:ln>
        </p:spPr>
      </p:sp>
      <p:sp>
        <p:nvSpPr>
          <p:cNvPr id="9" name="Text 7"/>
          <p:cNvSpPr/>
          <p:nvPr/>
        </p:nvSpPr>
        <p:spPr>
          <a:xfrm>
            <a:off x="1828800" y="2651760"/>
            <a:ext cx="1920240" cy="347472"/>
          </a:xfrm>
          <a:prstGeom prst="rect">
            <a:avLst/>
          </a:prstGeom>
          <a:noFill/>
          <a:ln/>
        </p:spPr>
        <p:txBody>
          <a:bodyPr wrap="square" rtlCol="0" anchor="ctr"/>
          <a:lstStyle/>
          <a:p>
            <a:pPr marL="0" indent="0" algn="r">
              <a:buNone/>
            </a:pPr>
            <a:r>
              <a:rPr lang="en-US" sz="800" b="1" kern="0" spc="200" dirty="0">
                <a:solidFill>
                  <a:srgbClr val="B8963E"/>
                </a:solidFill>
                <a:latin typeface="Calibri" pitchFamily="34" charset="0"/>
                <a:ea typeface="Calibri" pitchFamily="34" charset="-122"/>
                <a:cs typeface="Calibri" pitchFamily="34" charset="-120"/>
              </a:rPr>
              <a:t>LOCATION</a:t>
            </a:r>
            <a:endParaRPr lang="en-US" sz="800" dirty="0"/>
          </a:p>
        </p:txBody>
      </p:sp>
      <p:sp>
        <p:nvSpPr>
          <p:cNvPr id="10" name="Text 8"/>
          <p:cNvSpPr/>
          <p:nvPr/>
        </p:nvSpPr>
        <p:spPr>
          <a:xfrm>
            <a:off x="3840480" y="2651760"/>
            <a:ext cx="41148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Victoria Falls, Zimbabwe  ·</a:t>
            </a:r>
            <a:endParaRPr lang="en-US" sz="1000" dirty="0"/>
          </a:p>
        </p:txBody>
      </p:sp>
      <p:sp>
        <p:nvSpPr>
          <p:cNvPr id="11" name="Text 9"/>
          <p:cNvSpPr/>
          <p:nvPr/>
        </p:nvSpPr>
        <p:spPr>
          <a:xfrm>
            <a:off x="1828800" y="3127248"/>
            <a:ext cx="1920240" cy="347472"/>
          </a:xfrm>
          <a:prstGeom prst="rect">
            <a:avLst/>
          </a:prstGeom>
          <a:noFill/>
          <a:ln/>
        </p:spPr>
        <p:txBody>
          <a:bodyPr wrap="square" rtlCol="0" anchor="ctr"/>
          <a:lstStyle/>
          <a:p>
            <a:pPr marL="0" indent="0" algn="r">
              <a:buNone/>
            </a:pPr>
            <a:r>
              <a:rPr lang="en-US" sz="800" b="1" kern="0" spc="200" dirty="0">
                <a:solidFill>
                  <a:srgbClr val="B8963E"/>
                </a:solidFill>
                <a:latin typeface="Calibri" pitchFamily="34" charset="0"/>
                <a:ea typeface="Calibri" pitchFamily="34" charset="-122"/>
                <a:cs typeface="Calibri" pitchFamily="34" charset="-120"/>
              </a:rPr>
              <a:t>EMAIL</a:t>
            </a:r>
            <a:endParaRPr lang="en-US" sz="800" dirty="0"/>
          </a:p>
        </p:txBody>
      </p:sp>
      <p:sp>
        <p:nvSpPr>
          <p:cNvPr id="12" name="Text 10"/>
          <p:cNvSpPr/>
          <p:nvPr/>
        </p:nvSpPr>
        <p:spPr>
          <a:xfrm>
            <a:off x="3840480" y="3127248"/>
            <a:ext cx="41148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inquiries@twtallafrica.com</a:t>
            </a:r>
            <a:endParaRPr lang="en-US" sz="1000" dirty="0"/>
          </a:p>
        </p:txBody>
      </p:sp>
      <p:sp>
        <p:nvSpPr>
          <p:cNvPr id="13" name="Text 11"/>
          <p:cNvSpPr/>
          <p:nvPr/>
        </p:nvSpPr>
        <p:spPr>
          <a:xfrm>
            <a:off x="1828800" y="3602736"/>
            <a:ext cx="1920240" cy="347472"/>
          </a:xfrm>
          <a:prstGeom prst="rect">
            <a:avLst/>
          </a:prstGeom>
          <a:noFill/>
          <a:ln/>
        </p:spPr>
        <p:txBody>
          <a:bodyPr wrap="square" rtlCol="0" anchor="ctr"/>
          <a:lstStyle/>
          <a:p>
            <a:pPr marL="0" indent="0" algn="r">
              <a:buNone/>
            </a:pPr>
            <a:r>
              <a:rPr lang="en-US" sz="800" b="1" kern="0" spc="200" dirty="0">
                <a:solidFill>
                  <a:srgbClr val="B8963E"/>
                </a:solidFill>
                <a:latin typeface="Calibri" pitchFamily="34" charset="0"/>
                <a:ea typeface="Calibri" pitchFamily="34" charset="-122"/>
                <a:cs typeface="Calibri" pitchFamily="34" charset="-120"/>
              </a:rPr>
              <a:t>WHATSAPP</a:t>
            </a:r>
            <a:endParaRPr lang="en-US" sz="800" dirty="0"/>
          </a:p>
        </p:txBody>
      </p:sp>
      <p:sp>
        <p:nvSpPr>
          <p:cNvPr id="14" name="Text 12"/>
          <p:cNvSpPr/>
          <p:nvPr/>
        </p:nvSpPr>
        <p:spPr>
          <a:xfrm>
            <a:off x="3840480" y="3602736"/>
            <a:ext cx="41148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+263 776 069 701</a:t>
            </a:r>
            <a:endParaRPr lang="en-US" sz="1000" dirty="0"/>
          </a:p>
        </p:txBody>
      </p:sp>
      <p:sp>
        <p:nvSpPr>
          <p:cNvPr id="15" name="Text 13"/>
          <p:cNvSpPr/>
          <p:nvPr/>
        </p:nvSpPr>
        <p:spPr>
          <a:xfrm>
            <a:off x="1828800" y="4078224"/>
            <a:ext cx="1920240" cy="347472"/>
          </a:xfrm>
          <a:prstGeom prst="rect">
            <a:avLst/>
          </a:prstGeom>
          <a:noFill/>
          <a:ln/>
        </p:spPr>
        <p:txBody>
          <a:bodyPr wrap="square" rtlCol="0" anchor="ctr"/>
          <a:lstStyle/>
          <a:p>
            <a:pPr marL="0" indent="0" algn="r">
              <a:buNone/>
            </a:pPr>
            <a:r>
              <a:rPr lang="en-US" sz="800" b="1" kern="0" spc="200" dirty="0">
                <a:solidFill>
                  <a:srgbClr val="B8963E"/>
                </a:solidFill>
                <a:latin typeface="Calibri" pitchFamily="34" charset="0"/>
                <a:ea typeface="Calibri" pitchFamily="34" charset="-122"/>
                <a:cs typeface="Calibri" pitchFamily="34" charset="-120"/>
              </a:rPr>
              <a:t>WEB</a:t>
            </a:r>
            <a:endParaRPr lang="en-US" sz="800" dirty="0"/>
          </a:p>
        </p:txBody>
      </p:sp>
      <p:sp>
        <p:nvSpPr>
          <p:cNvPr id="16" name="Text 14"/>
          <p:cNvSpPr/>
          <p:nvPr/>
        </p:nvSpPr>
        <p:spPr>
          <a:xfrm>
            <a:off x="3840480" y="4078224"/>
            <a:ext cx="41148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southseventeenevents.com</a:t>
            </a:r>
            <a:endParaRPr lang="en-US" sz="1000" dirty="0"/>
          </a:p>
        </p:txBody>
      </p:sp>
      <p:sp>
        <p:nvSpPr>
          <p:cNvPr id="17" name="Text 15"/>
          <p:cNvSpPr/>
          <p:nvPr/>
        </p:nvSpPr>
        <p:spPr>
          <a:xfrm>
            <a:off x="457200" y="4736592"/>
            <a:ext cx="8229600" cy="274320"/>
          </a:xfrm>
          <a:prstGeom prst="rect">
            <a:avLst/>
          </a:prstGeom>
          <a:noFill/>
          <a:ln/>
        </p:spPr>
        <p:txBody>
          <a:bodyPr wrap="square" rtlCol="0" anchor="ctr"/>
          <a:lstStyle/>
          <a:p>
            <a:pPr marL="0" indent="0" algn="ctr">
              <a:buNone/>
            </a:pPr>
            <a:r>
              <a:rPr lang="en-US" sz="750" kern="0" spc="100" dirty="0">
                <a:solidFill>
                  <a:srgbClr val="555555"/>
                </a:solidFill>
                <a:latin typeface="Calibri" pitchFamily="34" charset="0"/>
                <a:ea typeface="Calibri" pitchFamily="34" charset="-122"/>
                <a:cs typeface="Calibri" pitchFamily="34" charset="-120"/>
              </a:rPr>
              <a:t>Victoria Falls based &amp; operated  ·  Private journeys  ·  2–12 days  ·  KAZA UniVisa zone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3474</Words>
  <Application>Microsoft Office PowerPoint</Application>
  <PresentationFormat>On-screen Show (16:9)</PresentationFormat>
  <Paragraphs>378</Paragraphs>
  <Slides>30</Slides>
  <Notes>25</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TWT All Africa One Journey — Full Website</dc:title>
  <dc:subject>PptxGenJS Presentation</dc:subject>
  <dc:creator>PptxGenJS</dc:creator>
  <cp:lastModifiedBy>Chido Makoni</cp:lastModifiedBy>
  <cp:revision>7</cp:revision>
  <dcterms:created xsi:type="dcterms:W3CDTF">2026-05-15T09:31:05Z</dcterms:created>
  <dcterms:modified xsi:type="dcterms:W3CDTF">2026-05-15T22:08:38Z</dcterms:modified>
</cp:coreProperties>
</file>